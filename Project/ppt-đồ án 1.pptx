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57" r:id="rId3"/>
    <p:sldId id="269" r:id="rId4"/>
    <p:sldId id="270" r:id="rId5"/>
    <p:sldId id="271" r:id="rId6"/>
    <p:sldId id="272" r:id="rId7"/>
    <p:sldId id="258" r:id="rId8"/>
    <p:sldId id="273" r:id="rId9"/>
    <p:sldId id="274" r:id="rId10"/>
    <p:sldId id="261" r:id="rId11"/>
    <p:sldId id="262" r:id="rId12"/>
    <p:sldId id="263" r:id="rId13"/>
    <p:sldId id="264" r:id="rId14"/>
    <p:sldId id="265" r:id="rId15"/>
    <p:sldId id="266" r:id="rId16"/>
    <p:sldId id="267" r:id="rId17"/>
    <p:sldId id="275" r:id="rId18"/>
    <p:sldId id="268" r:id="rId19"/>
    <p:sldId id="276" r:id="rId20"/>
    <p:sldId id="277" r:id="rId21"/>
    <p:sldId id="278" r:id="rId22"/>
    <p:sldId id="279" r:id="rId23"/>
    <p:sldId id="28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68" autoAdjust="0"/>
  </p:normalViewPr>
  <p:slideViewPr>
    <p:cSldViewPr snapToGrid="0">
      <p:cViewPr varScale="1">
        <p:scale>
          <a:sx n="86" d="100"/>
          <a:sy n="86" d="100"/>
        </p:scale>
        <p:origin x="562" y="91"/>
      </p:cViewPr>
      <p:guideLst/>
    </p:cSldViewPr>
  </p:slideViewPr>
  <p:notesTextViewPr>
    <p:cViewPr>
      <p:scale>
        <a:sx n="1" d="1"/>
        <a:sy n="1" d="1"/>
      </p:scale>
      <p:origin x="0" y="0"/>
    </p:cViewPr>
  </p:notesTextViewPr>
  <p:notesViewPr>
    <p:cSldViewPr snapToGrid="0">
      <p:cViewPr varScale="1">
        <p:scale>
          <a:sx n="66" d="100"/>
          <a:sy n="66" d="100"/>
        </p:scale>
        <p:origin x="3134" y="3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CCC924-142F-4D75-AA48-31455C38E7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Đồ án 1</a:t>
            </a:r>
          </a:p>
        </p:txBody>
      </p:sp>
      <p:sp>
        <p:nvSpPr>
          <p:cNvPr id="3" name="Date Placeholder 2">
            <a:extLst>
              <a:ext uri="{FF2B5EF4-FFF2-40B4-BE49-F238E27FC236}">
                <a16:creationId xmlns:a16="http://schemas.microsoft.com/office/drawing/2014/main" id="{7A5F0554-663D-4638-B913-30574D1B14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3DB8D9-DDEC-4AC9-8B5D-EF7B40EF4A68}" type="datetime1">
              <a:rPr lang="en-US" smtClean="0"/>
              <a:t>6/3/2025</a:t>
            </a:fld>
            <a:endParaRPr lang="en-US"/>
          </a:p>
        </p:txBody>
      </p:sp>
      <p:sp>
        <p:nvSpPr>
          <p:cNvPr id="4" name="Footer Placeholder 3">
            <a:extLst>
              <a:ext uri="{FF2B5EF4-FFF2-40B4-BE49-F238E27FC236}">
                <a16:creationId xmlns:a16="http://schemas.microsoft.com/office/drawing/2014/main" id="{96CB9929-81CB-4B64-BD49-5EDF93D3D5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Electronic Engineering</a:t>
            </a:r>
          </a:p>
        </p:txBody>
      </p:sp>
      <p:sp>
        <p:nvSpPr>
          <p:cNvPr id="5" name="Slide Number Placeholder 4">
            <a:extLst>
              <a:ext uri="{FF2B5EF4-FFF2-40B4-BE49-F238E27FC236}">
                <a16:creationId xmlns:a16="http://schemas.microsoft.com/office/drawing/2014/main" id="{383B98A8-0777-433C-B9A2-75845C2B4A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AAB4A94-9BDE-4A17-A1EA-253431E566AE}" type="slidenum">
              <a:rPr lang="en-US" smtClean="0"/>
              <a:t>‹#›</a:t>
            </a:fld>
            <a:endParaRPr lang="en-US"/>
          </a:p>
        </p:txBody>
      </p:sp>
    </p:spTree>
    <p:extLst>
      <p:ext uri="{BB962C8B-B14F-4D97-AF65-F5344CB8AC3E}">
        <p14:creationId xmlns:p14="http://schemas.microsoft.com/office/powerpoint/2010/main" val="42881133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Đồ án 1</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0049C-AA0F-4D00-8474-2AA1440AC50A}" type="datetime1">
              <a:rPr lang="en-US" smtClean="0"/>
              <a:t>6/3/2025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Dept of Electronic Engineering</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8318AA-DE04-4423-992B-B9FA44FD5556}" type="slidenum">
              <a:rPr lang="en-US" smtClean="0"/>
              <a:t>‹#›</a:t>
            </a:fld>
            <a:endParaRPr lang="en-US"/>
          </a:p>
        </p:txBody>
      </p:sp>
    </p:spTree>
    <p:extLst>
      <p:ext uri="{BB962C8B-B14F-4D97-AF65-F5344CB8AC3E}">
        <p14:creationId xmlns:p14="http://schemas.microsoft.com/office/powerpoint/2010/main" val="2455168527"/>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83474755-1706-4568-B5E3-B14B4E062496}"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3</a:t>
            </a:fld>
            <a:endParaRPr lang="en-US"/>
          </a:p>
        </p:txBody>
      </p:sp>
    </p:spTree>
    <p:extLst>
      <p:ext uri="{BB962C8B-B14F-4D97-AF65-F5344CB8AC3E}">
        <p14:creationId xmlns:p14="http://schemas.microsoft.com/office/powerpoint/2010/main" val="1193781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DA786F0B-C8D9-454E-85B7-C5A782F7D306}"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4</a:t>
            </a:fld>
            <a:endParaRPr lang="en-US"/>
          </a:p>
        </p:txBody>
      </p:sp>
    </p:spTree>
    <p:extLst>
      <p:ext uri="{BB962C8B-B14F-4D97-AF65-F5344CB8AC3E}">
        <p14:creationId xmlns:p14="http://schemas.microsoft.com/office/powerpoint/2010/main" val="887657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48F6AC6F-F2F6-4D1C-BB29-451C0198914E}"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5</a:t>
            </a:fld>
            <a:endParaRPr lang="en-US"/>
          </a:p>
        </p:txBody>
      </p:sp>
    </p:spTree>
    <p:extLst>
      <p:ext uri="{BB962C8B-B14F-4D97-AF65-F5344CB8AC3E}">
        <p14:creationId xmlns:p14="http://schemas.microsoft.com/office/powerpoint/2010/main" val="2745851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32C9F887-2842-4A79-87D1-2333D6D74E51}"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6</a:t>
            </a:fld>
            <a:endParaRPr lang="en-US"/>
          </a:p>
        </p:txBody>
      </p:sp>
    </p:spTree>
    <p:extLst>
      <p:ext uri="{BB962C8B-B14F-4D97-AF65-F5344CB8AC3E}">
        <p14:creationId xmlns:p14="http://schemas.microsoft.com/office/powerpoint/2010/main" val="2564996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4DA24BB2-EEE5-4499-A2DF-B1A9649504D3}"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7</a:t>
            </a:fld>
            <a:endParaRPr lang="en-US"/>
          </a:p>
        </p:txBody>
      </p:sp>
    </p:spTree>
    <p:extLst>
      <p:ext uri="{BB962C8B-B14F-4D97-AF65-F5344CB8AC3E}">
        <p14:creationId xmlns:p14="http://schemas.microsoft.com/office/powerpoint/2010/main" val="2765188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BFD18FF4-BE1A-4BE8-8E04-B86787B4B46A}"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8</a:t>
            </a:fld>
            <a:endParaRPr lang="en-US"/>
          </a:p>
        </p:txBody>
      </p:sp>
    </p:spTree>
    <p:extLst>
      <p:ext uri="{BB962C8B-B14F-4D97-AF65-F5344CB8AC3E}">
        <p14:creationId xmlns:p14="http://schemas.microsoft.com/office/powerpoint/2010/main" val="12025930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4318614E-3852-467B-A083-24777E391AE3}"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9</a:t>
            </a:fld>
            <a:endParaRPr lang="en-US"/>
          </a:p>
        </p:txBody>
      </p:sp>
    </p:spTree>
    <p:extLst>
      <p:ext uri="{BB962C8B-B14F-4D97-AF65-F5344CB8AC3E}">
        <p14:creationId xmlns:p14="http://schemas.microsoft.com/office/powerpoint/2010/main" val="1097265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D9892DFA-0F4C-42D8-934C-5F9717398456}"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10</a:t>
            </a:fld>
            <a:endParaRPr lang="en-US"/>
          </a:p>
        </p:txBody>
      </p:sp>
    </p:spTree>
    <p:extLst>
      <p:ext uri="{BB962C8B-B14F-4D97-AF65-F5344CB8AC3E}">
        <p14:creationId xmlns:p14="http://schemas.microsoft.com/office/powerpoint/2010/main" val="25620891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r>
              <a:rPr lang="en-US"/>
              <a:t>Đồ án 1</a:t>
            </a:r>
          </a:p>
        </p:txBody>
      </p:sp>
      <p:sp>
        <p:nvSpPr>
          <p:cNvPr id="5" name="Date Placeholder 4"/>
          <p:cNvSpPr>
            <a:spLocks noGrp="1"/>
          </p:cNvSpPr>
          <p:nvPr>
            <p:ph type="dt" idx="1"/>
          </p:nvPr>
        </p:nvSpPr>
        <p:spPr/>
        <p:txBody>
          <a:bodyPr/>
          <a:lstStyle/>
          <a:p>
            <a:fld id="{D5E79AA2-A60C-47FE-BCD0-3BFCE4B9278B}" type="datetime1">
              <a:rPr lang="en-US" smtClean="0"/>
              <a:t>6/3/2025</a:t>
            </a:fld>
            <a:endParaRPr lang="en-US"/>
          </a:p>
        </p:txBody>
      </p:sp>
      <p:sp>
        <p:nvSpPr>
          <p:cNvPr id="6" name="Footer Placeholder 5"/>
          <p:cNvSpPr>
            <a:spLocks noGrp="1"/>
          </p:cNvSpPr>
          <p:nvPr>
            <p:ph type="ftr" sz="quarter" idx="4"/>
          </p:nvPr>
        </p:nvSpPr>
        <p:spPr/>
        <p:txBody>
          <a:bodyPr/>
          <a:lstStyle/>
          <a:p>
            <a:r>
              <a:rPr lang="en-US"/>
              <a:t>Dept of Electronic Engineering</a:t>
            </a:r>
          </a:p>
        </p:txBody>
      </p:sp>
      <p:sp>
        <p:nvSpPr>
          <p:cNvPr id="7" name="Slide Number Placeholder 6"/>
          <p:cNvSpPr>
            <a:spLocks noGrp="1"/>
          </p:cNvSpPr>
          <p:nvPr>
            <p:ph type="sldNum" sz="quarter" idx="5"/>
          </p:nvPr>
        </p:nvSpPr>
        <p:spPr/>
        <p:txBody>
          <a:bodyPr/>
          <a:lstStyle/>
          <a:p>
            <a:fld id="{8E8318AA-DE04-4423-992B-B9FA44FD5556}" type="slidenum">
              <a:rPr lang="en-US" smtClean="0"/>
              <a:t>17</a:t>
            </a:fld>
            <a:endParaRPr lang="en-US"/>
          </a:p>
        </p:txBody>
      </p:sp>
    </p:spTree>
    <p:extLst>
      <p:ext uri="{BB962C8B-B14F-4D97-AF65-F5344CB8AC3E}">
        <p14:creationId xmlns:p14="http://schemas.microsoft.com/office/powerpoint/2010/main" val="20785445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7775-FA2C-4343-90BB-C07D99CABE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7495DE-CAD7-434F-B56B-AE892194B1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ED2754-8AC7-45AF-9705-33DBD62C4D82}"/>
              </a:ext>
            </a:extLst>
          </p:cNvPr>
          <p:cNvSpPr>
            <a:spLocks noGrp="1"/>
          </p:cNvSpPr>
          <p:nvPr>
            <p:ph type="dt" sz="half" idx="10"/>
          </p:nvPr>
        </p:nvSpPr>
        <p:spPr/>
        <p:txBody>
          <a:bodyPr/>
          <a:lstStyle/>
          <a:p>
            <a:fld id="{27E2C96F-C588-4D2D-93EE-200241C07D4C}" type="datetime1">
              <a:rPr lang="en-US" smtClean="0"/>
              <a:t>6/3/2025</a:t>
            </a:fld>
            <a:endParaRPr lang="en-US"/>
          </a:p>
        </p:txBody>
      </p:sp>
      <p:sp>
        <p:nvSpPr>
          <p:cNvPr id="5" name="Footer Placeholder 4">
            <a:extLst>
              <a:ext uri="{FF2B5EF4-FFF2-40B4-BE49-F238E27FC236}">
                <a16:creationId xmlns:a16="http://schemas.microsoft.com/office/drawing/2014/main" id="{4C5D5A47-3817-4664-BD71-6048C360513D}"/>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FA411CB1-D387-49CC-BC88-F77AA0976116}"/>
              </a:ext>
            </a:extLst>
          </p:cNvPr>
          <p:cNvSpPr>
            <a:spLocks noGrp="1"/>
          </p:cNvSpPr>
          <p:nvPr>
            <p:ph type="sldNum" sz="quarter" idx="12"/>
          </p:nvPr>
        </p:nvSpPr>
        <p:spPr/>
        <p:txBody>
          <a:bodyPr/>
          <a:lstStyle/>
          <a:p>
            <a:fld id="{952A837F-FDD8-4A5A-8D82-65CDA50A5412}" type="slidenum">
              <a:rPr lang="en-US" smtClean="0"/>
              <a:t>‹#›</a:t>
            </a:fld>
            <a:endParaRPr lang="en-US"/>
          </a:p>
        </p:txBody>
      </p:sp>
      <p:pic>
        <p:nvPicPr>
          <p:cNvPr id="7" name="Hình ảnh 2">
            <a:extLst>
              <a:ext uri="{FF2B5EF4-FFF2-40B4-BE49-F238E27FC236}">
                <a16:creationId xmlns:a16="http://schemas.microsoft.com/office/drawing/2014/main" id="{0CF4C7A2-C9C0-4F70-B0B8-FE8ABE0B9F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85722" y="1391158"/>
            <a:ext cx="2731767" cy="1931466"/>
          </a:xfrm>
          <a:prstGeom prst="rect">
            <a:avLst/>
          </a:prstGeom>
        </p:spPr>
      </p:pic>
    </p:spTree>
    <p:extLst>
      <p:ext uri="{BB962C8B-B14F-4D97-AF65-F5344CB8AC3E}">
        <p14:creationId xmlns:p14="http://schemas.microsoft.com/office/powerpoint/2010/main" val="3864791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E0F2A-C6B5-4F45-A552-3959D9EA32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37A7CB-CC13-406D-8A32-944500A615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8D4AC1-A2DB-4298-AD2D-5F60C9E74455}"/>
              </a:ext>
            </a:extLst>
          </p:cNvPr>
          <p:cNvSpPr>
            <a:spLocks noGrp="1"/>
          </p:cNvSpPr>
          <p:nvPr>
            <p:ph type="dt" sz="half" idx="10"/>
          </p:nvPr>
        </p:nvSpPr>
        <p:spPr/>
        <p:txBody>
          <a:bodyPr/>
          <a:lstStyle/>
          <a:p>
            <a:fld id="{20A705B1-E5D8-4293-B524-547D5A9E6D60}" type="datetime1">
              <a:rPr lang="en-US" smtClean="0"/>
              <a:t>6/3/2025</a:t>
            </a:fld>
            <a:endParaRPr lang="en-US"/>
          </a:p>
        </p:txBody>
      </p:sp>
      <p:sp>
        <p:nvSpPr>
          <p:cNvPr id="5" name="Footer Placeholder 4">
            <a:extLst>
              <a:ext uri="{FF2B5EF4-FFF2-40B4-BE49-F238E27FC236}">
                <a16:creationId xmlns:a16="http://schemas.microsoft.com/office/drawing/2014/main" id="{AB8DFA98-F627-435E-9279-C3EA27523789}"/>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F1DFEDF8-CE50-417B-8D9E-B5D64568490E}"/>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536974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9C6BF-1958-434C-88C2-BE6F51B86E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040836-B85F-4C5F-9083-C35AC0A0A95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ACD6C52-F4A4-4815-BEC2-6D2020165413}"/>
              </a:ext>
            </a:extLst>
          </p:cNvPr>
          <p:cNvSpPr>
            <a:spLocks noGrp="1"/>
          </p:cNvSpPr>
          <p:nvPr>
            <p:ph type="dt" sz="half" idx="10"/>
          </p:nvPr>
        </p:nvSpPr>
        <p:spPr/>
        <p:txBody>
          <a:bodyPr/>
          <a:lstStyle/>
          <a:p>
            <a:fld id="{1F5B0060-BF0F-48EF-9584-F628450BA390}" type="datetime1">
              <a:rPr lang="en-US" smtClean="0"/>
              <a:t>6/3/2025</a:t>
            </a:fld>
            <a:endParaRPr lang="en-US"/>
          </a:p>
        </p:txBody>
      </p:sp>
      <p:sp>
        <p:nvSpPr>
          <p:cNvPr id="5" name="Footer Placeholder 4">
            <a:extLst>
              <a:ext uri="{FF2B5EF4-FFF2-40B4-BE49-F238E27FC236}">
                <a16:creationId xmlns:a16="http://schemas.microsoft.com/office/drawing/2014/main" id="{58C7E7F8-E198-44B6-BD23-897CCF904C0A}"/>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D8F39BCB-43A0-43F1-8978-8F589C9452F3}"/>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3149667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AADBA-192E-47CE-BA1F-C17CAA14BA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C295B52-52BB-4CE6-AF34-03CF45F79D7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36228A-03DA-4D9C-AF43-5ECA0A4DE96B}"/>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65527B-2180-4860-8BEB-7A9BA39BADDF}"/>
              </a:ext>
            </a:extLst>
          </p:cNvPr>
          <p:cNvSpPr>
            <a:spLocks noGrp="1"/>
          </p:cNvSpPr>
          <p:nvPr>
            <p:ph type="dt" sz="half" idx="10"/>
          </p:nvPr>
        </p:nvSpPr>
        <p:spPr/>
        <p:txBody>
          <a:bodyPr/>
          <a:lstStyle/>
          <a:p>
            <a:fld id="{40210919-2C55-4689-81B8-7E4B52281AAC}" type="datetime1">
              <a:rPr lang="en-US" smtClean="0"/>
              <a:t>6/3/2025</a:t>
            </a:fld>
            <a:endParaRPr lang="en-US"/>
          </a:p>
        </p:txBody>
      </p:sp>
      <p:sp>
        <p:nvSpPr>
          <p:cNvPr id="6" name="Footer Placeholder 5">
            <a:extLst>
              <a:ext uri="{FF2B5EF4-FFF2-40B4-BE49-F238E27FC236}">
                <a16:creationId xmlns:a16="http://schemas.microsoft.com/office/drawing/2014/main" id="{86399E2B-BC42-47E9-8E99-A921F7AE4F71}"/>
              </a:ext>
            </a:extLst>
          </p:cNvPr>
          <p:cNvSpPr>
            <a:spLocks noGrp="1"/>
          </p:cNvSpPr>
          <p:nvPr>
            <p:ph type="ftr" sz="quarter" idx="11"/>
          </p:nvPr>
        </p:nvSpPr>
        <p:spPr/>
        <p:txBody>
          <a:bodyPr/>
          <a:lstStyle/>
          <a:p>
            <a:r>
              <a:rPr lang="en-US"/>
              <a:t>Dept of Electronic Engineering</a:t>
            </a:r>
          </a:p>
        </p:txBody>
      </p:sp>
      <p:sp>
        <p:nvSpPr>
          <p:cNvPr id="7" name="Slide Number Placeholder 6">
            <a:extLst>
              <a:ext uri="{FF2B5EF4-FFF2-40B4-BE49-F238E27FC236}">
                <a16:creationId xmlns:a16="http://schemas.microsoft.com/office/drawing/2014/main" id="{D69D9582-0173-46D7-8AAB-8972A8ECBB38}"/>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612007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B2956-0C7F-4F9F-8500-08ECE99C6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39E685-7951-43EB-9D5D-297E9C523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EC6277-BDF0-46FE-9430-A22F7381522C}"/>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C9DDB5-B5FB-4C0E-A1E3-A1D8223B7B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F29AFE1-FC58-4670-8468-9877093C280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853C2B-03EA-4047-BCBC-4D91B2105836}"/>
              </a:ext>
            </a:extLst>
          </p:cNvPr>
          <p:cNvSpPr>
            <a:spLocks noGrp="1"/>
          </p:cNvSpPr>
          <p:nvPr>
            <p:ph type="dt" sz="half" idx="10"/>
          </p:nvPr>
        </p:nvSpPr>
        <p:spPr/>
        <p:txBody>
          <a:bodyPr/>
          <a:lstStyle/>
          <a:p>
            <a:fld id="{E7EEEFF4-4776-453E-A231-619529518974}" type="datetime1">
              <a:rPr lang="en-US" smtClean="0"/>
              <a:t>6/3/2025</a:t>
            </a:fld>
            <a:endParaRPr lang="en-US"/>
          </a:p>
        </p:txBody>
      </p:sp>
      <p:sp>
        <p:nvSpPr>
          <p:cNvPr id="8" name="Footer Placeholder 7">
            <a:extLst>
              <a:ext uri="{FF2B5EF4-FFF2-40B4-BE49-F238E27FC236}">
                <a16:creationId xmlns:a16="http://schemas.microsoft.com/office/drawing/2014/main" id="{B061FAE9-75A5-4AE5-9596-64CA130CD2C3}"/>
              </a:ext>
            </a:extLst>
          </p:cNvPr>
          <p:cNvSpPr>
            <a:spLocks noGrp="1"/>
          </p:cNvSpPr>
          <p:nvPr>
            <p:ph type="ftr" sz="quarter" idx="11"/>
          </p:nvPr>
        </p:nvSpPr>
        <p:spPr/>
        <p:txBody>
          <a:bodyPr/>
          <a:lstStyle/>
          <a:p>
            <a:r>
              <a:rPr lang="en-US"/>
              <a:t>Dept of Electronic Engineering</a:t>
            </a:r>
          </a:p>
        </p:txBody>
      </p:sp>
      <p:sp>
        <p:nvSpPr>
          <p:cNvPr id="9" name="Slide Number Placeholder 8">
            <a:extLst>
              <a:ext uri="{FF2B5EF4-FFF2-40B4-BE49-F238E27FC236}">
                <a16:creationId xmlns:a16="http://schemas.microsoft.com/office/drawing/2014/main" id="{C41F1172-0897-47CB-A825-EAFA2830F96B}"/>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56160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62DC7-A0C0-4663-9066-751973D00AA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1F44CF2-771A-46FD-A015-4B3C31D2E592}"/>
              </a:ext>
            </a:extLst>
          </p:cNvPr>
          <p:cNvSpPr>
            <a:spLocks noGrp="1"/>
          </p:cNvSpPr>
          <p:nvPr>
            <p:ph type="dt" sz="half" idx="10"/>
          </p:nvPr>
        </p:nvSpPr>
        <p:spPr/>
        <p:txBody>
          <a:bodyPr/>
          <a:lstStyle/>
          <a:p>
            <a:fld id="{A67B82E3-672D-4324-896A-20C1953D47B2}" type="datetime1">
              <a:rPr lang="en-US" smtClean="0"/>
              <a:t>6/3/2025</a:t>
            </a:fld>
            <a:endParaRPr lang="en-US"/>
          </a:p>
        </p:txBody>
      </p:sp>
      <p:sp>
        <p:nvSpPr>
          <p:cNvPr id="4" name="Footer Placeholder 3">
            <a:extLst>
              <a:ext uri="{FF2B5EF4-FFF2-40B4-BE49-F238E27FC236}">
                <a16:creationId xmlns:a16="http://schemas.microsoft.com/office/drawing/2014/main" id="{C35B77B0-EA65-4D02-B914-A348DDE67509}"/>
              </a:ext>
            </a:extLst>
          </p:cNvPr>
          <p:cNvSpPr>
            <a:spLocks noGrp="1"/>
          </p:cNvSpPr>
          <p:nvPr>
            <p:ph type="ftr" sz="quarter" idx="11"/>
          </p:nvPr>
        </p:nvSpPr>
        <p:spPr/>
        <p:txBody>
          <a:bodyPr/>
          <a:lstStyle/>
          <a:p>
            <a:r>
              <a:rPr lang="en-US"/>
              <a:t>Dept of Electronic Engineering</a:t>
            </a:r>
          </a:p>
        </p:txBody>
      </p:sp>
      <p:sp>
        <p:nvSpPr>
          <p:cNvPr id="5" name="Slide Number Placeholder 4">
            <a:extLst>
              <a:ext uri="{FF2B5EF4-FFF2-40B4-BE49-F238E27FC236}">
                <a16:creationId xmlns:a16="http://schemas.microsoft.com/office/drawing/2014/main" id="{0A7B6B8A-A68C-46CC-839D-9CD35D02604E}"/>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2080010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D777D1-7AC0-40FD-B52A-D0FE431134C3}"/>
              </a:ext>
            </a:extLst>
          </p:cNvPr>
          <p:cNvSpPr>
            <a:spLocks noGrp="1"/>
          </p:cNvSpPr>
          <p:nvPr>
            <p:ph type="dt" sz="half" idx="10"/>
          </p:nvPr>
        </p:nvSpPr>
        <p:spPr/>
        <p:txBody>
          <a:bodyPr/>
          <a:lstStyle/>
          <a:p>
            <a:fld id="{1F46BE6D-907E-42CA-9C41-4F9A94BD0023}" type="datetime1">
              <a:rPr lang="en-US" smtClean="0"/>
              <a:t>6/3/2025</a:t>
            </a:fld>
            <a:endParaRPr lang="en-US"/>
          </a:p>
        </p:txBody>
      </p:sp>
      <p:sp>
        <p:nvSpPr>
          <p:cNvPr id="3" name="Footer Placeholder 2">
            <a:extLst>
              <a:ext uri="{FF2B5EF4-FFF2-40B4-BE49-F238E27FC236}">
                <a16:creationId xmlns:a16="http://schemas.microsoft.com/office/drawing/2014/main" id="{F040D7FD-A8AA-4AE5-A9D3-BB8B56AD844E}"/>
              </a:ext>
            </a:extLst>
          </p:cNvPr>
          <p:cNvSpPr>
            <a:spLocks noGrp="1"/>
          </p:cNvSpPr>
          <p:nvPr>
            <p:ph type="ftr" sz="quarter" idx="11"/>
          </p:nvPr>
        </p:nvSpPr>
        <p:spPr/>
        <p:txBody>
          <a:bodyPr/>
          <a:lstStyle/>
          <a:p>
            <a:r>
              <a:rPr lang="en-US"/>
              <a:t>Dept of Electronic Engineering</a:t>
            </a:r>
          </a:p>
        </p:txBody>
      </p:sp>
      <p:sp>
        <p:nvSpPr>
          <p:cNvPr id="4" name="Slide Number Placeholder 3">
            <a:extLst>
              <a:ext uri="{FF2B5EF4-FFF2-40B4-BE49-F238E27FC236}">
                <a16:creationId xmlns:a16="http://schemas.microsoft.com/office/drawing/2014/main" id="{3A3D54A1-4D78-4A27-AF43-09E48D7B695D}"/>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4139886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EC364-63B3-46A6-BBBC-6B1969F8B1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A7DE6-BA26-433D-9295-709AE5838B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64ADB0-50B7-4538-8678-89521BD4B5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246D01-2C8B-42E3-BD0C-7724C78EBBBC}"/>
              </a:ext>
            </a:extLst>
          </p:cNvPr>
          <p:cNvSpPr>
            <a:spLocks noGrp="1"/>
          </p:cNvSpPr>
          <p:nvPr>
            <p:ph type="dt" sz="half" idx="10"/>
          </p:nvPr>
        </p:nvSpPr>
        <p:spPr/>
        <p:txBody>
          <a:bodyPr/>
          <a:lstStyle/>
          <a:p>
            <a:fld id="{773189A9-22D7-46FA-A74E-AFE445195A79}" type="datetime1">
              <a:rPr lang="en-US" smtClean="0"/>
              <a:t>6/3/2025</a:t>
            </a:fld>
            <a:endParaRPr lang="en-US"/>
          </a:p>
        </p:txBody>
      </p:sp>
      <p:sp>
        <p:nvSpPr>
          <p:cNvPr id="6" name="Footer Placeholder 5">
            <a:extLst>
              <a:ext uri="{FF2B5EF4-FFF2-40B4-BE49-F238E27FC236}">
                <a16:creationId xmlns:a16="http://schemas.microsoft.com/office/drawing/2014/main" id="{7B7870E8-DF3B-4605-9290-D6CB400F2E27}"/>
              </a:ext>
            </a:extLst>
          </p:cNvPr>
          <p:cNvSpPr>
            <a:spLocks noGrp="1"/>
          </p:cNvSpPr>
          <p:nvPr>
            <p:ph type="ftr" sz="quarter" idx="11"/>
          </p:nvPr>
        </p:nvSpPr>
        <p:spPr/>
        <p:txBody>
          <a:bodyPr/>
          <a:lstStyle/>
          <a:p>
            <a:r>
              <a:rPr lang="en-US"/>
              <a:t>Dept of Electronic Engineering</a:t>
            </a:r>
          </a:p>
        </p:txBody>
      </p:sp>
      <p:sp>
        <p:nvSpPr>
          <p:cNvPr id="7" name="Slide Number Placeholder 6">
            <a:extLst>
              <a:ext uri="{FF2B5EF4-FFF2-40B4-BE49-F238E27FC236}">
                <a16:creationId xmlns:a16="http://schemas.microsoft.com/office/drawing/2014/main" id="{962B5785-9CEB-46C2-A243-0FB5B9D28D09}"/>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223851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8D186-B1C1-4AB8-A041-8675B96C91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4EAD07-631D-4716-A892-F41AE9DF83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A75E739-AA14-4B64-9C2D-508F283176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8FECAC1-F34C-4052-BB79-7ACB1824F64F}"/>
              </a:ext>
            </a:extLst>
          </p:cNvPr>
          <p:cNvSpPr>
            <a:spLocks noGrp="1"/>
          </p:cNvSpPr>
          <p:nvPr>
            <p:ph type="dt" sz="half" idx="10"/>
          </p:nvPr>
        </p:nvSpPr>
        <p:spPr/>
        <p:txBody>
          <a:bodyPr/>
          <a:lstStyle/>
          <a:p>
            <a:fld id="{12BAC305-8237-460E-8789-C33E510ADBDD}" type="datetime1">
              <a:rPr lang="en-US" smtClean="0"/>
              <a:t>6/3/2025</a:t>
            </a:fld>
            <a:endParaRPr lang="en-US"/>
          </a:p>
        </p:txBody>
      </p:sp>
      <p:sp>
        <p:nvSpPr>
          <p:cNvPr id="6" name="Footer Placeholder 5">
            <a:extLst>
              <a:ext uri="{FF2B5EF4-FFF2-40B4-BE49-F238E27FC236}">
                <a16:creationId xmlns:a16="http://schemas.microsoft.com/office/drawing/2014/main" id="{F4E42A2F-52CD-428B-A93E-CC1D0D0AE004}"/>
              </a:ext>
            </a:extLst>
          </p:cNvPr>
          <p:cNvSpPr>
            <a:spLocks noGrp="1"/>
          </p:cNvSpPr>
          <p:nvPr>
            <p:ph type="ftr" sz="quarter" idx="11"/>
          </p:nvPr>
        </p:nvSpPr>
        <p:spPr/>
        <p:txBody>
          <a:bodyPr/>
          <a:lstStyle/>
          <a:p>
            <a:r>
              <a:rPr lang="en-US"/>
              <a:t>Dept of Electronic Engineering</a:t>
            </a:r>
          </a:p>
        </p:txBody>
      </p:sp>
      <p:sp>
        <p:nvSpPr>
          <p:cNvPr id="7" name="Slide Number Placeholder 6">
            <a:extLst>
              <a:ext uri="{FF2B5EF4-FFF2-40B4-BE49-F238E27FC236}">
                <a16:creationId xmlns:a16="http://schemas.microsoft.com/office/drawing/2014/main" id="{CF1D9D3A-D478-4B82-8BE2-A55116AE56ED}"/>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478993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90809-26D2-41C8-B572-D4197B1766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C330C0-C6CA-4C14-A3E0-DE502C73165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592100-C3EE-411D-BE1D-73B05CC292BF}"/>
              </a:ext>
            </a:extLst>
          </p:cNvPr>
          <p:cNvSpPr>
            <a:spLocks noGrp="1"/>
          </p:cNvSpPr>
          <p:nvPr>
            <p:ph type="dt" sz="half" idx="10"/>
          </p:nvPr>
        </p:nvSpPr>
        <p:spPr/>
        <p:txBody>
          <a:bodyPr/>
          <a:lstStyle/>
          <a:p>
            <a:fld id="{DFF7C5F2-528C-46FA-BE0B-2BE8B7D48C0D}" type="datetime1">
              <a:rPr lang="en-US" smtClean="0"/>
              <a:t>6/3/2025</a:t>
            </a:fld>
            <a:endParaRPr lang="en-US"/>
          </a:p>
        </p:txBody>
      </p:sp>
      <p:sp>
        <p:nvSpPr>
          <p:cNvPr id="5" name="Footer Placeholder 4">
            <a:extLst>
              <a:ext uri="{FF2B5EF4-FFF2-40B4-BE49-F238E27FC236}">
                <a16:creationId xmlns:a16="http://schemas.microsoft.com/office/drawing/2014/main" id="{CF428364-6C1E-4235-B4D1-277DF72444E2}"/>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D80EA027-7529-486C-93AC-EBB6933F8EC3}"/>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401922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90B5ED-3EB2-4AB4-B4A8-2080174BAB1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7983E5B-77A2-47B8-BAF0-6911708BCA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2CCCFE-9E06-48C7-87C8-A74333D6CFDD}"/>
              </a:ext>
            </a:extLst>
          </p:cNvPr>
          <p:cNvSpPr>
            <a:spLocks noGrp="1"/>
          </p:cNvSpPr>
          <p:nvPr>
            <p:ph type="dt" sz="half" idx="10"/>
          </p:nvPr>
        </p:nvSpPr>
        <p:spPr/>
        <p:txBody>
          <a:bodyPr/>
          <a:lstStyle/>
          <a:p>
            <a:fld id="{12E33C37-DB2A-4F9A-A639-28950EA6728C}" type="datetime1">
              <a:rPr lang="en-US" smtClean="0"/>
              <a:t>6/3/2025</a:t>
            </a:fld>
            <a:endParaRPr lang="en-US"/>
          </a:p>
        </p:txBody>
      </p:sp>
      <p:sp>
        <p:nvSpPr>
          <p:cNvPr id="5" name="Footer Placeholder 4">
            <a:extLst>
              <a:ext uri="{FF2B5EF4-FFF2-40B4-BE49-F238E27FC236}">
                <a16:creationId xmlns:a16="http://schemas.microsoft.com/office/drawing/2014/main" id="{2DFE7C6E-175B-461E-BED6-D2AC84A6E8C6}"/>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88806042-E1B6-4E40-BA32-7D95B3BB4426}"/>
              </a:ext>
            </a:extLst>
          </p:cNvPr>
          <p:cNvSpPr>
            <a:spLocks noGrp="1"/>
          </p:cNvSpPr>
          <p:nvPr>
            <p:ph type="sldNum" sz="quarter" idx="12"/>
          </p:nvPr>
        </p:nvSpPr>
        <p:spPr/>
        <p:txBody>
          <a:bodyPr/>
          <a:lstStyle/>
          <a:p>
            <a:fld id="{952A837F-FDD8-4A5A-8D82-65CDA50A5412}" type="slidenum">
              <a:rPr lang="en-US" smtClean="0"/>
              <a:t>‹#›</a:t>
            </a:fld>
            <a:endParaRPr lang="en-US"/>
          </a:p>
        </p:txBody>
      </p:sp>
    </p:spTree>
    <p:extLst>
      <p:ext uri="{BB962C8B-B14F-4D97-AF65-F5344CB8AC3E}">
        <p14:creationId xmlns:p14="http://schemas.microsoft.com/office/powerpoint/2010/main" val="1109799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5ABC75-A331-4CB0-8FF9-51766B4DE4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058B1C-F58D-402B-8BE2-488FC6AA35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AF6A9-0589-4E23-9DB0-17E380F36E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5A0C1C-6D0C-44B1-8263-3293CAEB9F0B}" type="datetime1">
              <a:rPr lang="en-US" smtClean="0"/>
              <a:t>6/3/2025</a:t>
            </a:fld>
            <a:endParaRPr lang="en-US"/>
          </a:p>
        </p:txBody>
      </p:sp>
      <p:sp>
        <p:nvSpPr>
          <p:cNvPr id="5" name="Footer Placeholder 4">
            <a:extLst>
              <a:ext uri="{FF2B5EF4-FFF2-40B4-BE49-F238E27FC236}">
                <a16:creationId xmlns:a16="http://schemas.microsoft.com/office/drawing/2014/main" id="{BDB990BA-1A49-4A77-8813-3BEC1CA5D2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Electronic Engineering</a:t>
            </a:r>
          </a:p>
        </p:txBody>
      </p:sp>
      <p:sp>
        <p:nvSpPr>
          <p:cNvPr id="6" name="Slide Number Placeholder 5">
            <a:extLst>
              <a:ext uri="{FF2B5EF4-FFF2-40B4-BE49-F238E27FC236}">
                <a16:creationId xmlns:a16="http://schemas.microsoft.com/office/drawing/2014/main" id="{04C70ED1-5C8F-43F8-90BF-3E93964346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2A837F-FDD8-4A5A-8D82-65CDA50A5412}" type="slidenum">
              <a:rPr lang="en-US" smtClean="0"/>
              <a:t>‹#›</a:t>
            </a:fld>
            <a:endParaRPr lang="en-US"/>
          </a:p>
        </p:txBody>
      </p:sp>
      <p:pic>
        <p:nvPicPr>
          <p:cNvPr id="8" name="Hình ảnh 2">
            <a:extLst>
              <a:ext uri="{FF2B5EF4-FFF2-40B4-BE49-F238E27FC236}">
                <a16:creationId xmlns:a16="http://schemas.microsoft.com/office/drawing/2014/main" id="{18126EF2-2D56-4D5F-8D62-F60462D5ECDD}"/>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06086" y="-97049"/>
            <a:ext cx="1654378" cy="1169710"/>
          </a:xfrm>
          <a:prstGeom prst="rect">
            <a:avLst/>
          </a:prstGeom>
        </p:spPr>
      </p:pic>
    </p:spTree>
    <p:extLst>
      <p:ext uri="{BB962C8B-B14F-4D97-AF65-F5344CB8AC3E}">
        <p14:creationId xmlns:p14="http://schemas.microsoft.com/office/powerpoint/2010/main" val="2241012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10" Type="http://schemas.openxmlformats.org/officeDocument/2006/relationships/image" Target="../media/image54.png"/><Relationship Id="rId4" Type="http://schemas.openxmlformats.org/officeDocument/2006/relationships/image" Target="../media/image17.png"/><Relationship Id="rId9"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56.png"/><Relationship Id="rId7" Type="http://schemas.openxmlformats.org/officeDocument/2006/relationships/image" Target="../media/image55.png"/><Relationship Id="rId1" Type="http://schemas.openxmlformats.org/officeDocument/2006/relationships/slideLayout" Target="../slideLayouts/slideLayout2.xml"/><Relationship Id="rId11" Type="http://schemas.openxmlformats.org/officeDocument/2006/relationships/image" Target="../media/image58.png"/><Relationship Id="rId10" Type="http://schemas.openxmlformats.org/officeDocument/2006/relationships/image" Target="../media/image57.png"/><Relationship Id="rId9"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5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7" Type="http://schemas.openxmlformats.org/officeDocument/2006/relationships/image" Target="../media/image22.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6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ộp Văn bản 12">
            <a:extLst>
              <a:ext uri="{FF2B5EF4-FFF2-40B4-BE49-F238E27FC236}">
                <a16:creationId xmlns:a16="http://schemas.microsoft.com/office/drawing/2014/main" id="{80159C43-CCF8-470C-A5FD-DAA6AAE820D1}"/>
              </a:ext>
            </a:extLst>
          </p:cNvPr>
          <p:cNvSpPr txBox="1"/>
          <p:nvPr/>
        </p:nvSpPr>
        <p:spPr>
          <a:xfrm>
            <a:off x="2641891" y="3865119"/>
            <a:ext cx="6115050" cy="470000"/>
          </a:xfrm>
          <a:prstGeom prst="rect">
            <a:avLst/>
          </a:prstGeom>
          <a:noFill/>
        </p:spPr>
        <p:txBody>
          <a:bodyPr wrap="square">
            <a:spAutoFit/>
          </a:bodyPr>
          <a:lstStyle/>
          <a:p>
            <a:pPr indent="356870" algn="ctr">
              <a:lnSpc>
                <a:spcPct val="107000"/>
              </a:lnSpc>
              <a:spcBef>
                <a:spcPts val="600"/>
              </a:spcBef>
              <a:spcAft>
                <a:spcPts val="800"/>
              </a:spcAft>
            </a:pPr>
            <a:r>
              <a:rPr lang="en-US" sz="2400" b="1" dirty="0" err="1">
                <a:solidFill>
                  <a:srgbClr val="002060"/>
                </a:solidFill>
                <a:latin typeface="Calibri" panose="020F0502020204030204" pitchFamily="34" charset="0"/>
                <a:ea typeface="Calibri" panose="020F0502020204030204" pitchFamily="34" charset="0"/>
                <a:cs typeface="Calibri" panose="020F0502020204030204" pitchFamily="34" charset="0"/>
              </a:rPr>
              <a:t>Báo</a:t>
            </a:r>
            <a:r>
              <a:rPr lang="en-US" sz="24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002060"/>
                </a:solidFill>
                <a:latin typeface="Calibri" panose="020F0502020204030204" pitchFamily="34" charset="0"/>
                <a:ea typeface="Calibri" panose="020F0502020204030204" pitchFamily="34" charset="0"/>
                <a:cs typeface="Calibri" panose="020F0502020204030204" pitchFamily="34" charset="0"/>
              </a:rPr>
              <a:t>cáo</a:t>
            </a:r>
            <a:r>
              <a:rPr lang="en-US" sz="24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002060"/>
                </a:solidFill>
                <a:latin typeface="Calibri" panose="020F0502020204030204" pitchFamily="34" charset="0"/>
                <a:ea typeface="Calibri" panose="020F0502020204030204" pitchFamily="34" charset="0"/>
                <a:cs typeface="Calibri" panose="020F0502020204030204" pitchFamily="34" charset="0"/>
              </a:rPr>
              <a:t>Đồ</a:t>
            </a:r>
            <a:r>
              <a:rPr lang="en-US" sz="2400" b="1" dirty="0">
                <a:solidFill>
                  <a:srgbClr val="002060"/>
                </a:solidFill>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002060"/>
                </a:solidFill>
                <a:latin typeface="Calibri" panose="020F0502020204030204" pitchFamily="34" charset="0"/>
                <a:ea typeface="Calibri" panose="020F0502020204030204" pitchFamily="34" charset="0"/>
                <a:cs typeface="Calibri" panose="020F0502020204030204" pitchFamily="34" charset="0"/>
              </a:rPr>
              <a:t>án</a:t>
            </a:r>
            <a:r>
              <a:rPr lang="en-US" sz="2400" b="1" dirty="0">
                <a:solidFill>
                  <a:srgbClr val="002060"/>
                </a:solidFill>
                <a:latin typeface="Calibri" panose="020F0502020204030204" pitchFamily="34" charset="0"/>
                <a:ea typeface="Calibri" panose="020F0502020204030204" pitchFamily="34" charset="0"/>
                <a:cs typeface="Calibri" panose="020F0502020204030204" pitchFamily="34" charset="0"/>
              </a:rPr>
              <a:t> 1 - </a:t>
            </a:r>
            <a:r>
              <a:rPr lang="vi-VN" sz="24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HK</a:t>
            </a:r>
            <a:r>
              <a:rPr lang="en-US" sz="2400" b="1" dirty="0">
                <a:solidFill>
                  <a:srgbClr val="002060"/>
                </a:solidFill>
                <a:effectLst/>
                <a:latin typeface="Calibri" panose="020F0502020204030204" pitchFamily="34" charset="0"/>
                <a:ea typeface="Calibri" panose="020F0502020204030204" pitchFamily="34" charset="0"/>
                <a:cs typeface="Calibri" panose="020F0502020204030204" pitchFamily="34" charset="0"/>
              </a:rPr>
              <a:t> 242 </a:t>
            </a:r>
            <a:endParaRPr lang="vi-VN" sz="2400" dirty="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6" name="Hộp Văn bản 13">
            <a:extLst>
              <a:ext uri="{FF2B5EF4-FFF2-40B4-BE49-F238E27FC236}">
                <a16:creationId xmlns:a16="http://schemas.microsoft.com/office/drawing/2014/main" id="{FF200685-D154-4532-80B3-5CF3C4BA4E3A}"/>
              </a:ext>
            </a:extLst>
          </p:cNvPr>
          <p:cNvSpPr txBox="1"/>
          <p:nvPr/>
        </p:nvSpPr>
        <p:spPr>
          <a:xfrm>
            <a:off x="2641891" y="4792602"/>
            <a:ext cx="6115050" cy="368755"/>
          </a:xfrm>
          <a:prstGeom prst="rect">
            <a:avLst/>
          </a:prstGeom>
          <a:noFill/>
        </p:spPr>
        <p:txBody>
          <a:bodyPr wrap="square">
            <a:spAutoFit/>
          </a:bodyPr>
          <a:lstStyle/>
          <a:p>
            <a:pPr indent="356870" algn="ctr">
              <a:lnSpc>
                <a:spcPct val="107000"/>
              </a:lnSpc>
              <a:spcBef>
                <a:spcPts val="600"/>
              </a:spcBef>
              <a:spcAft>
                <a:spcPts val="800"/>
              </a:spcAft>
            </a:pPr>
            <a:r>
              <a:rPr lang="en-US" sz="1800" b="1"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Giảng</a:t>
            </a:r>
            <a:r>
              <a:rPr lang="en-US"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vi-VN"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viên hướng dẫn: </a:t>
            </a:r>
            <a:r>
              <a:rPr lang="en-US" b="1"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Thầy</a:t>
            </a:r>
            <a:r>
              <a:rPr lang="en-US"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Trần</a:t>
            </a:r>
            <a:r>
              <a:rPr lang="en-US"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a:t>
            </a:r>
            <a:r>
              <a:rPr lang="en-US" b="1" dirty="0" err="1">
                <a:solidFill>
                  <a:srgbClr val="0070C0"/>
                </a:solidFill>
                <a:latin typeface="Times New Roman" panose="02020603050405020304" pitchFamily="18" charset="0"/>
                <a:ea typeface="Calibri" panose="020F0502020204030204" pitchFamily="34" charset="0"/>
                <a:cs typeface="Times New Roman" panose="02020603050405020304" pitchFamily="18" charset="0"/>
              </a:rPr>
              <a:t>Hoàng</a:t>
            </a:r>
            <a:r>
              <a:rPr lang="en-US"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 Linh</a:t>
            </a:r>
            <a:endParaRPr lang="vi-VN" sz="18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Hộp Văn bản 14">
            <a:extLst>
              <a:ext uri="{FF2B5EF4-FFF2-40B4-BE49-F238E27FC236}">
                <a16:creationId xmlns:a16="http://schemas.microsoft.com/office/drawing/2014/main" id="{86975556-AE4F-4617-A338-24B0D52B4CE2}"/>
              </a:ext>
            </a:extLst>
          </p:cNvPr>
          <p:cNvSpPr txBox="1"/>
          <p:nvPr/>
        </p:nvSpPr>
        <p:spPr>
          <a:xfrm>
            <a:off x="2641891" y="5250085"/>
            <a:ext cx="6115050" cy="368755"/>
          </a:xfrm>
          <a:prstGeom prst="rect">
            <a:avLst/>
          </a:prstGeom>
          <a:noFill/>
        </p:spPr>
        <p:txBody>
          <a:bodyPr wrap="square">
            <a:spAutoFit/>
          </a:bodyPr>
          <a:lstStyle/>
          <a:p>
            <a:pPr indent="356870" algn="ctr">
              <a:lnSpc>
                <a:spcPct val="107000"/>
              </a:lnSpc>
              <a:spcBef>
                <a:spcPts val="600"/>
              </a:spcBef>
              <a:spcAft>
                <a:spcPts val="800"/>
              </a:spcAft>
            </a:pPr>
            <a:r>
              <a:rPr lang="en-US" sz="1800" b="1"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Cùng</a:t>
            </a:r>
            <a:r>
              <a:rPr lang="en-US"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Anh </a:t>
            </a:r>
            <a:r>
              <a:rPr lang="en-US" sz="1800" b="1"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Đỗ</a:t>
            </a:r>
            <a:r>
              <a:rPr lang="en-US"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Huy</a:t>
            </a:r>
            <a:r>
              <a:rPr lang="en-US"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b="1" dirty="0" err="1">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Khang</a:t>
            </a:r>
            <a:endParaRPr lang="en-US" sz="1800" b="1"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 name="Date Placeholder 10">
            <a:extLst>
              <a:ext uri="{FF2B5EF4-FFF2-40B4-BE49-F238E27FC236}">
                <a16:creationId xmlns:a16="http://schemas.microsoft.com/office/drawing/2014/main" id="{2BF7219D-B858-43C2-B999-905E2C1D0F8D}"/>
              </a:ext>
            </a:extLst>
          </p:cNvPr>
          <p:cNvSpPr>
            <a:spLocks noGrp="1"/>
          </p:cNvSpPr>
          <p:nvPr>
            <p:ph type="dt" sz="half" idx="10"/>
          </p:nvPr>
        </p:nvSpPr>
        <p:spPr/>
        <p:txBody>
          <a:bodyPr/>
          <a:lstStyle/>
          <a:p>
            <a:fld id="{87ECBF97-765C-43BE-9D57-2541B3CB8ECB}" type="datetime1">
              <a:rPr lang="en-US" sz="2400" smtClean="0"/>
              <a:t>6/3/2025</a:t>
            </a:fld>
            <a:endParaRPr lang="en-US" sz="2400" dirty="0"/>
          </a:p>
        </p:txBody>
      </p:sp>
      <p:sp>
        <p:nvSpPr>
          <p:cNvPr id="12" name="Footer Placeholder 11">
            <a:extLst>
              <a:ext uri="{FF2B5EF4-FFF2-40B4-BE49-F238E27FC236}">
                <a16:creationId xmlns:a16="http://schemas.microsoft.com/office/drawing/2014/main" id="{B59ABC9B-CCEB-4FAA-BFB9-48B3C4DB9A56}"/>
              </a:ext>
            </a:extLst>
          </p:cNvPr>
          <p:cNvSpPr>
            <a:spLocks noGrp="1"/>
          </p:cNvSpPr>
          <p:nvPr>
            <p:ph type="ftr" sz="quarter" idx="11"/>
          </p:nvPr>
        </p:nvSpPr>
        <p:spPr/>
        <p:txBody>
          <a:bodyPr/>
          <a:lstStyle/>
          <a:p>
            <a:r>
              <a:rPr lang="en-US" sz="2400" dirty="0"/>
              <a:t>Dept of Electronic Engineering</a:t>
            </a:r>
          </a:p>
        </p:txBody>
      </p:sp>
      <p:sp>
        <p:nvSpPr>
          <p:cNvPr id="13" name="Slide Number Placeholder 12">
            <a:extLst>
              <a:ext uri="{FF2B5EF4-FFF2-40B4-BE49-F238E27FC236}">
                <a16:creationId xmlns:a16="http://schemas.microsoft.com/office/drawing/2014/main" id="{8DBDB226-9F50-48F8-A1C6-8129799B5F80}"/>
              </a:ext>
            </a:extLst>
          </p:cNvPr>
          <p:cNvSpPr>
            <a:spLocks noGrp="1"/>
          </p:cNvSpPr>
          <p:nvPr>
            <p:ph type="sldNum" sz="quarter" idx="12"/>
          </p:nvPr>
        </p:nvSpPr>
        <p:spPr/>
        <p:txBody>
          <a:bodyPr/>
          <a:lstStyle/>
          <a:p>
            <a:fld id="{952A837F-FDD8-4A5A-8D82-65CDA50A5412}" type="slidenum">
              <a:rPr lang="en-US" sz="2400" smtClean="0"/>
              <a:t>1</a:t>
            </a:fld>
            <a:endParaRPr lang="en-US" sz="2400"/>
          </a:p>
        </p:txBody>
      </p:sp>
      <p:sp>
        <p:nvSpPr>
          <p:cNvPr id="9" name="Rectangle 8">
            <a:extLst>
              <a:ext uri="{FF2B5EF4-FFF2-40B4-BE49-F238E27FC236}">
                <a16:creationId xmlns:a16="http://schemas.microsoft.com/office/drawing/2014/main" id="{4E9F7EAB-9177-4254-948B-BA7441A93F30}"/>
              </a:ext>
            </a:extLst>
          </p:cNvPr>
          <p:cNvSpPr/>
          <p:nvPr/>
        </p:nvSpPr>
        <p:spPr>
          <a:xfrm>
            <a:off x="1587623" y="2712341"/>
            <a:ext cx="9499847" cy="1018484"/>
          </a:xfrm>
          <a:prstGeom prst="rect">
            <a:avLst/>
          </a:prstGeom>
        </p:spPr>
        <p:txBody>
          <a:bodyPr wrap="square">
            <a:spAutoFit/>
          </a:bodyPr>
          <a:lstStyle/>
          <a:p>
            <a:pPr algn="ctr">
              <a:lnSpc>
                <a:spcPct val="200000"/>
              </a:lnSpc>
              <a:spcBef>
                <a:spcPts val="500"/>
              </a:spcBef>
              <a:spcAft>
                <a:spcPts val="0"/>
              </a:spcAft>
            </a:pPr>
            <a:r>
              <a:rPr lang="en-US" sz="3600" b="1" cap="all" dirty="0">
                <a:latin typeface="Bahnschrift SemiBold Condensed" panose="020B0502040204020203" pitchFamily="34" charset="0"/>
                <a:ea typeface="Times New Roman" panose="02020603050405020304" pitchFamily="18" charset="0"/>
              </a:rPr>
              <a:t>Design Transmitter Driver matching impedance @ 5Gb/s</a:t>
            </a:r>
            <a:endParaRPr lang="en-US" sz="3600" dirty="0">
              <a:effectLst/>
              <a:latin typeface="Bahnschrift SemiBold Condensed" panose="020B0502040204020203" pitchFamily="34" charset="0"/>
              <a:ea typeface="Times New Roman" panose="02020603050405020304" pitchFamily="18" charset="0"/>
            </a:endParaRPr>
          </a:p>
        </p:txBody>
      </p:sp>
    </p:spTree>
    <p:extLst>
      <p:ext uri="{BB962C8B-B14F-4D97-AF65-F5344CB8AC3E}">
        <p14:creationId xmlns:p14="http://schemas.microsoft.com/office/powerpoint/2010/main" val="3864730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789CF-EB4C-4964-BC39-C3EF2009825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19668E8-40E0-4436-8F86-ABA156574BC2}"/>
              </a:ext>
            </a:extLst>
          </p:cNvPr>
          <p:cNvSpPr>
            <a:spLocks noGrp="1"/>
          </p:cNvSpPr>
          <p:nvPr>
            <p:ph idx="1"/>
          </p:nvPr>
        </p:nvSpPr>
        <p:spPr/>
        <p:txBody>
          <a:bodyPr/>
          <a:lstStyle/>
          <a:p>
            <a:endParaRPr lang="en-US" dirty="0"/>
          </a:p>
        </p:txBody>
      </p:sp>
      <p:graphicFrame>
        <p:nvGraphicFramePr>
          <p:cNvPr id="4" name="Bảng 5">
            <a:extLst>
              <a:ext uri="{FF2B5EF4-FFF2-40B4-BE49-F238E27FC236}">
                <a16:creationId xmlns:a16="http://schemas.microsoft.com/office/drawing/2014/main" id="{FF3631D5-7674-4C99-B3AB-0B282640F8D2}"/>
              </a:ext>
            </a:extLst>
          </p:cNvPr>
          <p:cNvGraphicFramePr>
            <a:graphicFrameLocks noGrp="1"/>
          </p:cNvGraphicFramePr>
          <p:nvPr>
            <p:extLst>
              <p:ext uri="{D42A27DB-BD31-4B8C-83A1-F6EECF244321}">
                <p14:modId xmlns:p14="http://schemas.microsoft.com/office/powerpoint/2010/main" val="403823123"/>
              </p:ext>
            </p:extLst>
          </p:nvPr>
        </p:nvGraphicFramePr>
        <p:xfrm>
          <a:off x="1050441" y="2841546"/>
          <a:ext cx="9956800" cy="1463040"/>
        </p:xfrm>
        <a:graphic>
          <a:graphicData uri="http://schemas.openxmlformats.org/drawingml/2006/table">
            <a:tbl>
              <a:tblPr firstRow="1" bandRow="1">
                <a:tableStyleId>{5C22544A-7EE6-4342-B048-85BDC9FD1C3A}</a:tableStyleId>
              </a:tblPr>
              <a:tblGrid>
                <a:gridCol w="4978400">
                  <a:extLst>
                    <a:ext uri="{9D8B030D-6E8A-4147-A177-3AD203B41FA5}">
                      <a16:colId xmlns:a16="http://schemas.microsoft.com/office/drawing/2014/main" val="22694745"/>
                    </a:ext>
                  </a:extLst>
                </a:gridCol>
                <a:gridCol w="4978400">
                  <a:extLst>
                    <a:ext uri="{9D8B030D-6E8A-4147-A177-3AD203B41FA5}">
                      <a16:colId xmlns:a16="http://schemas.microsoft.com/office/drawing/2014/main" val="3893136320"/>
                    </a:ext>
                  </a:extLst>
                </a:gridCol>
              </a:tblGrid>
              <a:tr h="601134">
                <a:tc>
                  <a:txBody>
                    <a:bodyPr/>
                    <a:lstStyle/>
                    <a:p>
                      <a:pPr algn="ctr"/>
                      <a:r>
                        <a:rPr lang="en-US" sz="4400">
                          <a:latin typeface="+mj-lt"/>
                        </a:rPr>
                        <a:t>Tên</a:t>
                      </a:r>
                      <a:endParaRPr lang="vi-VN" sz="4400">
                        <a:latin typeface="+mj-lt"/>
                      </a:endParaRPr>
                    </a:p>
                  </a:txBody>
                  <a:tcPr/>
                </a:tc>
                <a:tc>
                  <a:txBody>
                    <a:bodyPr/>
                    <a:lstStyle/>
                    <a:p>
                      <a:pPr algn="ctr"/>
                      <a:r>
                        <a:rPr lang="en-US" sz="4000"/>
                        <a:t>MSSV</a:t>
                      </a:r>
                      <a:endParaRPr lang="vi-VN" sz="4000"/>
                    </a:p>
                  </a:txBody>
                  <a:tcPr/>
                </a:tc>
                <a:extLst>
                  <a:ext uri="{0D108BD9-81ED-4DB2-BD59-A6C34878D82A}">
                    <a16:rowId xmlns:a16="http://schemas.microsoft.com/office/drawing/2014/main" val="331914676"/>
                  </a:ext>
                </a:extLst>
              </a:tr>
              <a:tr h="601134">
                <a:tc>
                  <a:txBody>
                    <a:bodyPr/>
                    <a:lstStyle/>
                    <a:p>
                      <a:pPr algn="ctr"/>
                      <a:r>
                        <a:rPr lang="en-US" sz="4000" dirty="0" err="1"/>
                        <a:t>Hà</a:t>
                      </a:r>
                      <a:r>
                        <a:rPr lang="en-US" sz="4000" dirty="0"/>
                        <a:t> Lê </a:t>
                      </a:r>
                      <a:r>
                        <a:rPr lang="en-US" sz="4000" dirty="0" err="1"/>
                        <a:t>Ngọc</a:t>
                      </a:r>
                      <a:r>
                        <a:rPr lang="en-US" sz="4000" dirty="0"/>
                        <a:t> </a:t>
                      </a:r>
                      <a:r>
                        <a:rPr lang="en-US" sz="4000" dirty="0" err="1"/>
                        <a:t>Hưng</a:t>
                      </a:r>
                      <a:endParaRPr lang="vi-VN" sz="4000" dirty="0"/>
                    </a:p>
                  </a:txBody>
                  <a:tcPr/>
                </a:tc>
                <a:tc>
                  <a:txBody>
                    <a:bodyPr/>
                    <a:lstStyle/>
                    <a:p>
                      <a:pPr algn="ctr"/>
                      <a:r>
                        <a:rPr lang="vi-VN" sz="4000" dirty="0">
                          <a:latin typeface="Bahnschrift SemiBold Condensed" panose="020B0502040204020203" pitchFamily="34" charset="0"/>
                        </a:rPr>
                        <a:t>22</a:t>
                      </a:r>
                      <a:r>
                        <a:rPr lang="en-US" sz="4000" dirty="0">
                          <a:latin typeface="Bahnschrift SemiBold Condensed" panose="020B0502040204020203" pitchFamily="34" charset="0"/>
                        </a:rPr>
                        <a:t>11358</a:t>
                      </a:r>
                      <a:endParaRPr lang="vi-VN" sz="4000" dirty="0">
                        <a:latin typeface="Bahnschrift SemiBold Condensed" panose="020B0502040204020203" pitchFamily="34" charset="0"/>
                      </a:endParaRPr>
                    </a:p>
                  </a:txBody>
                  <a:tcPr/>
                </a:tc>
                <a:extLst>
                  <a:ext uri="{0D108BD9-81ED-4DB2-BD59-A6C34878D82A}">
                    <a16:rowId xmlns:a16="http://schemas.microsoft.com/office/drawing/2014/main" val="3388478516"/>
                  </a:ext>
                </a:extLst>
              </a:tr>
            </a:tbl>
          </a:graphicData>
        </a:graphic>
      </p:graphicFrame>
      <p:sp>
        <p:nvSpPr>
          <p:cNvPr id="5" name="Hộp Văn bản 9">
            <a:extLst>
              <a:ext uri="{FF2B5EF4-FFF2-40B4-BE49-F238E27FC236}">
                <a16:creationId xmlns:a16="http://schemas.microsoft.com/office/drawing/2014/main" id="{4E49623B-6234-4A3E-9FCB-37A665EE82FC}"/>
              </a:ext>
            </a:extLst>
          </p:cNvPr>
          <p:cNvSpPr txBox="1"/>
          <p:nvPr/>
        </p:nvSpPr>
        <p:spPr>
          <a:xfrm>
            <a:off x="2696314" y="1834238"/>
            <a:ext cx="6115050" cy="721736"/>
          </a:xfrm>
          <a:prstGeom prst="rect">
            <a:avLst/>
          </a:prstGeom>
          <a:noFill/>
        </p:spPr>
        <p:txBody>
          <a:bodyPr wrap="square">
            <a:spAutoFit/>
          </a:bodyPr>
          <a:lstStyle/>
          <a:p>
            <a:pPr indent="356870" algn="ctr">
              <a:lnSpc>
                <a:spcPct val="107000"/>
              </a:lnSpc>
              <a:spcBef>
                <a:spcPts val="600"/>
              </a:spcBef>
              <a:spcAft>
                <a:spcPts val="800"/>
              </a:spcAft>
            </a:pPr>
            <a:r>
              <a:rPr lang="en-US" sz="4000" b="1">
                <a:solidFill>
                  <a:srgbClr val="002060"/>
                </a:solidFill>
                <a:effectLst/>
                <a:latin typeface="Calibri" panose="020F0502020204030204" pitchFamily="34" charset="0"/>
                <a:ea typeface="Calibri" panose="020F0502020204030204" pitchFamily="34" charset="0"/>
                <a:cs typeface="Calibri" panose="020F0502020204030204" pitchFamily="34" charset="0"/>
              </a:rPr>
              <a:t>Sinh viên thực hiện:</a:t>
            </a:r>
            <a:endParaRPr lang="vi-VN" sz="4000">
              <a:solidFill>
                <a:srgbClr val="002060"/>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9" name="Date Placeholder 8">
            <a:extLst>
              <a:ext uri="{FF2B5EF4-FFF2-40B4-BE49-F238E27FC236}">
                <a16:creationId xmlns:a16="http://schemas.microsoft.com/office/drawing/2014/main" id="{AA3EFF8F-2C62-47DD-B23B-8C74FC85D5C0}"/>
              </a:ext>
            </a:extLst>
          </p:cNvPr>
          <p:cNvSpPr>
            <a:spLocks noGrp="1"/>
          </p:cNvSpPr>
          <p:nvPr>
            <p:ph type="dt" sz="half" idx="10"/>
          </p:nvPr>
        </p:nvSpPr>
        <p:spPr/>
        <p:txBody>
          <a:bodyPr/>
          <a:lstStyle/>
          <a:p>
            <a:fld id="{8E406657-DAA9-4B42-8345-42B38DE05035}" type="datetime1">
              <a:rPr lang="en-US" sz="2400" smtClean="0"/>
              <a:t>6/3/2025</a:t>
            </a:fld>
            <a:endParaRPr lang="en-US" sz="2400"/>
          </a:p>
        </p:txBody>
      </p:sp>
      <p:sp>
        <p:nvSpPr>
          <p:cNvPr id="10" name="Footer Placeholder 9">
            <a:extLst>
              <a:ext uri="{FF2B5EF4-FFF2-40B4-BE49-F238E27FC236}">
                <a16:creationId xmlns:a16="http://schemas.microsoft.com/office/drawing/2014/main" id="{436D0AAB-07AE-413C-8D40-8F90AE6C8C96}"/>
              </a:ext>
            </a:extLst>
          </p:cNvPr>
          <p:cNvSpPr>
            <a:spLocks noGrp="1"/>
          </p:cNvSpPr>
          <p:nvPr>
            <p:ph type="ftr" sz="quarter" idx="11"/>
          </p:nvPr>
        </p:nvSpPr>
        <p:spPr/>
        <p:txBody>
          <a:bodyPr/>
          <a:lstStyle/>
          <a:p>
            <a:r>
              <a:rPr lang="en-US" sz="2400"/>
              <a:t>Dept of Electronic Engineering</a:t>
            </a:r>
          </a:p>
        </p:txBody>
      </p:sp>
      <p:sp>
        <p:nvSpPr>
          <p:cNvPr id="11" name="Slide Number Placeholder 10">
            <a:extLst>
              <a:ext uri="{FF2B5EF4-FFF2-40B4-BE49-F238E27FC236}">
                <a16:creationId xmlns:a16="http://schemas.microsoft.com/office/drawing/2014/main" id="{3821125E-3973-4D0E-96D2-66B374BDEEE3}"/>
              </a:ext>
            </a:extLst>
          </p:cNvPr>
          <p:cNvSpPr>
            <a:spLocks noGrp="1"/>
          </p:cNvSpPr>
          <p:nvPr>
            <p:ph type="sldNum" sz="quarter" idx="12"/>
          </p:nvPr>
        </p:nvSpPr>
        <p:spPr/>
        <p:txBody>
          <a:bodyPr/>
          <a:lstStyle/>
          <a:p>
            <a:fld id="{952A837F-FDD8-4A5A-8D82-65CDA50A5412}" type="slidenum">
              <a:rPr lang="en-US" sz="2400" smtClean="0"/>
              <a:t>2</a:t>
            </a:fld>
            <a:endParaRPr lang="en-US" sz="2400"/>
          </a:p>
        </p:txBody>
      </p:sp>
    </p:spTree>
    <p:extLst>
      <p:ext uri="{BB962C8B-B14F-4D97-AF65-F5344CB8AC3E}">
        <p14:creationId xmlns:p14="http://schemas.microsoft.com/office/powerpoint/2010/main" val="422984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6A557-40B1-4095-8BBF-2793411A641F}"/>
              </a:ext>
            </a:extLst>
          </p:cNvPr>
          <p:cNvSpPr>
            <a:spLocks noGrp="1"/>
          </p:cNvSpPr>
          <p:nvPr>
            <p:ph type="title"/>
          </p:nvPr>
        </p:nvSpPr>
        <p:spPr>
          <a:xfrm>
            <a:off x="838200" y="885223"/>
            <a:ext cx="2446538" cy="638052"/>
          </a:xfrm>
        </p:spPr>
        <p:txBody>
          <a:bodyPr>
            <a:normAutofit fontScale="90000"/>
          </a:bodyPr>
          <a:lstStyle/>
          <a:p>
            <a:r>
              <a:rPr lang="en-US" dirty="0">
                <a:latin typeface="Bahnschrift SemiBold Condensed" panose="020B0502040204020203" pitchFamily="34" charset="0"/>
              </a:rPr>
              <a:t>Contents</a:t>
            </a:r>
          </a:p>
        </p:txBody>
      </p:sp>
      <p:sp>
        <p:nvSpPr>
          <p:cNvPr id="3" name="Content Placeholder 2">
            <a:extLst>
              <a:ext uri="{FF2B5EF4-FFF2-40B4-BE49-F238E27FC236}">
                <a16:creationId xmlns:a16="http://schemas.microsoft.com/office/drawing/2014/main" id="{2DD166D8-FEEA-4F36-A5CA-ADF929429C48}"/>
              </a:ext>
            </a:extLst>
          </p:cNvPr>
          <p:cNvSpPr>
            <a:spLocks noGrp="1"/>
          </p:cNvSpPr>
          <p:nvPr>
            <p:ph idx="1"/>
          </p:nvPr>
        </p:nvSpPr>
        <p:spPr/>
        <p:txBody>
          <a:bodyPr/>
          <a:lstStyle/>
          <a:p>
            <a:r>
              <a:rPr lang="en-US" b="1" dirty="0">
                <a:latin typeface="Bahnschrift SemiBold Condensed" panose="020B0502040204020203" pitchFamily="34" charset="0"/>
              </a:rPr>
              <a:t>Overview</a:t>
            </a:r>
          </a:p>
          <a:p>
            <a:r>
              <a:rPr lang="en-US" b="1" dirty="0">
                <a:latin typeface="Bahnschrift SemiBold Condensed" panose="020B0502040204020203" pitchFamily="34" charset="0"/>
              </a:rPr>
              <a:t>Project Tasks</a:t>
            </a:r>
          </a:p>
          <a:p>
            <a:r>
              <a:rPr lang="en-US" b="1" dirty="0">
                <a:latin typeface="Bahnschrift SemiBold Condensed" panose="020B0502040204020203" pitchFamily="34" charset="0"/>
              </a:rPr>
              <a:t>Analysis of Design Requirements</a:t>
            </a:r>
          </a:p>
          <a:p>
            <a:r>
              <a:rPr lang="en-US" b="1" dirty="0">
                <a:latin typeface="Bahnschrift SemiBold Condensed" panose="020B0502040204020203" pitchFamily="34" charset="0"/>
              </a:rPr>
              <a:t>Circuit Design</a:t>
            </a:r>
          </a:p>
          <a:p>
            <a:r>
              <a:rPr lang="en-US" b="1" dirty="0">
                <a:latin typeface="Bahnschrift SemiBold Condensed" panose="020B0502040204020203" pitchFamily="34" charset="0"/>
              </a:rPr>
              <a:t>Implementation Results</a:t>
            </a:r>
          </a:p>
          <a:p>
            <a:r>
              <a:rPr lang="en-US" b="1" dirty="0">
                <a:latin typeface="Bahnschrift SemiBold Condensed" panose="020B0502040204020203" pitchFamily="34" charset="0"/>
              </a:rPr>
              <a:t>Conclusions and Future Work</a:t>
            </a:r>
          </a:p>
          <a:p>
            <a:r>
              <a:rPr lang="en-US" dirty="0">
                <a:latin typeface="Bahnschrift SemiBold Condensed" panose="020B0502040204020203" pitchFamily="34" charset="0"/>
              </a:rPr>
              <a:t>References</a:t>
            </a:r>
            <a:endParaRPr lang="en-US" b="1" dirty="0">
              <a:latin typeface="Bahnschrift SemiBold Condensed" panose="020B0502040204020203" pitchFamily="34" charset="0"/>
            </a:endParaRPr>
          </a:p>
        </p:txBody>
      </p:sp>
      <p:sp>
        <p:nvSpPr>
          <p:cNvPr id="7" name="Date Placeholder 6">
            <a:extLst>
              <a:ext uri="{FF2B5EF4-FFF2-40B4-BE49-F238E27FC236}">
                <a16:creationId xmlns:a16="http://schemas.microsoft.com/office/drawing/2014/main" id="{84B2F0D3-10BC-4E8A-A4EB-CC825D405B57}"/>
              </a:ext>
            </a:extLst>
          </p:cNvPr>
          <p:cNvSpPr>
            <a:spLocks noGrp="1"/>
          </p:cNvSpPr>
          <p:nvPr>
            <p:ph type="dt" sz="half" idx="10"/>
          </p:nvPr>
        </p:nvSpPr>
        <p:spPr/>
        <p:txBody>
          <a:bodyPr/>
          <a:lstStyle/>
          <a:p>
            <a:fld id="{FC5C5DC6-E2B4-4453-88C2-C2164CD33170}" type="datetime1">
              <a:rPr lang="en-US" smtClean="0"/>
              <a:t>6/3/2025</a:t>
            </a:fld>
            <a:endParaRPr lang="en-US"/>
          </a:p>
        </p:txBody>
      </p:sp>
      <p:sp>
        <p:nvSpPr>
          <p:cNvPr id="8" name="Footer Placeholder 7">
            <a:extLst>
              <a:ext uri="{FF2B5EF4-FFF2-40B4-BE49-F238E27FC236}">
                <a16:creationId xmlns:a16="http://schemas.microsoft.com/office/drawing/2014/main" id="{3C08FEEF-92A5-4199-84AB-030D2EFFE610}"/>
              </a:ext>
            </a:extLst>
          </p:cNvPr>
          <p:cNvSpPr>
            <a:spLocks noGrp="1"/>
          </p:cNvSpPr>
          <p:nvPr>
            <p:ph type="ftr" sz="quarter" idx="11"/>
          </p:nvPr>
        </p:nvSpPr>
        <p:spPr/>
        <p:txBody>
          <a:bodyPr/>
          <a:lstStyle/>
          <a:p>
            <a:r>
              <a:rPr lang="en-US"/>
              <a:t>Dept of Electronic Engineering</a:t>
            </a:r>
          </a:p>
        </p:txBody>
      </p:sp>
      <p:sp>
        <p:nvSpPr>
          <p:cNvPr id="9" name="Slide Number Placeholder 8">
            <a:extLst>
              <a:ext uri="{FF2B5EF4-FFF2-40B4-BE49-F238E27FC236}">
                <a16:creationId xmlns:a16="http://schemas.microsoft.com/office/drawing/2014/main" id="{7225431B-2D07-43FE-8D13-CEE34C2AB654}"/>
              </a:ext>
            </a:extLst>
          </p:cNvPr>
          <p:cNvSpPr>
            <a:spLocks noGrp="1"/>
          </p:cNvSpPr>
          <p:nvPr>
            <p:ph type="sldNum" sz="quarter" idx="12"/>
          </p:nvPr>
        </p:nvSpPr>
        <p:spPr/>
        <p:txBody>
          <a:bodyPr/>
          <a:lstStyle/>
          <a:p>
            <a:fld id="{952A837F-FDD8-4A5A-8D82-65CDA50A5412}" type="slidenum">
              <a:rPr lang="en-US" smtClean="0"/>
              <a:t>3</a:t>
            </a:fld>
            <a:endParaRPr lang="en-US"/>
          </a:p>
        </p:txBody>
      </p:sp>
    </p:spTree>
    <p:extLst>
      <p:ext uri="{BB962C8B-B14F-4D97-AF65-F5344CB8AC3E}">
        <p14:creationId xmlns:p14="http://schemas.microsoft.com/office/powerpoint/2010/main" val="835602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14543-3661-487A-AB7E-27D427EB352E}"/>
              </a:ext>
            </a:extLst>
          </p:cNvPr>
          <p:cNvSpPr>
            <a:spLocks noGrp="1"/>
          </p:cNvSpPr>
          <p:nvPr>
            <p:ph type="title"/>
          </p:nvPr>
        </p:nvSpPr>
        <p:spPr>
          <a:xfrm>
            <a:off x="941866" y="579434"/>
            <a:ext cx="10558509" cy="1348003"/>
          </a:xfrm>
        </p:spPr>
        <p:txBody>
          <a:bodyPr/>
          <a:lstStyle/>
          <a:p>
            <a:r>
              <a:rPr lang="en-US" dirty="0">
                <a:latin typeface="Bahnschrift SemiBold Condensed" panose="020B0502040204020203" pitchFamily="34" charset="0"/>
              </a:rPr>
              <a:t>Why we need a TX driver in high-speed transmitters?</a:t>
            </a:r>
          </a:p>
        </p:txBody>
      </p:sp>
      <p:sp>
        <p:nvSpPr>
          <p:cNvPr id="3" name="Content Placeholder 2">
            <a:extLst>
              <a:ext uri="{FF2B5EF4-FFF2-40B4-BE49-F238E27FC236}">
                <a16:creationId xmlns:a16="http://schemas.microsoft.com/office/drawing/2014/main" id="{93C5D3EE-0EDC-4476-B0E4-1D72FB5BA685}"/>
              </a:ext>
            </a:extLst>
          </p:cNvPr>
          <p:cNvSpPr>
            <a:spLocks noGrp="1"/>
          </p:cNvSpPr>
          <p:nvPr>
            <p:ph idx="1"/>
          </p:nvPr>
        </p:nvSpPr>
        <p:spPr>
          <a:xfrm>
            <a:off x="942606" y="2111483"/>
            <a:ext cx="4305670" cy="3074147"/>
          </a:xfrm>
        </p:spPr>
        <p:txBody>
          <a:bodyPr>
            <a:normAutofit/>
          </a:bodyPr>
          <a:lstStyle/>
          <a:p>
            <a:pPr algn="just"/>
            <a:r>
              <a:rPr lang="en-US" sz="2000" dirty="0">
                <a:latin typeface="Bahnschrift SemiBold Condensed" panose="020B0502040204020203" pitchFamily="34" charset="0"/>
              </a:rPr>
              <a:t>Provides impedance matching and fast edges to maintain signal integrity</a:t>
            </a:r>
          </a:p>
          <a:p>
            <a:pPr algn="just"/>
            <a:r>
              <a:rPr lang="en-US" sz="2000" dirty="0">
                <a:latin typeface="Bahnschrift SemiBold Condensed" panose="020B0502040204020203" pitchFamily="34" charset="0"/>
              </a:rPr>
              <a:t>Ensures the correct voltage swing and drive strength to overcome channel losses</a:t>
            </a:r>
          </a:p>
          <a:p>
            <a:pPr algn="just"/>
            <a:r>
              <a:rPr lang="en-US" sz="2000" dirty="0">
                <a:latin typeface="Bahnschrift SemiBold Condensed" panose="020B0502040204020203" pitchFamily="34" charset="0"/>
              </a:rPr>
              <a:t>Compensates for PVT variations so that output impedance remains at 50 Ω</a:t>
            </a:r>
          </a:p>
          <a:p>
            <a:pPr algn="just"/>
            <a:r>
              <a:rPr lang="en-US" sz="2000" dirty="0">
                <a:latin typeface="Bahnschrift SemiBold Condensed" panose="020B0502040204020203" pitchFamily="34" charset="0"/>
              </a:rPr>
              <a:t>Supports multiple communication standards with adjustable features</a:t>
            </a:r>
          </a:p>
        </p:txBody>
      </p:sp>
      <p:pic>
        <p:nvPicPr>
          <p:cNvPr id="4" name="Picture 4" descr="RF回路設計における反射と定在波の理解-プロジェクト-FMUSER FM / TV Broadcast One-Stop Supplier">
            <a:extLst>
              <a:ext uri="{FF2B5EF4-FFF2-40B4-BE49-F238E27FC236}">
                <a16:creationId xmlns:a16="http://schemas.microsoft.com/office/drawing/2014/main" id="{635357E2-8384-41AF-88F3-ADD3DBFA6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3725" y="2512797"/>
            <a:ext cx="3333750" cy="1676400"/>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a:extLst>
              <a:ext uri="{FF2B5EF4-FFF2-40B4-BE49-F238E27FC236}">
                <a16:creationId xmlns:a16="http://schemas.microsoft.com/office/drawing/2014/main" id="{A995E291-F1D6-407C-97B9-7EB70D1D77E6}"/>
              </a:ext>
            </a:extLst>
          </p:cNvPr>
          <p:cNvSpPr>
            <a:spLocks noGrp="1"/>
          </p:cNvSpPr>
          <p:nvPr>
            <p:ph type="dt" sz="half" idx="10"/>
          </p:nvPr>
        </p:nvSpPr>
        <p:spPr/>
        <p:txBody>
          <a:bodyPr/>
          <a:lstStyle/>
          <a:p>
            <a:fld id="{82ACB533-FFA3-446D-BD8C-59EAC01795E2}" type="datetime1">
              <a:rPr lang="en-US" sz="2800" smtClean="0"/>
              <a:t>6/3/2025</a:t>
            </a:fld>
            <a:endParaRPr lang="en-US" sz="2400" dirty="0"/>
          </a:p>
        </p:txBody>
      </p:sp>
      <p:sp>
        <p:nvSpPr>
          <p:cNvPr id="9" name="Footer Placeholder 8">
            <a:extLst>
              <a:ext uri="{FF2B5EF4-FFF2-40B4-BE49-F238E27FC236}">
                <a16:creationId xmlns:a16="http://schemas.microsoft.com/office/drawing/2014/main" id="{50193C55-8BF2-45A8-A027-0B71C19360AB}"/>
              </a:ext>
            </a:extLst>
          </p:cNvPr>
          <p:cNvSpPr>
            <a:spLocks noGrp="1"/>
          </p:cNvSpPr>
          <p:nvPr>
            <p:ph type="ftr" sz="quarter" idx="11"/>
          </p:nvPr>
        </p:nvSpPr>
        <p:spPr/>
        <p:txBody>
          <a:bodyPr/>
          <a:lstStyle/>
          <a:p>
            <a:r>
              <a:rPr lang="en-US" sz="2400"/>
              <a:t>Dept of Electronic Engineering</a:t>
            </a:r>
          </a:p>
        </p:txBody>
      </p:sp>
      <p:sp>
        <p:nvSpPr>
          <p:cNvPr id="10" name="Slide Number Placeholder 9">
            <a:extLst>
              <a:ext uri="{FF2B5EF4-FFF2-40B4-BE49-F238E27FC236}">
                <a16:creationId xmlns:a16="http://schemas.microsoft.com/office/drawing/2014/main" id="{845D855F-F0AA-4C7D-A3A0-3F19734900BA}"/>
              </a:ext>
            </a:extLst>
          </p:cNvPr>
          <p:cNvSpPr>
            <a:spLocks noGrp="1"/>
          </p:cNvSpPr>
          <p:nvPr>
            <p:ph type="sldNum" sz="quarter" idx="12"/>
          </p:nvPr>
        </p:nvSpPr>
        <p:spPr/>
        <p:txBody>
          <a:bodyPr/>
          <a:lstStyle/>
          <a:p>
            <a:fld id="{952A837F-FDD8-4A5A-8D82-65CDA50A5412}" type="slidenum">
              <a:rPr lang="en-US" sz="2400" smtClean="0"/>
              <a:t>4</a:t>
            </a:fld>
            <a:endParaRPr lang="en-US" sz="2400"/>
          </a:p>
        </p:txBody>
      </p:sp>
    </p:spTree>
    <p:extLst>
      <p:ext uri="{BB962C8B-B14F-4D97-AF65-F5344CB8AC3E}">
        <p14:creationId xmlns:p14="http://schemas.microsoft.com/office/powerpoint/2010/main" val="316035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BD9D6-762A-4D79-BEDD-EC5310C2C839}"/>
              </a:ext>
            </a:extLst>
          </p:cNvPr>
          <p:cNvSpPr>
            <a:spLocks noGrp="1"/>
          </p:cNvSpPr>
          <p:nvPr>
            <p:ph type="title"/>
          </p:nvPr>
        </p:nvSpPr>
        <p:spPr>
          <a:xfrm>
            <a:off x="838200" y="1029202"/>
            <a:ext cx="5257800" cy="1092812"/>
          </a:xfrm>
        </p:spPr>
        <p:txBody>
          <a:bodyPr>
            <a:normAutofit/>
          </a:bodyPr>
          <a:lstStyle/>
          <a:p>
            <a:r>
              <a:rPr lang="en-US" sz="3600" dirty="0">
                <a:latin typeface="Bahnschrift SemiBold Condensed" panose="020B0502040204020203" pitchFamily="34" charset="0"/>
              </a:rPr>
              <a:t>Signal reflections due to impedance mismatch</a:t>
            </a:r>
            <a:endParaRPr lang="en-US" sz="3600" b="1" dirty="0">
              <a:latin typeface="Bahnschrift SemiBold Condensed" panose="020B0502040204020203" pitchFamily="34" charset="0"/>
            </a:endParaRPr>
          </a:p>
        </p:txBody>
      </p:sp>
      <p:pic>
        <p:nvPicPr>
          <p:cNvPr id="1026" name="Picture 2" descr="Reducing ringing or reflections by controlling impedance lines">
            <a:extLst>
              <a:ext uri="{FF2B5EF4-FFF2-40B4-BE49-F238E27FC236}">
                <a16:creationId xmlns:a16="http://schemas.microsoft.com/office/drawing/2014/main" id="{14CC8998-40FA-438D-9925-45D491290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88231" y="3582078"/>
            <a:ext cx="4454044" cy="229719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F回路設計における反射と定在波の理解-プロジェクト-FMUSER FM / TV Broadcast One-Stop Supplier">
            <a:extLst>
              <a:ext uri="{FF2B5EF4-FFF2-40B4-BE49-F238E27FC236}">
                <a16:creationId xmlns:a16="http://schemas.microsoft.com/office/drawing/2014/main" id="{EF292FBB-6E85-45C6-A6C8-808A6B83CB62}"/>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848378" y="1428603"/>
            <a:ext cx="3333750" cy="16764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0E9CF2EF-F328-4F30-8821-635F6487EAC3}"/>
              </a:ext>
            </a:extLst>
          </p:cNvPr>
          <p:cNvSpPr txBox="1">
            <a:spLocks/>
          </p:cNvSpPr>
          <p:nvPr/>
        </p:nvSpPr>
        <p:spPr>
          <a:xfrm>
            <a:off x="707745" y="2090280"/>
            <a:ext cx="6148526" cy="323444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dirty="0">
                <a:latin typeface="Bahnschrift SemiBold Condensed" panose="020B0502040204020203" pitchFamily="34" charset="0"/>
              </a:rPr>
              <a:t>Reflections bouncing back and forth on mismatched transmission lines can produce a step-like response in the voltage observed at both the receiver and the source. This step response may manifest as a gradual increase in signal level (see the example below), or as a series of rising-and-falling steps—both of which interfere with subsequent signals</a:t>
            </a:r>
          </a:p>
        </p:txBody>
      </p:sp>
      <p:sp>
        <p:nvSpPr>
          <p:cNvPr id="8" name="Title 1">
            <a:extLst>
              <a:ext uri="{FF2B5EF4-FFF2-40B4-BE49-F238E27FC236}">
                <a16:creationId xmlns:a16="http://schemas.microsoft.com/office/drawing/2014/main" id="{852F49B4-3C41-4C65-A1DB-35FD2989214D}"/>
              </a:ext>
            </a:extLst>
          </p:cNvPr>
          <p:cNvSpPr txBox="1">
            <a:spLocks/>
          </p:cNvSpPr>
          <p:nvPr/>
        </p:nvSpPr>
        <p:spPr>
          <a:xfrm>
            <a:off x="794715" y="5233462"/>
            <a:ext cx="6061556" cy="115887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5" name="Arrow: Right 4">
            <a:extLst>
              <a:ext uri="{FF2B5EF4-FFF2-40B4-BE49-F238E27FC236}">
                <a16:creationId xmlns:a16="http://schemas.microsoft.com/office/drawing/2014/main" id="{98773442-8F3F-4C66-AED2-D322739D57E5}"/>
              </a:ext>
            </a:extLst>
          </p:cNvPr>
          <p:cNvSpPr/>
          <p:nvPr/>
        </p:nvSpPr>
        <p:spPr>
          <a:xfrm>
            <a:off x="355655" y="5233462"/>
            <a:ext cx="505124" cy="4097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224D7DE3-96AC-4B01-94BB-12D77C85271F}"/>
              </a:ext>
            </a:extLst>
          </p:cNvPr>
          <p:cNvSpPr txBox="1">
            <a:spLocks/>
          </p:cNvSpPr>
          <p:nvPr/>
        </p:nvSpPr>
        <p:spPr>
          <a:xfrm>
            <a:off x="889030" y="4928916"/>
            <a:ext cx="6061556" cy="1158875"/>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dirty="0">
                <a:latin typeface="Bahnschrift SemiBold Condensed" panose="020B0502040204020203" pitchFamily="34" charset="0"/>
              </a:rPr>
              <a:t>It is necessary to ensure good impedance matching on the transmission line</a:t>
            </a:r>
          </a:p>
        </p:txBody>
      </p:sp>
      <p:sp>
        <p:nvSpPr>
          <p:cNvPr id="13" name="Date Placeholder 12">
            <a:extLst>
              <a:ext uri="{FF2B5EF4-FFF2-40B4-BE49-F238E27FC236}">
                <a16:creationId xmlns:a16="http://schemas.microsoft.com/office/drawing/2014/main" id="{5F876B07-0641-4139-8D2D-A1C9176010C9}"/>
              </a:ext>
            </a:extLst>
          </p:cNvPr>
          <p:cNvSpPr>
            <a:spLocks noGrp="1"/>
          </p:cNvSpPr>
          <p:nvPr>
            <p:ph type="dt" sz="half" idx="10"/>
          </p:nvPr>
        </p:nvSpPr>
        <p:spPr>
          <a:xfrm>
            <a:off x="838200" y="6356350"/>
            <a:ext cx="2743200" cy="365125"/>
          </a:xfrm>
        </p:spPr>
        <p:txBody>
          <a:bodyPr/>
          <a:lstStyle/>
          <a:p>
            <a:fld id="{5CB615D8-04B2-4DAC-B491-E9AAD32A6B22}" type="datetime1">
              <a:rPr lang="en-US" sz="2400" smtClean="0"/>
              <a:t>6/3/2025</a:t>
            </a:fld>
            <a:endParaRPr lang="en-US" sz="2400" dirty="0"/>
          </a:p>
        </p:txBody>
      </p:sp>
      <p:sp>
        <p:nvSpPr>
          <p:cNvPr id="14" name="Footer Placeholder 13">
            <a:extLst>
              <a:ext uri="{FF2B5EF4-FFF2-40B4-BE49-F238E27FC236}">
                <a16:creationId xmlns:a16="http://schemas.microsoft.com/office/drawing/2014/main" id="{383722B2-DCBF-4F7A-B06F-E88A7772CA34}"/>
              </a:ext>
            </a:extLst>
          </p:cNvPr>
          <p:cNvSpPr>
            <a:spLocks noGrp="1"/>
          </p:cNvSpPr>
          <p:nvPr>
            <p:ph type="ftr" sz="quarter" idx="11"/>
          </p:nvPr>
        </p:nvSpPr>
        <p:spPr/>
        <p:txBody>
          <a:bodyPr/>
          <a:lstStyle/>
          <a:p>
            <a:r>
              <a:rPr lang="en-US" sz="2400"/>
              <a:t>Dept of Electronic Engineering</a:t>
            </a:r>
          </a:p>
        </p:txBody>
      </p:sp>
      <p:sp>
        <p:nvSpPr>
          <p:cNvPr id="15" name="Slide Number Placeholder 14">
            <a:extLst>
              <a:ext uri="{FF2B5EF4-FFF2-40B4-BE49-F238E27FC236}">
                <a16:creationId xmlns:a16="http://schemas.microsoft.com/office/drawing/2014/main" id="{D187C788-16A1-4617-A4CA-7CA0BDD25A10}"/>
              </a:ext>
            </a:extLst>
          </p:cNvPr>
          <p:cNvSpPr>
            <a:spLocks noGrp="1"/>
          </p:cNvSpPr>
          <p:nvPr>
            <p:ph type="sldNum" sz="quarter" idx="12"/>
          </p:nvPr>
        </p:nvSpPr>
        <p:spPr/>
        <p:txBody>
          <a:bodyPr/>
          <a:lstStyle/>
          <a:p>
            <a:fld id="{952A837F-FDD8-4A5A-8D82-65CDA50A5412}" type="slidenum">
              <a:rPr lang="en-US" sz="2400" smtClean="0"/>
              <a:t>5</a:t>
            </a:fld>
            <a:endParaRPr lang="en-US" sz="2400"/>
          </a:p>
        </p:txBody>
      </p:sp>
      <p:sp>
        <p:nvSpPr>
          <p:cNvPr id="18" name="Title 1">
            <a:extLst>
              <a:ext uri="{FF2B5EF4-FFF2-40B4-BE49-F238E27FC236}">
                <a16:creationId xmlns:a16="http://schemas.microsoft.com/office/drawing/2014/main" id="{B5E52142-F738-4D38-8429-D174C9329C81}"/>
              </a:ext>
            </a:extLst>
          </p:cNvPr>
          <p:cNvSpPr txBox="1">
            <a:spLocks/>
          </p:cNvSpPr>
          <p:nvPr/>
        </p:nvSpPr>
        <p:spPr>
          <a:xfrm>
            <a:off x="1218336" y="0"/>
            <a:ext cx="5257800" cy="1092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latin typeface="Bahnschrift SemiBold Condensed" panose="020B0502040204020203" pitchFamily="34" charset="0"/>
              </a:rPr>
              <a:t>Introduction</a:t>
            </a:r>
          </a:p>
        </p:txBody>
      </p:sp>
    </p:spTree>
    <p:extLst>
      <p:ext uri="{BB962C8B-B14F-4D97-AF65-F5344CB8AC3E}">
        <p14:creationId xmlns:p14="http://schemas.microsoft.com/office/powerpoint/2010/main" val="220705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64F47-8BB3-4A9C-88A3-8F89502E69FF}"/>
              </a:ext>
            </a:extLst>
          </p:cNvPr>
          <p:cNvSpPr>
            <a:spLocks noGrp="1"/>
          </p:cNvSpPr>
          <p:nvPr>
            <p:ph type="title"/>
          </p:nvPr>
        </p:nvSpPr>
        <p:spPr>
          <a:xfrm>
            <a:off x="1211062" y="22780"/>
            <a:ext cx="10515600" cy="1325563"/>
          </a:xfrm>
        </p:spPr>
        <p:txBody>
          <a:bodyPr/>
          <a:lstStyle/>
          <a:p>
            <a:endParaRPr lang="en-US" dirty="0"/>
          </a:p>
        </p:txBody>
      </p:sp>
      <p:pic>
        <p:nvPicPr>
          <p:cNvPr id="5" name="Content Placeholder 4">
            <a:extLst>
              <a:ext uri="{FF2B5EF4-FFF2-40B4-BE49-F238E27FC236}">
                <a16:creationId xmlns:a16="http://schemas.microsoft.com/office/drawing/2014/main" id="{7FA655DE-98E0-4446-9CFF-18937187CE5E}"/>
              </a:ext>
            </a:extLst>
          </p:cNvPr>
          <p:cNvPicPr>
            <a:picLocks noGrp="1" noChangeAspect="1"/>
          </p:cNvPicPr>
          <p:nvPr>
            <p:ph idx="1"/>
          </p:nvPr>
        </p:nvPicPr>
        <p:blipFill>
          <a:blip r:embed="rId3"/>
          <a:stretch>
            <a:fillRect/>
          </a:stretch>
        </p:blipFill>
        <p:spPr>
          <a:xfrm>
            <a:off x="6213392" y="2625713"/>
            <a:ext cx="5513270" cy="2389084"/>
          </a:xfrm>
          <a:prstGeom prst="rect">
            <a:avLst/>
          </a:prstGeom>
        </p:spPr>
      </p:pic>
      <p:pic>
        <p:nvPicPr>
          <p:cNvPr id="4" name="Picture 3">
            <a:extLst>
              <a:ext uri="{FF2B5EF4-FFF2-40B4-BE49-F238E27FC236}">
                <a16:creationId xmlns:a16="http://schemas.microsoft.com/office/drawing/2014/main" id="{95A0B208-C5FF-4488-A67B-A6343AC011A4}"/>
              </a:ext>
            </a:extLst>
          </p:cNvPr>
          <p:cNvPicPr>
            <a:picLocks noChangeAspect="1"/>
          </p:cNvPicPr>
          <p:nvPr/>
        </p:nvPicPr>
        <p:blipFill>
          <a:blip r:embed="rId4"/>
          <a:stretch>
            <a:fillRect/>
          </a:stretch>
        </p:blipFill>
        <p:spPr>
          <a:xfrm>
            <a:off x="662753" y="4476974"/>
            <a:ext cx="4231913" cy="1486964"/>
          </a:xfrm>
          <a:prstGeom prst="rect">
            <a:avLst/>
          </a:prstGeom>
        </p:spPr>
      </p:pic>
      <p:pic>
        <p:nvPicPr>
          <p:cNvPr id="2050" name="Picture 2" descr="PVT（Process Voltage Temperature）_芯片pvt-CSDN博客">
            <a:extLst>
              <a:ext uri="{FF2B5EF4-FFF2-40B4-BE49-F238E27FC236}">
                <a16:creationId xmlns:a16="http://schemas.microsoft.com/office/drawing/2014/main" id="{85232404-9635-44BA-AA6F-6B4F189D23D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338" y="1821872"/>
            <a:ext cx="3511858"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Plus Sign 6">
            <a:extLst>
              <a:ext uri="{FF2B5EF4-FFF2-40B4-BE49-F238E27FC236}">
                <a16:creationId xmlns:a16="http://schemas.microsoft.com/office/drawing/2014/main" id="{485A63A6-E6D3-4EED-B299-A3AF5B6E3EC4}"/>
              </a:ext>
            </a:extLst>
          </p:cNvPr>
          <p:cNvSpPr/>
          <p:nvPr/>
        </p:nvSpPr>
        <p:spPr>
          <a:xfrm>
            <a:off x="2024481" y="3429000"/>
            <a:ext cx="1180730" cy="914400"/>
          </a:xfrm>
          <a:prstGeom prst="mathPlus">
            <a:avLst/>
          </a:prstGeom>
          <a:solidFill>
            <a:schemeClr val="bg2">
              <a:lumMod val="1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15E4E11-F292-4B07-A064-2CD04AFBDB8E}"/>
              </a:ext>
            </a:extLst>
          </p:cNvPr>
          <p:cNvSpPr/>
          <p:nvPr/>
        </p:nvSpPr>
        <p:spPr>
          <a:xfrm>
            <a:off x="4797879" y="3603024"/>
            <a:ext cx="1180730" cy="56635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ate Placeholder 11">
            <a:extLst>
              <a:ext uri="{FF2B5EF4-FFF2-40B4-BE49-F238E27FC236}">
                <a16:creationId xmlns:a16="http://schemas.microsoft.com/office/drawing/2014/main" id="{25A5B0D1-F705-4EFA-9DCD-5EEE3A0221E6}"/>
              </a:ext>
            </a:extLst>
          </p:cNvPr>
          <p:cNvSpPr>
            <a:spLocks noGrp="1"/>
          </p:cNvSpPr>
          <p:nvPr>
            <p:ph type="dt" sz="half" idx="10"/>
          </p:nvPr>
        </p:nvSpPr>
        <p:spPr/>
        <p:txBody>
          <a:bodyPr/>
          <a:lstStyle/>
          <a:p>
            <a:fld id="{247C5F8E-1A56-4087-AC3A-56D997F8AD83}" type="datetime1">
              <a:rPr lang="en-US" sz="2400" smtClean="0"/>
              <a:t>6/3/2025</a:t>
            </a:fld>
            <a:endParaRPr lang="en-US" sz="2400"/>
          </a:p>
        </p:txBody>
      </p:sp>
      <p:sp>
        <p:nvSpPr>
          <p:cNvPr id="13" name="Footer Placeholder 12">
            <a:extLst>
              <a:ext uri="{FF2B5EF4-FFF2-40B4-BE49-F238E27FC236}">
                <a16:creationId xmlns:a16="http://schemas.microsoft.com/office/drawing/2014/main" id="{A79AD002-09DC-4D35-B00F-99BE6333E7E3}"/>
              </a:ext>
            </a:extLst>
          </p:cNvPr>
          <p:cNvSpPr>
            <a:spLocks noGrp="1"/>
          </p:cNvSpPr>
          <p:nvPr>
            <p:ph type="ftr" sz="quarter" idx="11"/>
          </p:nvPr>
        </p:nvSpPr>
        <p:spPr/>
        <p:txBody>
          <a:bodyPr/>
          <a:lstStyle/>
          <a:p>
            <a:r>
              <a:rPr lang="en-US" sz="2400"/>
              <a:t>Dept of Electronic Engineering</a:t>
            </a:r>
          </a:p>
        </p:txBody>
      </p:sp>
      <p:sp>
        <p:nvSpPr>
          <p:cNvPr id="14" name="Slide Number Placeholder 13">
            <a:extLst>
              <a:ext uri="{FF2B5EF4-FFF2-40B4-BE49-F238E27FC236}">
                <a16:creationId xmlns:a16="http://schemas.microsoft.com/office/drawing/2014/main" id="{E378C629-C406-4581-83E3-45BCACD6F542}"/>
              </a:ext>
            </a:extLst>
          </p:cNvPr>
          <p:cNvSpPr>
            <a:spLocks noGrp="1"/>
          </p:cNvSpPr>
          <p:nvPr>
            <p:ph type="sldNum" sz="quarter" idx="12"/>
          </p:nvPr>
        </p:nvSpPr>
        <p:spPr/>
        <p:txBody>
          <a:bodyPr/>
          <a:lstStyle/>
          <a:p>
            <a:fld id="{952A837F-FDD8-4A5A-8D82-65CDA50A5412}" type="slidenum">
              <a:rPr lang="en-US" sz="2400" smtClean="0"/>
              <a:t>6</a:t>
            </a:fld>
            <a:endParaRPr lang="en-US" sz="2400"/>
          </a:p>
        </p:txBody>
      </p:sp>
    </p:spTree>
    <p:extLst>
      <p:ext uri="{BB962C8B-B14F-4D97-AF65-F5344CB8AC3E}">
        <p14:creationId xmlns:p14="http://schemas.microsoft.com/office/powerpoint/2010/main" val="1016922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Hộp Văn bản 12">
                <a:extLst>
                  <a:ext uri="{FF2B5EF4-FFF2-40B4-BE49-F238E27FC236}">
                    <a16:creationId xmlns:a16="http://schemas.microsoft.com/office/drawing/2014/main" id="{F882425B-4E50-4448-84FE-6B60CC5AB0B9}"/>
                  </a:ext>
                </a:extLst>
              </p:cNvPr>
              <p:cNvSpPr txBox="1"/>
              <p:nvPr/>
            </p:nvSpPr>
            <p:spPr>
              <a:xfrm>
                <a:off x="715385" y="2391530"/>
                <a:ext cx="3423082" cy="2308324"/>
              </a:xfrm>
              <a:prstGeom prst="rect">
                <a:avLst/>
              </a:prstGeom>
              <a:noFill/>
            </p:spPr>
            <p:txBody>
              <a:bodyPr wrap="square">
                <a:spAutoFit/>
              </a:bodyPr>
              <a:lstStyle/>
              <a:p>
                <a:r>
                  <a:rPr lang="vi-VN" i="0" dirty="0">
                    <a:effectLst/>
                    <a:latin typeface="Google Sans Text"/>
                  </a:rPr>
                  <a:t> </a:t>
                </a:r>
                <a:r>
                  <a:rPr lang="en-US" b="1" i="0" dirty="0">
                    <a:effectLst/>
                    <a:latin typeface="Google Sans Text"/>
                  </a:rPr>
                  <a:t>Specification</a:t>
                </a:r>
              </a:p>
              <a:p>
                <a:pPr marL="342900" indent="-342900">
                  <a:buFont typeface="Wingdings" panose="05000000000000000000" pitchFamily="2" charset="2"/>
                  <a:buChar char="§"/>
                </a:pPr>
                <a:r>
                  <a:rPr lang="en-US" dirty="0">
                    <a:latin typeface="Google Sans Text"/>
                    <a:ea typeface="Calibri" panose="020F0502020204030204" pitchFamily="34" charset="0"/>
                    <a:cs typeface="Calibri" panose="020F0502020204030204" pitchFamily="34" charset="0"/>
                  </a:rPr>
                  <a:t>Supply voltage:  0.9V</a:t>
                </a:r>
              </a:p>
              <a:p>
                <a:pPr marL="342900" indent="-342900">
                  <a:buFont typeface="Wingdings" panose="05000000000000000000" pitchFamily="2" charset="2"/>
                  <a:buChar char="§"/>
                </a:pPr>
                <a:r>
                  <a:rPr lang="en-US" dirty="0">
                    <a:latin typeface="Google Sans Text"/>
                    <a:ea typeface="Calibri" panose="020F0502020204030204" pitchFamily="34" charset="0"/>
                    <a:cs typeface="Calibri" panose="020F0502020204030204" pitchFamily="34" charset="0"/>
                  </a:rPr>
                  <a:t>impedance control: 3 bits</a:t>
                </a:r>
              </a:p>
              <a:p>
                <a:pPr marL="342900" indent="-342900" algn="just">
                  <a:buFont typeface="Wingdings" panose="05000000000000000000" pitchFamily="2" charset="2"/>
                  <a:buChar char="§"/>
                </a:pPr>
                <a:r>
                  <a:rPr lang="en-US" dirty="0">
                    <a:latin typeface="Google Sans Text"/>
                    <a:ea typeface="Calibri" panose="020F0502020204030204" pitchFamily="34" charset="0"/>
                    <a:cs typeface="Calibri" panose="020F0502020204030204" pitchFamily="34" charset="0"/>
                  </a:rPr>
                  <a:t>Output impedance: 50</a:t>
                </a:r>
                <a:r>
                  <a:rPr lang="el-GR" dirty="0">
                    <a:latin typeface="Times New Roman" panose="02020603050405020304" pitchFamily="18" charset="0"/>
                    <a:ea typeface="Calibri" panose="020F0502020204030204" pitchFamily="34" charset="0"/>
                    <a:cs typeface="Times New Roman" panose="02020603050405020304" pitchFamily="18" charset="0"/>
                  </a:rPr>
                  <a:t>Ω</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PVT: FF, SS, NN, </a:t>
                </a:r>
                <a14:m>
                  <m:oMath xmlns:m="http://schemas.openxmlformats.org/officeDocument/2006/math">
                    <m:r>
                      <a:rPr lang="en-US" b="0" i="1" smtClean="0">
                        <a:latin typeface="Cambria Math" panose="02040503050406030204" pitchFamily="18" charset="0"/>
                        <a:ea typeface="Calibri" panose="020F0502020204030204" pitchFamily="34" charset="0"/>
                        <a:cs typeface="Times New Roman" panose="02020603050405020304" pitchFamily="18" charset="0"/>
                      </a:rPr>
                      <m:t>−40</m:t>
                    </m:r>
                    <m:r>
                      <a:rPr lang="en-US" b="0" i="1" smtClean="0">
                        <a:latin typeface="Cambria Math" panose="02040503050406030204" pitchFamily="18" charset="0"/>
                        <a:ea typeface="Cambria Math" panose="02040503050406030204" pitchFamily="18" charset="0"/>
                        <a:cs typeface="Times New Roman" panose="02020603050405020304" pitchFamily="18" charset="0"/>
                      </a:rPr>
                      <m:t>℃,25℃,125℃</m:t>
                    </m:r>
                  </m:oMath>
                </a14:m>
                <a:endParaRPr lang="en-US" b="0" dirty="0">
                  <a:latin typeface="Times New Roman" panose="02020603050405020304" pitchFamily="18" charset="0"/>
                  <a:ea typeface="Cambria Math" panose="02040503050406030204" pitchFamily="18" charset="0"/>
                  <a:cs typeface="Times New Roman" panose="02020603050405020304" pitchFamily="18" charset="0"/>
                </a:endParaRPr>
              </a:p>
              <a:p>
                <a:pPr marL="342900" indent="-342900">
                  <a:buFont typeface="Wingdings" panose="05000000000000000000" pitchFamily="2" charset="2"/>
                  <a:buChar char="§"/>
                </a:pPr>
                <a:r>
                  <a:rPr lang="en-US" dirty="0">
                    <a:latin typeface="Google Sans Text"/>
                    <a:ea typeface="Calibri" panose="020F0502020204030204" pitchFamily="34" charset="0"/>
                    <a:cs typeface="Calibri" panose="020F0502020204030204" pitchFamily="34" charset="0"/>
                  </a:rPr>
                  <a:t>Operation speed: 5Gb/s</a:t>
                </a:r>
              </a:p>
              <a:p>
                <a:pPr marL="342900" indent="-342900">
                  <a:buFontTx/>
                  <a:buChar char="-"/>
                </a:pPr>
                <a:endParaRPr lang="vi-VN"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 name="Hộp Văn bản 12">
                <a:extLst>
                  <a:ext uri="{FF2B5EF4-FFF2-40B4-BE49-F238E27FC236}">
                    <a16:creationId xmlns:a16="http://schemas.microsoft.com/office/drawing/2014/main" id="{F882425B-4E50-4448-84FE-6B60CC5AB0B9}"/>
                  </a:ext>
                </a:extLst>
              </p:cNvPr>
              <p:cNvSpPr txBox="1">
                <a:spLocks noRot="1" noChangeAspect="1" noMove="1" noResize="1" noEditPoints="1" noAdjustHandles="1" noChangeArrowheads="1" noChangeShapeType="1" noTextEdit="1"/>
              </p:cNvSpPr>
              <p:nvPr/>
            </p:nvSpPr>
            <p:spPr>
              <a:xfrm>
                <a:off x="715385" y="2391530"/>
                <a:ext cx="3423082" cy="2308324"/>
              </a:xfrm>
              <a:prstGeom prst="rect">
                <a:avLst/>
              </a:prstGeom>
              <a:blipFill>
                <a:blip r:embed="rId3"/>
                <a:stretch>
                  <a:fillRect l="-1068" t="-1319"/>
                </a:stretch>
              </a:blipFill>
            </p:spPr>
            <p:txBody>
              <a:bodyPr/>
              <a:lstStyle/>
              <a:p>
                <a:r>
                  <a:rPr lang="en-US">
                    <a:noFill/>
                  </a:rPr>
                  <a:t> </a:t>
                </a:r>
              </a:p>
            </p:txBody>
          </p:sp>
        </mc:Fallback>
      </mc:AlternateContent>
      <p:sp>
        <p:nvSpPr>
          <p:cNvPr id="6" name="Hộp Văn bản 12">
            <a:extLst>
              <a:ext uri="{FF2B5EF4-FFF2-40B4-BE49-F238E27FC236}">
                <a16:creationId xmlns:a16="http://schemas.microsoft.com/office/drawing/2014/main" id="{C8B3DB3C-DA0B-4078-A969-A26A57FAA0DC}"/>
              </a:ext>
            </a:extLst>
          </p:cNvPr>
          <p:cNvSpPr txBox="1">
            <a:spLocks noGrp="1"/>
          </p:cNvSpPr>
          <p:nvPr>
            <p:ph idx="1"/>
          </p:nvPr>
        </p:nvSpPr>
        <p:spPr>
          <a:xfrm>
            <a:off x="3765631" y="2502696"/>
            <a:ext cx="3194461" cy="3098284"/>
          </a:xfrm>
          <a:prstGeom prst="rect">
            <a:avLst/>
          </a:prstGeom>
          <a:noFill/>
        </p:spPr>
        <p:txBody>
          <a:bodyPr wrap="square">
            <a:spAutoFit/>
          </a:bodyPr>
          <a:lstStyle/>
          <a:p>
            <a:pPr marL="0" indent="0">
              <a:buNone/>
            </a:pPr>
            <a:r>
              <a:rPr lang="vi-VN" sz="1800" b="1" i="0" dirty="0">
                <a:effectLst/>
                <a:latin typeface="Google Sans Text"/>
              </a:rPr>
              <a:t> </a:t>
            </a:r>
            <a:r>
              <a:rPr lang="en-US" sz="1800" b="1" i="0" dirty="0">
                <a:effectLst/>
                <a:latin typeface="Google Sans Text"/>
              </a:rPr>
              <a:t>R</a:t>
            </a:r>
            <a:r>
              <a:rPr lang="en-US" sz="1800" b="1" dirty="0">
                <a:latin typeface="Google Sans Text"/>
              </a:rPr>
              <a:t>equirement </a:t>
            </a:r>
            <a:r>
              <a:rPr lang="en-US" sz="1800" dirty="0">
                <a:latin typeface="Google Sans Text"/>
              </a:rPr>
              <a:t>: </a:t>
            </a:r>
            <a:r>
              <a:rPr lang="en-US" sz="1800" dirty="0">
                <a:latin typeface="Bahnschrift SemiBold Condensed" panose="020B0502040204020203" pitchFamily="34" charset="0"/>
              </a:rPr>
              <a:t>Develop the circuit architecture, implement the testbench, and measure the required parameters</a:t>
            </a:r>
          </a:p>
          <a:p>
            <a:pPr algn="just">
              <a:buFont typeface="Wingdings" panose="05000000000000000000" pitchFamily="2" charset="2"/>
              <a:buChar char="§"/>
            </a:pPr>
            <a:r>
              <a:rPr lang="en-US" sz="1800" dirty="0">
                <a:latin typeface="Google Sans Text"/>
                <a:ea typeface="Calibri" panose="020F0502020204030204" pitchFamily="34" charset="0"/>
                <a:cs typeface="Calibri" panose="020F0502020204030204" pitchFamily="34" charset="0"/>
              </a:rPr>
              <a:t>Measure output impedance (pull-up </a:t>
            </a:r>
            <a:r>
              <a:rPr lang="en-US" sz="1800" dirty="0" err="1">
                <a:latin typeface="Google Sans Text"/>
                <a:ea typeface="Calibri" panose="020F0502020204030204" pitchFamily="34" charset="0"/>
                <a:cs typeface="Calibri" panose="020F0502020204030204" pitchFamily="34" charset="0"/>
              </a:rPr>
              <a:t>và</a:t>
            </a:r>
            <a:r>
              <a:rPr lang="en-US" sz="1800" dirty="0">
                <a:latin typeface="Google Sans Text"/>
                <a:ea typeface="Calibri" panose="020F0502020204030204" pitchFamily="34" charset="0"/>
                <a:cs typeface="Calibri" panose="020F0502020204030204" pitchFamily="34" charset="0"/>
              </a:rPr>
              <a:t> pull-up)</a:t>
            </a:r>
          </a:p>
          <a:p>
            <a:pPr algn="just">
              <a:buFont typeface="Wingdings" panose="05000000000000000000" pitchFamily="2" charset="2"/>
              <a:buChar char="§"/>
            </a:pPr>
            <a:r>
              <a:rPr lang="en-US" sz="1800" dirty="0">
                <a:latin typeface="Google Sans Text"/>
                <a:ea typeface="Calibri" panose="020F0502020204030204" pitchFamily="34" charset="0"/>
                <a:cs typeface="Calibri" panose="020F0502020204030204" pitchFamily="34" charset="0"/>
              </a:rPr>
              <a:t>Simulate with </a:t>
            </a:r>
            <a:r>
              <a:rPr lang="en-US" sz="1800" dirty="0" err="1">
                <a:latin typeface="Google Sans Text"/>
                <a:ea typeface="Calibri" panose="020F0502020204030204" pitchFamily="34" charset="0"/>
                <a:cs typeface="Calibri" panose="020F0502020204030204" pitchFamily="34" charset="0"/>
              </a:rPr>
              <a:t>prsb</a:t>
            </a:r>
            <a:r>
              <a:rPr lang="en-US" sz="1800" dirty="0">
                <a:latin typeface="Google Sans Text"/>
                <a:ea typeface="Calibri" panose="020F0502020204030204" pitchFamily="34" charset="0"/>
                <a:cs typeface="Calibri" panose="020F0502020204030204" pitchFamily="34" charset="0"/>
              </a:rPr>
              <a:t> source and measure rise/fall time </a:t>
            </a:r>
            <a:r>
              <a:rPr lang="en-US" sz="1800" dirty="0" err="1">
                <a:latin typeface="Google Sans Text"/>
                <a:ea typeface="Calibri" panose="020F0502020204030204" pitchFamily="34" charset="0"/>
                <a:cs typeface="Calibri" panose="020F0502020204030204" pitchFamily="34" charset="0"/>
              </a:rPr>
              <a:t>và</a:t>
            </a:r>
            <a:r>
              <a:rPr lang="en-US" sz="1800" dirty="0">
                <a:latin typeface="Google Sans Text"/>
                <a:ea typeface="Calibri" panose="020F0502020204030204" pitchFamily="34" charset="0"/>
                <a:cs typeface="Calibri" panose="020F0502020204030204" pitchFamily="34" charset="0"/>
              </a:rPr>
              <a:t> duty cycle</a:t>
            </a:r>
          </a:p>
          <a:p>
            <a:pPr algn="just">
              <a:buFont typeface="Wingdings" panose="05000000000000000000" pitchFamily="2" charset="2"/>
              <a:buChar char="§"/>
            </a:pPr>
            <a:r>
              <a:rPr lang="en-US" sz="1800" dirty="0" err="1">
                <a:latin typeface="Google Sans Text"/>
                <a:ea typeface="Calibri" panose="020F0502020204030204" pitchFamily="34" charset="0"/>
                <a:cs typeface="Calibri" panose="020F0502020204030204" pitchFamily="34" charset="0"/>
              </a:rPr>
              <a:t>Meausre</a:t>
            </a:r>
            <a:r>
              <a:rPr lang="en-US" sz="1800" dirty="0">
                <a:latin typeface="Google Sans Text"/>
                <a:ea typeface="Calibri" panose="020F0502020204030204" pitchFamily="34" charset="0"/>
                <a:cs typeface="Calibri" panose="020F0502020204030204" pitchFamily="34" charset="0"/>
              </a:rPr>
              <a:t> jitter </a:t>
            </a:r>
          </a:p>
          <a:p>
            <a:pPr marL="342900" indent="-342900" algn="just">
              <a:buFontTx/>
              <a:buChar char="-"/>
            </a:pPr>
            <a:endParaRPr lang="vi-VN" sz="1800" dirty="0">
              <a:latin typeface="Calibri" panose="020F0502020204030204" pitchFamily="34" charset="0"/>
              <a:ea typeface="Calibri" panose="020F0502020204030204" pitchFamily="34" charset="0"/>
              <a:cs typeface="Calibri" panose="020F0502020204030204" pitchFamily="34" charset="0"/>
            </a:endParaRPr>
          </a:p>
        </p:txBody>
      </p:sp>
      <p:sp>
        <p:nvSpPr>
          <p:cNvPr id="7" name="Hộp Văn bản 12">
            <a:extLst>
              <a:ext uri="{FF2B5EF4-FFF2-40B4-BE49-F238E27FC236}">
                <a16:creationId xmlns:a16="http://schemas.microsoft.com/office/drawing/2014/main" id="{886A68F4-AB38-42B7-A47C-E1F2DA2DCD0A}"/>
              </a:ext>
            </a:extLst>
          </p:cNvPr>
          <p:cNvSpPr txBox="1">
            <a:spLocks noGrp="1"/>
          </p:cNvSpPr>
          <p:nvPr>
            <p:ph type="title"/>
          </p:nvPr>
        </p:nvSpPr>
        <p:spPr>
          <a:xfrm>
            <a:off x="838200" y="1120611"/>
            <a:ext cx="10823648" cy="1323439"/>
          </a:xfrm>
          <a:prstGeom prst="rect">
            <a:avLst/>
          </a:prstGeom>
          <a:noFill/>
        </p:spPr>
        <p:txBody>
          <a:bodyPr wrap="square">
            <a:spAutoFit/>
          </a:bodyPr>
          <a:lstStyle/>
          <a:p>
            <a:pPr algn="just">
              <a:lnSpc>
                <a:spcPct val="100000"/>
              </a:lnSpc>
            </a:pPr>
            <a:r>
              <a:rPr lang="vi-VN" sz="2000" i="0" dirty="0">
                <a:effectLst/>
                <a:latin typeface="Bahnschrift SemiBold Condensed" panose="020B0502040204020203" pitchFamily="34" charset="0"/>
              </a:rPr>
              <a:t> </a:t>
            </a:r>
            <a:r>
              <a:rPr lang="en-US" sz="2000" i="0" dirty="0">
                <a:effectLst/>
                <a:latin typeface="Bahnschrift SemiBold Condensed" panose="020B0502040204020203" pitchFamily="34" charset="0"/>
              </a:rPr>
              <a:t>	</a:t>
            </a:r>
            <a:r>
              <a:rPr lang="en-US" sz="2000" dirty="0">
                <a:latin typeface="Bahnschrift SemiBold Condensed" panose="020B0502040204020203" pitchFamily="34" charset="0"/>
              </a:rPr>
              <a:t> Design a driver circuit for a transmitter operating at 5 Gb/s. Implemented with a P-over-N architecture and special trimming bits, this design helps maintain stable impedance during operation. The system includes a background impedance calibration feature, allowing the driver to function accurately under process, voltage, and temperature (PVT) variations, in order to achieve a 50Ω output impedance.</a:t>
            </a:r>
            <a:endParaRPr lang="vi-VN" sz="2000" dirty="0">
              <a:latin typeface="Bahnschrift SemiBold Condensed" panose="020B0502040204020203" pitchFamily="34" charset="0"/>
              <a:ea typeface="Calibri" panose="020F0502020204030204" pitchFamily="34" charset="0"/>
              <a:cs typeface="Calibri" panose="020F0502020204030204" pitchFamily="34" charset="0"/>
            </a:endParaRPr>
          </a:p>
        </p:txBody>
      </p:sp>
      <p:pic>
        <p:nvPicPr>
          <p:cNvPr id="8" name="Hình ảnh 5">
            <a:extLst>
              <a:ext uri="{FF2B5EF4-FFF2-40B4-BE49-F238E27FC236}">
                <a16:creationId xmlns:a16="http://schemas.microsoft.com/office/drawing/2014/main" id="{179B721E-4369-44C3-933E-B43B62D9BC19}"/>
              </a:ext>
            </a:extLst>
          </p:cNvPr>
          <p:cNvPicPr>
            <a:picLocks noChangeAspect="1"/>
          </p:cNvPicPr>
          <p:nvPr/>
        </p:nvPicPr>
        <p:blipFill>
          <a:blip r:embed="rId4"/>
          <a:stretch>
            <a:fillRect/>
          </a:stretch>
        </p:blipFill>
        <p:spPr>
          <a:xfrm>
            <a:off x="7410048" y="2503503"/>
            <a:ext cx="4251800" cy="3671091"/>
          </a:xfrm>
          <a:prstGeom prst="rect">
            <a:avLst/>
          </a:prstGeom>
        </p:spPr>
      </p:pic>
      <p:sp>
        <p:nvSpPr>
          <p:cNvPr id="12" name="Date Placeholder 11">
            <a:extLst>
              <a:ext uri="{FF2B5EF4-FFF2-40B4-BE49-F238E27FC236}">
                <a16:creationId xmlns:a16="http://schemas.microsoft.com/office/drawing/2014/main" id="{4476E744-C24C-40AA-B4EE-4F5C05624BD0}"/>
              </a:ext>
            </a:extLst>
          </p:cNvPr>
          <p:cNvSpPr>
            <a:spLocks noGrp="1"/>
          </p:cNvSpPr>
          <p:nvPr>
            <p:ph type="dt" sz="half" idx="10"/>
          </p:nvPr>
        </p:nvSpPr>
        <p:spPr/>
        <p:txBody>
          <a:bodyPr/>
          <a:lstStyle/>
          <a:p>
            <a:fld id="{86B758D0-8CE4-4AC0-A456-0CAA1075687A}" type="datetime1">
              <a:rPr lang="en-US" sz="2400" smtClean="0"/>
              <a:t>6/3/2025</a:t>
            </a:fld>
            <a:endParaRPr lang="en-US" sz="2400"/>
          </a:p>
        </p:txBody>
      </p:sp>
      <p:sp>
        <p:nvSpPr>
          <p:cNvPr id="13" name="Footer Placeholder 12">
            <a:extLst>
              <a:ext uri="{FF2B5EF4-FFF2-40B4-BE49-F238E27FC236}">
                <a16:creationId xmlns:a16="http://schemas.microsoft.com/office/drawing/2014/main" id="{29958A63-D436-4085-B7EF-C31A4C98715B}"/>
              </a:ext>
            </a:extLst>
          </p:cNvPr>
          <p:cNvSpPr>
            <a:spLocks noGrp="1"/>
          </p:cNvSpPr>
          <p:nvPr>
            <p:ph type="ftr" sz="quarter" idx="11"/>
          </p:nvPr>
        </p:nvSpPr>
        <p:spPr/>
        <p:txBody>
          <a:bodyPr/>
          <a:lstStyle/>
          <a:p>
            <a:r>
              <a:rPr lang="en-US" sz="2400"/>
              <a:t>Dept of Electronic Engineering</a:t>
            </a:r>
          </a:p>
        </p:txBody>
      </p:sp>
      <p:sp>
        <p:nvSpPr>
          <p:cNvPr id="14" name="Slide Number Placeholder 13">
            <a:extLst>
              <a:ext uri="{FF2B5EF4-FFF2-40B4-BE49-F238E27FC236}">
                <a16:creationId xmlns:a16="http://schemas.microsoft.com/office/drawing/2014/main" id="{BE313A67-1C49-4D2C-8C34-026394A77F0A}"/>
              </a:ext>
            </a:extLst>
          </p:cNvPr>
          <p:cNvSpPr>
            <a:spLocks noGrp="1"/>
          </p:cNvSpPr>
          <p:nvPr>
            <p:ph type="sldNum" sz="quarter" idx="12"/>
          </p:nvPr>
        </p:nvSpPr>
        <p:spPr/>
        <p:txBody>
          <a:bodyPr/>
          <a:lstStyle/>
          <a:p>
            <a:fld id="{952A837F-FDD8-4A5A-8D82-65CDA50A5412}" type="slidenum">
              <a:rPr lang="en-US" sz="2400" smtClean="0"/>
              <a:t>7</a:t>
            </a:fld>
            <a:endParaRPr lang="en-US" sz="2400"/>
          </a:p>
        </p:txBody>
      </p:sp>
      <p:sp>
        <p:nvSpPr>
          <p:cNvPr id="15" name="Title 1">
            <a:extLst>
              <a:ext uri="{FF2B5EF4-FFF2-40B4-BE49-F238E27FC236}">
                <a16:creationId xmlns:a16="http://schemas.microsoft.com/office/drawing/2014/main" id="{B32031E9-2B3C-4A46-ACF7-D0CD028FA9C0}"/>
              </a:ext>
            </a:extLst>
          </p:cNvPr>
          <p:cNvSpPr txBox="1">
            <a:spLocks/>
          </p:cNvSpPr>
          <p:nvPr/>
        </p:nvSpPr>
        <p:spPr>
          <a:xfrm>
            <a:off x="2078379" y="68134"/>
            <a:ext cx="8035242" cy="1092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latin typeface="Bahnschrift SemiBold Condensed" panose="020B0502040204020203" pitchFamily="34" charset="0"/>
              </a:rPr>
              <a:t>Project Task and Design Requirements</a:t>
            </a:r>
            <a:endParaRPr lang="en-US" sz="4800" b="1" dirty="0">
              <a:latin typeface="Bahnschrift SemiBold Condensed" panose="020B0502040204020203" pitchFamily="34" charset="0"/>
            </a:endParaRPr>
          </a:p>
        </p:txBody>
      </p:sp>
    </p:spTree>
    <p:extLst>
      <p:ext uri="{BB962C8B-B14F-4D97-AF65-F5344CB8AC3E}">
        <p14:creationId xmlns:p14="http://schemas.microsoft.com/office/powerpoint/2010/main" val="2280638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3ABF8B22-5383-49AE-A5EC-AEEDC92163AE}"/>
                  </a:ext>
                </a:extLst>
              </p:cNvPr>
              <p:cNvSpPr>
                <a:spLocks noGrp="1"/>
              </p:cNvSpPr>
              <p:nvPr>
                <p:ph type="title"/>
              </p:nvPr>
            </p:nvSpPr>
            <p:spPr>
              <a:xfrm>
                <a:off x="269983" y="3545347"/>
                <a:ext cx="6521389" cy="1008974"/>
              </a:xfrm>
            </p:spPr>
            <p:txBody>
              <a:bodyPr>
                <a:normAutofit fontScale="90000"/>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𝒐𝒖𝒕</m:t>
                          </m:r>
                        </m:sub>
                      </m:sSub>
                      <m:r>
                        <a:rPr lang="en-US" sz="2000" b="1" i="1" smtClean="0">
                          <a:latin typeface="Cambria Math" panose="02040503050406030204" pitchFamily="18" charset="0"/>
                        </a:rPr>
                        <m:t>=</m:t>
                      </m:r>
                      <m:sSup>
                        <m:sSupPr>
                          <m:ctrlPr>
                            <a:rPr lang="en-US" sz="2000" b="1" i="1" smtClean="0">
                              <a:latin typeface="Cambria Math" panose="02040503050406030204" pitchFamily="18" charset="0"/>
                            </a:rPr>
                          </m:ctrlPr>
                        </m:sSupPr>
                        <m:e>
                          <m:d>
                            <m:dPr>
                              <m:ctrlPr>
                                <a:rPr lang="en-US" sz="2000" b="1" i="1" smtClean="0">
                                  <a:latin typeface="Cambria Math" panose="02040503050406030204" pitchFamily="18" charset="0"/>
                                </a:rPr>
                              </m:ctrlPr>
                            </m:dPr>
                            <m:e>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𝑳𝑺𝑩</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𝑺𝑾</m:t>
                                      </m:r>
                                      <m:r>
                                        <a:rPr lang="en-US" sz="2000" b="1" i="1" smtClean="0">
                                          <a:latin typeface="Cambria Math" panose="02040503050406030204" pitchFamily="18" charset="0"/>
                                        </a:rPr>
                                        <m:t>𝟏</m:t>
                                      </m:r>
                                    </m:sub>
                                  </m:sSub>
                                </m:den>
                              </m:f>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r>
                                    <a:rPr lang="en-US" sz="2000" b="1" i="1" smtClean="0">
                                      <a:latin typeface="Cambria Math" panose="02040503050406030204" pitchFamily="18" charset="0"/>
                                    </a:rPr>
                                    <m:t>𝑹</m:t>
                                  </m:r>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𝑺𝑾</m:t>
                                      </m:r>
                                      <m:r>
                                        <a:rPr lang="en-US" sz="2000" b="1" i="1" smtClean="0">
                                          <a:latin typeface="Cambria Math" panose="02040503050406030204" pitchFamily="18" charset="0"/>
                                        </a:rPr>
                                        <m:t>𝟐</m:t>
                                      </m:r>
                                    </m:sub>
                                  </m:sSub>
                                </m:den>
                              </m:f>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r>
                                    <a:rPr lang="en-US" sz="2000" b="1" i="1" smtClean="0">
                                      <a:latin typeface="Cambria Math" panose="02040503050406030204" pitchFamily="18" charset="0"/>
                                    </a:rPr>
                                    <m:t>𝟏</m:t>
                                  </m:r>
                                </m:num>
                                <m:den>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𝑴𝑺𝑩</m:t>
                                      </m:r>
                                    </m:sub>
                                  </m:sSub>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𝑺𝑾</m:t>
                                      </m:r>
                                      <m:r>
                                        <a:rPr lang="en-US" sz="2000" b="1" i="1" smtClean="0">
                                          <a:latin typeface="Cambria Math" panose="02040503050406030204" pitchFamily="18" charset="0"/>
                                        </a:rPr>
                                        <m:t>𝟑</m:t>
                                      </m:r>
                                    </m:sub>
                                  </m:sSub>
                                </m:den>
                              </m:f>
                            </m:e>
                          </m:d>
                        </m:e>
                        <m:sup>
                          <m:r>
                            <a:rPr lang="en-US" sz="2000" b="1" i="1" smtClean="0">
                              <a:latin typeface="Cambria Math" panose="02040503050406030204" pitchFamily="18" charset="0"/>
                            </a:rPr>
                            <m:t>−</m:t>
                          </m:r>
                          <m:r>
                            <a:rPr lang="en-US" sz="2000" b="1" i="1" smtClean="0">
                              <a:latin typeface="Cambria Math" panose="02040503050406030204" pitchFamily="18" charset="0"/>
                            </a:rPr>
                            <m:t>𝟏</m:t>
                          </m:r>
                        </m:sup>
                      </m:sSup>
                      <m:r>
                        <a:rPr lang="en-US" sz="2000" b="1" i="1" smtClean="0">
                          <a:latin typeface="Cambria Math" panose="02040503050406030204" pitchFamily="18" charset="0"/>
                        </a:rPr>
                        <m:t>+</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𝒑𝒐𝒍𝒚</m:t>
                          </m:r>
                        </m:sub>
                      </m:sSub>
                    </m:oMath>
                  </m:oMathPara>
                </a14:m>
                <a:endParaRPr lang="en-US" sz="2000" b="1" dirty="0">
                  <a:latin typeface="Bahnschrift SemiBold Condensed" panose="020B0502040204020203" pitchFamily="34" charset="0"/>
                </a:endParaRPr>
              </a:p>
            </p:txBody>
          </p:sp>
        </mc:Choice>
        <mc:Fallback xmlns="">
          <p:sp>
            <p:nvSpPr>
              <p:cNvPr id="2" name="Title 1">
                <a:extLst>
                  <a:ext uri="{FF2B5EF4-FFF2-40B4-BE49-F238E27FC236}">
                    <a16:creationId xmlns:a16="http://schemas.microsoft.com/office/drawing/2014/main" id="{3ABF8B22-5383-49AE-A5EC-AEEDC92163AE}"/>
                  </a:ext>
                </a:extLst>
              </p:cNvPr>
              <p:cNvSpPr>
                <a:spLocks noGrp="1" noRot="1" noChangeAspect="1" noMove="1" noResize="1" noEditPoints="1" noAdjustHandles="1" noChangeArrowheads="1" noChangeShapeType="1" noTextEdit="1"/>
              </p:cNvSpPr>
              <p:nvPr>
                <p:ph type="title"/>
              </p:nvPr>
            </p:nvSpPr>
            <p:spPr>
              <a:xfrm>
                <a:off x="269983" y="3545347"/>
                <a:ext cx="6521389" cy="1008974"/>
              </a:xfrm>
              <a:blipFill>
                <a:blip r:embed="rId3"/>
                <a:stretch>
                  <a:fillRect/>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87ED536-D4DA-4815-808A-9AAC34A3E1C1}"/>
              </a:ext>
            </a:extLst>
          </p:cNvPr>
          <p:cNvPicPr>
            <a:picLocks noChangeAspect="1"/>
          </p:cNvPicPr>
          <p:nvPr/>
        </p:nvPicPr>
        <p:blipFill>
          <a:blip r:embed="rId4"/>
          <a:stretch>
            <a:fillRect/>
          </a:stretch>
        </p:blipFill>
        <p:spPr>
          <a:xfrm>
            <a:off x="7537136" y="1199498"/>
            <a:ext cx="4211113" cy="5449675"/>
          </a:xfrm>
          <a:prstGeom prst="rect">
            <a:avLst/>
          </a:prstGeom>
        </p:spPr>
      </p:pic>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BD92D0E8-6DB6-4F75-88FB-365B590C7C3B}"/>
                  </a:ext>
                </a:extLst>
              </p:cNvPr>
              <p:cNvSpPr txBox="1">
                <a:spLocks/>
              </p:cNvSpPr>
              <p:nvPr/>
            </p:nvSpPr>
            <p:spPr>
              <a:xfrm>
                <a:off x="762323" y="1462318"/>
                <a:ext cx="5536708" cy="912713"/>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𝑳𝑺𝑩</m:t>
                          </m:r>
                        </m:sub>
                      </m:sSub>
                      <m:r>
                        <a:rPr lang="en-US" b="1" i="1">
                          <a:latin typeface="Cambria Math" panose="02040503050406030204" pitchFamily="18" charset="0"/>
                        </a:rPr>
                        <m:t>=</m:t>
                      </m:r>
                      <m:f>
                        <m:fPr>
                          <m:ctrlPr>
                            <a:rPr lang="en-US" b="1" i="1" smtClean="0">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𝑫𝑺</m:t>
                              </m:r>
                            </m:sub>
                          </m:sSub>
                        </m:num>
                        <m:den>
                          <m:sSub>
                            <m:sSubPr>
                              <m:ctrlPr>
                                <a:rPr lang="en-US" b="1" i="1" smtClean="0">
                                  <a:latin typeface="Cambria Math" panose="02040503050406030204" pitchFamily="18" charset="0"/>
                                </a:rPr>
                              </m:ctrlPr>
                            </m:sSubPr>
                            <m:e>
                              <m:r>
                                <a:rPr lang="en-US" b="1" i="1" smtClean="0">
                                  <a:latin typeface="Cambria Math" panose="02040503050406030204" pitchFamily="18" charset="0"/>
                                </a:rPr>
                                <m:t>𝑰</m:t>
                              </m:r>
                            </m:e>
                            <m:sub>
                              <m:r>
                                <a:rPr lang="en-US" b="1" i="1" smtClean="0">
                                  <a:latin typeface="Cambria Math" panose="02040503050406030204" pitchFamily="18" charset="0"/>
                                </a:rPr>
                                <m:t>𝑫𝑺</m:t>
                              </m:r>
                            </m:sub>
                          </m:sSub>
                        </m:den>
                      </m:f>
                      <m:r>
                        <a:rPr lang="en-US" b="1" i="1" smtClean="0">
                          <a:latin typeface="Cambria Math" panose="02040503050406030204" pitchFamily="18" charset="0"/>
                        </a:rPr>
                        <m:t>=</m:t>
                      </m:r>
                      <m:f>
                        <m:fPr>
                          <m:ctrlPr>
                            <a:rPr lang="en-US" b="1" i="1">
                              <a:latin typeface="Cambria Math" panose="02040503050406030204" pitchFamily="18" charset="0"/>
                            </a:rPr>
                          </m:ctrlPr>
                        </m:fPr>
                        <m:num>
                          <m:sSub>
                            <m:sSubPr>
                              <m:ctrlPr>
                                <a:rPr lang="en-US" b="1" i="1" smtClean="0">
                                  <a:latin typeface="Cambria Math" panose="02040503050406030204" pitchFamily="18" charset="0"/>
                                </a:rPr>
                              </m:ctrlPr>
                            </m:sSubPr>
                            <m:e>
                              <m:r>
                                <a:rPr lang="en-US" b="1" i="1" smtClean="0">
                                  <a:latin typeface="Cambria Math" panose="02040503050406030204" pitchFamily="18" charset="0"/>
                                </a:rPr>
                                <m:t>𝑽</m:t>
                              </m:r>
                            </m:e>
                            <m:sub>
                              <m:r>
                                <a:rPr lang="en-US" b="1" i="1" smtClean="0">
                                  <a:latin typeface="Cambria Math" panose="02040503050406030204" pitchFamily="18" charset="0"/>
                                </a:rPr>
                                <m:t>𝑫𝑺</m:t>
                              </m:r>
                            </m:sub>
                          </m:sSub>
                        </m:num>
                        <m:den>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𝝁</m:t>
                              </m:r>
                            </m:e>
                            <m:sub>
                              <m:r>
                                <a:rPr lang="en-US" b="1" i="1">
                                  <a:latin typeface="Cambria Math" panose="02040503050406030204" pitchFamily="18" charset="0"/>
                                  <a:ea typeface="Cambria Math" panose="02040503050406030204" pitchFamily="18" charset="0"/>
                                </a:rPr>
                                <m:t>𝒏</m:t>
                              </m:r>
                            </m:sub>
                          </m:sSub>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𝑪</m:t>
                              </m:r>
                            </m:e>
                            <m:sub>
                              <m:r>
                                <a:rPr lang="en-US" b="1" i="1">
                                  <a:latin typeface="Cambria Math" panose="02040503050406030204" pitchFamily="18" charset="0"/>
                                  <a:ea typeface="Cambria Math" panose="02040503050406030204" pitchFamily="18" charset="0"/>
                                </a:rPr>
                                <m:t>𝒐𝒙</m:t>
                              </m:r>
                            </m:sub>
                          </m:sSub>
                          <m:r>
                            <a:rPr lang="en-US" b="1" i="1">
                              <a:latin typeface="Cambria Math" panose="02040503050406030204" pitchFamily="18" charset="0"/>
                              <a:ea typeface="Cambria Math" panose="02040503050406030204" pitchFamily="18" charset="0"/>
                            </a:rPr>
                            <m:t>.</m:t>
                          </m:r>
                          <m:f>
                            <m:fPr>
                              <m:ctrlPr>
                                <a:rPr lang="en-US" b="1" i="1">
                                  <a:latin typeface="Cambria Math" panose="02040503050406030204" pitchFamily="18" charset="0"/>
                                  <a:ea typeface="Cambria Math" panose="02040503050406030204" pitchFamily="18" charset="0"/>
                                </a:rPr>
                              </m:ctrlPr>
                            </m:fPr>
                            <m:num>
                              <m:r>
                                <a:rPr lang="en-US" b="1" i="1">
                                  <a:latin typeface="Cambria Math" panose="02040503050406030204" pitchFamily="18" charset="0"/>
                                  <a:ea typeface="Cambria Math" panose="02040503050406030204" pitchFamily="18" charset="0"/>
                                </a:rPr>
                                <m:t>𝑾</m:t>
                              </m:r>
                            </m:num>
                            <m:den>
                              <m:r>
                                <a:rPr lang="en-US" b="1" i="1">
                                  <a:latin typeface="Cambria Math" panose="02040503050406030204" pitchFamily="18" charset="0"/>
                                  <a:ea typeface="Cambria Math" panose="02040503050406030204" pitchFamily="18" charset="0"/>
                                </a:rPr>
                                <m:t>𝑳</m:t>
                              </m:r>
                            </m:den>
                          </m:f>
                          <m:d>
                            <m:dPr>
                              <m:ctrlPr>
                                <a:rPr lang="en-US" b="1" i="1">
                                  <a:latin typeface="Cambria Math" panose="02040503050406030204" pitchFamily="18" charset="0"/>
                                  <a:ea typeface="Cambria Math" panose="02040503050406030204" pitchFamily="18" charset="0"/>
                                </a:rPr>
                              </m:ctrlPr>
                            </m:dPr>
                            <m:e>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𝑽</m:t>
                                  </m:r>
                                </m:e>
                                <m:sub>
                                  <m:r>
                                    <a:rPr lang="en-US" b="1" i="1">
                                      <a:latin typeface="Cambria Math" panose="02040503050406030204" pitchFamily="18" charset="0"/>
                                      <a:ea typeface="Cambria Math" panose="02040503050406030204" pitchFamily="18" charset="0"/>
                                    </a:rPr>
                                    <m:t>𝑮𝑺</m:t>
                                  </m:r>
                                </m:sub>
                              </m:sSub>
                              <m:r>
                                <a:rPr lang="en-US" b="1" i="1">
                                  <a:latin typeface="Cambria Math" panose="02040503050406030204" pitchFamily="18" charset="0"/>
                                  <a:ea typeface="Cambria Math" panose="02040503050406030204" pitchFamily="18" charset="0"/>
                                </a:rPr>
                                <m:t>−</m:t>
                              </m:r>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𝑽</m:t>
                                  </m:r>
                                </m:e>
                                <m:sub>
                                  <m:r>
                                    <a:rPr lang="en-US" b="1" i="1">
                                      <a:latin typeface="Cambria Math" panose="02040503050406030204" pitchFamily="18" charset="0"/>
                                      <a:ea typeface="Cambria Math" panose="02040503050406030204" pitchFamily="18" charset="0"/>
                                    </a:rPr>
                                    <m:t>𝑻𝑯</m:t>
                                  </m:r>
                                </m:sub>
                              </m:sSub>
                              <m:r>
                                <a:rPr lang="en-US" b="1" i="1" smtClean="0">
                                  <a:latin typeface="Cambria Math" panose="02040503050406030204" pitchFamily="18" charset="0"/>
                                  <a:ea typeface="Cambria Math" panose="02040503050406030204" pitchFamily="18" charset="0"/>
                                </a:rPr>
                                <m:t>−</m:t>
                              </m:r>
                              <m:f>
                                <m:fPr>
                                  <m:ctrlPr>
                                    <a:rPr lang="en-US" b="1" i="1" smtClean="0">
                                      <a:latin typeface="Cambria Math" panose="02040503050406030204" pitchFamily="18" charset="0"/>
                                      <a:ea typeface="Cambria Math" panose="02040503050406030204" pitchFamily="18" charset="0"/>
                                    </a:rPr>
                                  </m:ctrlPr>
                                </m:fPr>
                                <m:num>
                                  <m:r>
                                    <a:rPr lang="en-US" b="1" i="1" smtClean="0">
                                      <a:latin typeface="Cambria Math" panose="02040503050406030204" pitchFamily="18" charset="0"/>
                                      <a:ea typeface="Cambria Math" panose="02040503050406030204" pitchFamily="18" charset="0"/>
                                    </a:rPr>
                                    <m:t>𝟏</m:t>
                                  </m:r>
                                </m:num>
                                <m:den>
                                  <m:r>
                                    <a:rPr lang="en-US" b="1" i="1" smtClean="0">
                                      <a:latin typeface="Cambria Math" panose="02040503050406030204" pitchFamily="18" charset="0"/>
                                      <a:ea typeface="Cambria Math" panose="02040503050406030204" pitchFamily="18" charset="0"/>
                                    </a:rPr>
                                    <m:t>𝟐</m:t>
                                  </m:r>
                                </m:den>
                              </m:f>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𝑽</m:t>
                                  </m:r>
                                </m:e>
                                <m:sub>
                                  <m:r>
                                    <a:rPr lang="en-US" b="1" i="1" smtClean="0">
                                      <a:latin typeface="Cambria Math" panose="02040503050406030204" pitchFamily="18" charset="0"/>
                                      <a:ea typeface="Cambria Math" panose="02040503050406030204" pitchFamily="18" charset="0"/>
                                    </a:rPr>
                                    <m:t>𝑫𝑺</m:t>
                                  </m:r>
                                </m:sub>
                              </m:sSub>
                            </m:e>
                          </m:d>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𝑽</m:t>
                              </m:r>
                            </m:e>
                            <m:sub>
                              <m:r>
                                <a:rPr lang="en-US" b="1" i="1" smtClean="0">
                                  <a:latin typeface="Cambria Math" panose="02040503050406030204" pitchFamily="18" charset="0"/>
                                  <a:ea typeface="Cambria Math" panose="02040503050406030204" pitchFamily="18" charset="0"/>
                                </a:rPr>
                                <m:t>𝑫𝑺</m:t>
                              </m:r>
                            </m:sub>
                          </m:sSub>
                        </m:den>
                      </m:f>
                    </m:oMath>
                  </m:oMathPara>
                </a14:m>
                <a:endParaRPr lang="en-US" b="1" dirty="0">
                  <a:latin typeface="Bahnschrift SemiBold Condensed" panose="020B0502040204020203" pitchFamily="34" charset="0"/>
                </a:endParaRPr>
              </a:p>
            </p:txBody>
          </p:sp>
        </mc:Choice>
        <mc:Fallback xmlns="">
          <p:sp>
            <p:nvSpPr>
              <p:cNvPr id="7" name="Content Placeholder 2">
                <a:extLst>
                  <a:ext uri="{FF2B5EF4-FFF2-40B4-BE49-F238E27FC236}">
                    <a16:creationId xmlns:a16="http://schemas.microsoft.com/office/drawing/2014/main" id="{BD92D0E8-6DB6-4F75-88FB-365B590C7C3B}"/>
                  </a:ext>
                </a:extLst>
              </p:cNvPr>
              <p:cNvSpPr txBox="1">
                <a:spLocks noRot="1" noChangeAspect="1" noMove="1" noResize="1" noEditPoints="1" noAdjustHandles="1" noChangeArrowheads="1" noChangeShapeType="1" noTextEdit="1"/>
              </p:cNvSpPr>
              <p:nvPr/>
            </p:nvSpPr>
            <p:spPr>
              <a:xfrm>
                <a:off x="762323" y="1462318"/>
                <a:ext cx="5536708" cy="912713"/>
              </a:xfrm>
              <a:prstGeom prst="rect">
                <a:avLst/>
              </a:prstGeom>
              <a:blipFill>
                <a:blip r:embed="rId5"/>
                <a:stretch>
                  <a:fillRect t="-4000"/>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4563C23B-B322-473E-B8CC-DD030C2E1E95}"/>
              </a:ext>
            </a:extLst>
          </p:cNvPr>
          <p:cNvCxnSpPr/>
          <p:nvPr/>
        </p:nvCxnSpPr>
        <p:spPr>
          <a:xfrm>
            <a:off x="8805708" y="2142761"/>
            <a:ext cx="0" cy="9100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83CB6E8-3AD8-4C7E-97C5-7454A422F2BC}"/>
              </a:ext>
            </a:extLst>
          </p:cNvPr>
          <p:cNvSpPr/>
          <p:nvPr/>
        </p:nvSpPr>
        <p:spPr>
          <a:xfrm>
            <a:off x="8872570" y="1899139"/>
            <a:ext cx="439162" cy="35679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solidFill>
                  <a:srgbClr val="FF0000"/>
                </a:solidFill>
                <a:latin typeface="Bahnschrift SemiBold Condensed" panose="020B0502040204020203" pitchFamily="34" charset="0"/>
              </a:rPr>
              <a:t>Ids</a:t>
            </a:r>
          </a:p>
        </p:txBody>
      </p:sp>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61A4AC6A-BF89-4BA8-B0B1-7091C2D60697}"/>
                  </a:ext>
                </a:extLst>
              </p:cNvPr>
              <p:cNvSpPr txBox="1">
                <a:spLocks/>
              </p:cNvSpPr>
              <p:nvPr/>
            </p:nvSpPr>
            <p:spPr>
              <a:xfrm>
                <a:off x="563246" y="2179671"/>
                <a:ext cx="5303970" cy="10089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
                    </m:oMathParaPr>
                    <m:oMath xmlns:m="http://schemas.openxmlformats.org/officeDocument/2006/math">
                      <m:sSub>
                        <m:sSubPr>
                          <m:ctrlPr>
                            <a:rPr lang="en-US" sz="2000" b="1" i="1" smtClean="0">
                              <a:latin typeface="Cambria Math" panose="02040503050406030204" pitchFamily="18" charset="0"/>
                            </a:rPr>
                          </m:ctrlPr>
                        </m:sSubPr>
                        <m:e>
                          <m:r>
                            <a:rPr lang="en-US" sz="2000" b="1" i="1">
                              <a:latin typeface="Cambria Math" panose="02040503050406030204" pitchFamily="18" charset="0"/>
                            </a:rPr>
                            <m:t>𝑹</m:t>
                          </m:r>
                        </m:e>
                        <m:sub>
                          <m:r>
                            <a:rPr lang="en-US" sz="2000" b="1" i="1">
                              <a:latin typeface="Cambria Math" panose="02040503050406030204" pitchFamily="18" charset="0"/>
                            </a:rPr>
                            <m:t>𝑳𝑺𝑩</m:t>
                          </m:r>
                        </m:sub>
                      </m:sSub>
                      <m:r>
                        <a:rPr lang="en-US" sz="2000" b="1" i="1">
                          <a:latin typeface="Cambria Math" panose="02040503050406030204" pitchFamily="18" charset="0"/>
                        </a:rPr>
                        <m:t>=</m:t>
                      </m:r>
                      <m:f>
                        <m:fPr>
                          <m:ctrlPr>
                            <a:rPr lang="en-US" sz="2000" b="1" i="1">
                              <a:latin typeface="Cambria Math" panose="02040503050406030204" pitchFamily="18" charset="0"/>
                            </a:rPr>
                          </m:ctrlPr>
                        </m:fPr>
                        <m:num>
                          <m:r>
                            <a:rPr lang="en-US" sz="2000" b="1" i="1">
                              <a:latin typeface="Cambria Math" panose="02040503050406030204" pitchFamily="18" charset="0"/>
                            </a:rPr>
                            <m:t>𝟏</m:t>
                          </m:r>
                        </m:num>
                        <m:den>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𝝁</m:t>
                              </m:r>
                            </m:e>
                            <m:sub>
                              <m:r>
                                <a:rPr lang="en-US" sz="2000" b="1" i="1">
                                  <a:latin typeface="Cambria Math" panose="02040503050406030204" pitchFamily="18" charset="0"/>
                                  <a:ea typeface="Cambria Math" panose="02040503050406030204" pitchFamily="18" charset="0"/>
                                </a:rPr>
                                <m:t>𝒏</m:t>
                              </m:r>
                            </m:sub>
                          </m:sSub>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𝑪</m:t>
                              </m:r>
                            </m:e>
                            <m:sub>
                              <m:r>
                                <a:rPr lang="en-US" sz="2000" b="1" i="1">
                                  <a:latin typeface="Cambria Math" panose="02040503050406030204" pitchFamily="18" charset="0"/>
                                  <a:ea typeface="Cambria Math" panose="02040503050406030204" pitchFamily="18" charset="0"/>
                                </a:rPr>
                                <m:t>𝒐𝒙</m:t>
                              </m:r>
                            </m:sub>
                          </m:sSub>
                          <m:r>
                            <a:rPr lang="en-US" sz="2000" b="1" i="1">
                              <a:latin typeface="Cambria Math" panose="02040503050406030204" pitchFamily="18" charset="0"/>
                              <a:ea typeface="Cambria Math" panose="02040503050406030204" pitchFamily="18" charset="0"/>
                            </a:rPr>
                            <m:t>.</m:t>
                          </m:r>
                          <m:f>
                            <m:fPr>
                              <m:ctrlPr>
                                <a:rPr lang="en-US" sz="2000" b="1" i="1">
                                  <a:latin typeface="Cambria Math" panose="02040503050406030204" pitchFamily="18" charset="0"/>
                                  <a:ea typeface="Cambria Math" panose="02040503050406030204" pitchFamily="18" charset="0"/>
                                </a:rPr>
                              </m:ctrlPr>
                            </m:fPr>
                            <m:num>
                              <m:r>
                                <a:rPr lang="en-US" sz="2000" b="1" i="1">
                                  <a:latin typeface="Cambria Math" panose="02040503050406030204" pitchFamily="18" charset="0"/>
                                  <a:ea typeface="Cambria Math" panose="02040503050406030204" pitchFamily="18" charset="0"/>
                                </a:rPr>
                                <m:t>𝑾</m:t>
                              </m:r>
                            </m:num>
                            <m:den>
                              <m:r>
                                <a:rPr lang="en-US" sz="2000" b="1" i="1">
                                  <a:latin typeface="Cambria Math" panose="02040503050406030204" pitchFamily="18" charset="0"/>
                                  <a:ea typeface="Cambria Math" panose="02040503050406030204" pitchFamily="18" charset="0"/>
                                </a:rPr>
                                <m:t>𝑳</m:t>
                              </m:r>
                            </m:den>
                          </m:f>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𝑽</m:t>
                              </m:r>
                            </m:e>
                            <m:sub>
                              <m:r>
                                <a:rPr lang="en-US" sz="2000" b="1" i="1">
                                  <a:latin typeface="Cambria Math" panose="02040503050406030204" pitchFamily="18" charset="0"/>
                                  <a:ea typeface="Cambria Math" panose="02040503050406030204" pitchFamily="18" charset="0"/>
                                </a:rPr>
                                <m:t>𝑮𝑺</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𝑽</m:t>
                              </m:r>
                            </m:e>
                            <m:sub>
                              <m:r>
                                <a:rPr lang="en-US" sz="2000" b="1" i="1">
                                  <a:latin typeface="Cambria Math" panose="02040503050406030204" pitchFamily="18" charset="0"/>
                                  <a:ea typeface="Cambria Math" panose="02040503050406030204" pitchFamily="18" charset="0"/>
                                </a:rPr>
                                <m:t>𝑻𝑯</m:t>
                              </m:r>
                            </m:sub>
                          </m:sSub>
                          <m:r>
                            <a:rPr lang="en-US" sz="2000" b="1" i="1">
                              <a:latin typeface="Cambria Math" panose="02040503050406030204" pitchFamily="18" charset="0"/>
                              <a:ea typeface="Cambria Math" panose="02040503050406030204" pitchFamily="18" charset="0"/>
                            </a:rPr>
                            <m:t>)</m:t>
                          </m:r>
                        </m:den>
                      </m:f>
                    </m:oMath>
                  </m:oMathPara>
                </a14:m>
                <a:endParaRPr lang="en-US" sz="2000" b="1" dirty="0"/>
              </a:p>
            </p:txBody>
          </p:sp>
        </mc:Choice>
        <mc:Fallback xmlns="">
          <p:sp>
            <p:nvSpPr>
              <p:cNvPr id="13" name="Content Placeholder 2">
                <a:extLst>
                  <a:ext uri="{FF2B5EF4-FFF2-40B4-BE49-F238E27FC236}">
                    <a16:creationId xmlns:a16="http://schemas.microsoft.com/office/drawing/2014/main" id="{61A4AC6A-BF89-4BA8-B0B1-7091C2D60697}"/>
                  </a:ext>
                </a:extLst>
              </p:cNvPr>
              <p:cNvSpPr txBox="1">
                <a:spLocks noRot="1" noChangeAspect="1" noMove="1" noResize="1" noEditPoints="1" noAdjustHandles="1" noChangeArrowheads="1" noChangeShapeType="1" noTextEdit="1"/>
              </p:cNvSpPr>
              <p:nvPr/>
            </p:nvSpPr>
            <p:spPr>
              <a:xfrm>
                <a:off x="563246" y="2179671"/>
                <a:ext cx="5303970" cy="1008974"/>
              </a:xfrm>
              <a:prstGeom prst="rect">
                <a:avLst/>
              </a:prstGeom>
              <a:blipFill>
                <a:blip r:embed="rId6"/>
                <a:stretch>
                  <a:fillRect/>
                </a:stretch>
              </a:blipFill>
            </p:spPr>
            <p:txBody>
              <a:bodyPr/>
              <a:lstStyle/>
              <a:p>
                <a:r>
                  <a:rPr lang="en-US">
                    <a:noFill/>
                  </a:rPr>
                  <a:t> </a:t>
                </a:r>
              </a:p>
            </p:txBody>
          </p:sp>
        </mc:Fallback>
      </mc:AlternateContent>
      <p:sp>
        <p:nvSpPr>
          <p:cNvPr id="14" name="Arrow: Right 13">
            <a:extLst>
              <a:ext uri="{FF2B5EF4-FFF2-40B4-BE49-F238E27FC236}">
                <a16:creationId xmlns:a16="http://schemas.microsoft.com/office/drawing/2014/main" id="{41DD703C-8ADA-4B26-B9CE-5ACD1CB55167}"/>
              </a:ext>
            </a:extLst>
          </p:cNvPr>
          <p:cNvSpPr/>
          <p:nvPr/>
        </p:nvSpPr>
        <p:spPr>
          <a:xfrm>
            <a:off x="65925" y="3828928"/>
            <a:ext cx="368795" cy="4971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CA9708ED-D645-40A8-96CD-2AA59FDE969F}"/>
                  </a:ext>
                </a:extLst>
              </p:cNvPr>
              <p:cNvSpPr>
                <a:spLocks noGrp="1"/>
              </p:cNvSpPr>
              <p:nvPr>
                <p:ph idx="1"/>
              </p:nvPr>
            </p:nvSpPr>
            <p:spPr>
              <a:xfrm>
                <a:off x="677231" y="3173990"/>
                <a:ext cx="5930537" cy="446638"/>
              </a:xfrm>
            </p:spPr>
            <p:txBody>
              <a:bodyPr>
                <a:normAutofit/>
              </a:bodyPr>
              <a:lstStyle/>
              <a:p>
                <a:pPr marL="0" indent="0">
                  <a:buNone/>
                </a:pPr>
                <a:r>
                  <a:rPr lang="en-US" sz="2000" dirty="0">
                    <a:solidFill>
                      <a:srgbClr val="FF0000"/>
                    </a:solidFill>
                  </a:rPr>
                  <a:t>If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𝑉</m:t>
                        </m:r>
                      </m:e>
                      <m:sub>
                        <m:r>
                          <a:rPr lang="en-US" sz="2000" b="0" i="1" smtClean="0">
                            <a:solidFill>
                              <a:srgbClr val="FF0000"/>
                            </a:solidFill>
                            <a:latin typeface="Cambria Math" panose="02040503050406030204" pitchFamily="18" charset="0"/>
                          </a:rPr>
                          <m:t>𝐷𝑆</m:t>
                        </m:r>
                      </m:sub>
                    </m:sSub>
                    <m:r>
                      <a:rPr lang="en-US" sz="2000" b="0" i="1" smtClean="0">
                        <a:solidFill>
                          <a:srgbClr val="FF0000"/>
                        </a:solidFill>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𝑉</m:t>
                        </m:r>
                      </m:e>
                      <m:sub>
                        <m:r>
                          <a:rPr lang="en-US" sz="2000" b="0" i="1" smtClean="0">
                            <a:solidFill>
                              <a:srgbClr val="FF0000"/>
                            </a:solidFill>
                            <a:latin typeface="Cambria Math" panose="02040503050406030204" pitchFamily="18" charset="0"/>
                          </a:rPr>
                          <m:t>𝐺𝑆</m:t>
                        </m:r>
                      </m:sub>
                    </m:sSub>
                    <m:r>
                      <a:rPr lang="en-US" sz="2000" b="0" i="1" smtClean="0">
                        <a:solidFill>
                          <a:srgbClr val="FF0000"/>
                        </a:solidFill>
                        <a:latin typeface="Cambria Math" panose="02040503050406030204" pitchFamily="18" charset="0"/>
                      </a:rPr>
                      <m:t>−</m:t>
                    </m:r>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𝑉</m:t>
                        </m:r>
                      </m:e>
                      <m:sub>
                        <m:r>
                          <a:rPr lang="en-US" sz="2000" b="0" i="1" smtClean="0">
                            <a:solidFill>
                              <a:srgbClr val="FF0000"/>
                            </a:solidFill>
                            <a:latin typeface="Cambria Math" panose="02040503050406030204" pitchFamily="18" charset="0"/>
                          </a:rPr>
                          <m:t>𝑇𝐻</m:t>
                        </m:r>
                      </m:sub>
                    </m:sSub>
                  </m:oMath>
                </a14:m>
                <a:r>
                  <a:rPr lang="en-US" sz="2000" dirty="0">
                    <a:solidFill>
                      <a:srgbClr val="FF0000"/>
                    </a:solidFill>
                  </a:rPr>
                  <a:t>,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𝑅</m:t>
                        </m:r>
                      </m:e>
                      <m:sub>
                        <m:r>
                          <a:rPr lang="en-US" sz="2000" b="0" i="1" smtClean="0">
                            <a:solidFill>
                              <a:srgbClr val="FF0000"/>
                            </a:solidFill>
                            <a:latin typeface="Cambria Math" panose="02040503050406030204" pitchFamily="18" charset="0"/>
                          </a:rPr>
                          <m:t>𝐿𝑆𝐵</m:t>
                        </m:r>
                      </m:sub>
                    </m:sSub>
                  </m:oMath>
                </a14:m>
                <a:r>
                  <a:rPr lang="en-US" sz="2000" dirty="0">
                    <a:solidFill>
                      <a:srgbClr val="FF0000"/>
                    </a:solidFill>
                  </a:rPr>
                  <a:t> is not depended on </a:t>
                </a:r>
                <a14:m>
                  <m:oMath xmlns:m="http://schemas.openxmlformats.org/officeDocument/2006/math">
                    <m:sSub>
                      <m:sSubPr>
                        <m:ctrlPr>
                          <a:rPr lang="en-US" sz="2000" b="0" i="1" smtClean="0">
                            <a:solidFill>
                              <a:srgbClr val="FF0000"/>
                            </a:solidFill>
                            <a:latin typeface="Cambria Math" panose="02040503050406030204" pitchFamily="18" charset="0"/>
                          </a:rPr>
                        </m:ctrlPr>
                      </m:sSubPr>
                      <m:e>
                        <m:r>
                          <a:rPr lang="en-US" sz="2000" b="0" i="1" smtClean="0">
                            <a:solidFill>
                              <a:srgbClr val="FF0000"/>
                            </a:solidFill>
                            <a:latin typeface="Cambria Math" panose="02040503050406030204" pitchFamily="18" charset="0"/>
                          </a:rPr>
                          <m:t>𝑉</m:t>
                        </m:r>
                      </m:e>
                      <m:sub>
                        <m:r>
                          <a:rPr lang="en-US" sz="2000" b="0" i="1" smtClean="0">
                            <a:solidFill>
                              <a:srgbClr val="FF0000"/>
                            </a:solidFill>
                            <a:latin typeface="Cambria Math" panose="02040503050406030204" pitchFamily="18" charset="0"/>
                          </a:rPr>
                          <m:t>𝐷𝑆</m:t>
                        </m:r>
                      </m:sub>
                    </m:sSub>
                  </m:oMath>
                </a14:m>
                <a:r>
                  <a:rPr lang="en-US" sz="2000" dirty="0">
                    <a:solidFill>
                      <a:srgbClr val="FF0000"/>
                    </a:solidFill>
                  </a:rPr>
                  <a:t> </a:t>
                </a:r>
              </a:p>
            </p:txBody>
          </p:sp>
        </mc:Choice>
        <mc:Fallback xmlns="">
          <p:sp>
            <p:nvSpPr>
              <p:cNvPr id="17" name="Content Placeholder 2">
                <a:extLst>
                  <a:ext uri="{FF2B5EF4-FFF2-40B4-BE49-F238E27FC236}">
                    <a16:creationId xmlns:a16="http://schemas.microsoft.com/office/drawing/2014/main" id="{CA9708ED-D645-40A8-96CD-2AA59FDE969F}"/>
                  </a:ext>
                </a:extLst>
              </p:cNvPr>
              <p:cNvSpPr>
                <a:spLocks noGrp="1" noRot="1" noChangeAspect="1" noMove="1" noResize="1" noEditPoints="1" noAdjustHandles="1" noChangeArrowheads="1" noChangeShapeType="1" noTextEdit="1"/>
              </p:cNvSpPr>
              <p:nvPr>
                <p:ph idx="1"/>
              </p:nvPr>
            </p:nvSpPr>
            <p:spPr>
              <a:xfrm>
                <a:off x="677231" y="3173990"/>
                <a:ext cx="5930537" cy="446638"/>
              </a:xfrm>
              <a:blipFill>
                <a:blip r:embed="rId7"/>
                <a:stretch>
                  <a:fillRect l="-1028" t="-15068" b="-68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itle 1">
                <a:extLst>
                  <a:ext uri="{FF2B5EF4-FFF2-40B4-BE49-F238E27FC236}">
                    <a16:creationId xmlns:a16="http://schemas.microsoft.com/office/drawing/2014/main" id="{76701CC6-9F2E-4796-8790-F1D3850F779C}"/>
                  </a:ext>
                </a:extLst>
              </p:cNvPr>
              <p:cNvSpPr txBox="1">
                <a:spLocks/>
              </p:cNvSpPr>
              <p:nvPr/>
            </p:nvSpPr>
            <p:spPr>
              <a:xfrm>
                <a:off x="926454" y="4594985"/>
                <a:ext cx="5506189" cy="632075"/>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Choose </a:t>
                </a:r>
                <a14:m>
                  <m:oMath xmlns:m="http://schemas.openxmlformats.org/officeDocument/2006/math">
                    <m:r>
                      <a:rPr lang="en-US" sz="2000" b="1" i="1" smtClean="0">
                        <a:latin typeface="Cambria Math" panose="02040503050406030204" pitchFamily="18" charset="0"/>
                      </a:rPr>
                      <m:t> </m:t>
                    </m:r>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𝑹</m:t>
                        </m:r>
                      </m:e>
                      <m:sub>
                        <m:r>
                          <a:rPr lang="en-US" sz="2000" b="1" i="1" smtClean="0">
                            <a:latin typeface="Cambria Math" panose="02040503050406030204" pitchFamily="18" charset="0"/>
                          </a:rPr>
                          <m:t>𝒑𝒐𝒍𝒚</m:t>
                        </m:r>
                      </m:sub>
                    </m:sSub>
                    <m:r>
                      <a:rPr lang="en-US" sz="2000" b="1" i="1" smtClean="0">
                        <a:latin typeface="Cambria Math" panose="02040503050406030204" pitchFamily="18" charset="0"/>
                      </a:rPr>
                      <m:t>=</m:t>
                    </m:r>
                    <m:r>
                      <a:rPr lang="en-US" sz="2000" b="1" i="1" smtClean="0">
                        <a:latin typeface="Cambria Math" panose="02040503050406030204" pitchFamily="18" charset="0"/>
                      </a:rPr>
                      <m:t>𝟑𝟓𝟎</m:t>
                    </m:r>
                    <m:r>
                      <a:rPr lang="en-US" sz="2000" b="1" i="0" smtClean="0">
                        <a:latin typeface="Cambria Math" panose="02040503050406030204" pitchFamily="18" charset="0"/>
                      </a:rPr>
                      <m:t>𝛀</m:t>
                    </m:r>
                    <m:r>
                      <a:rPr lang="en-US" sz="2000" b="1" i="1" smtClean="0">
                        <a:latin typeface="Cambria Math" panose="02040503050406030204" pitchFamily="18" charset="0"/>
                      </a:rPr>
                      <m:t> </m:t>
                    </m:r>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𝑹</m:t>
                        </m:r>
                      </m:e>
                      <m:sub>
                        <m:r>
                          <a:rPr lang="en-US" sz="2000" b="1" i="1" smtClean="0">
                            <a:latin typeface="Cambria Math" panose="02040503050406030204" pitchFamily="18" charset="0"/>
                            <a:ea typeface="Cambria Math" panose="02040503050406030204" pitchFamily="18" charset="0"/>
                          </a:rPr>
                          <m:t>𝑴𝑶𝑺</m:t>
                        </m:r>
                      </m:sub>
                    </m:sSub>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𝟐𝟓𝟎</m:t>
                    </m:r>
                    <m:r>
                      <a:rPr lang="en-US" sz="2000" b="1" i="0" smtClean="0">
                        <a:latin typeface="Cambria Math" panose="02040503050406030204" pitchFamily="18" charset="0"/>
                        <a:ea typeface="Cambria Math" panose="02040503050406030204" pitchFamily="18" charset="0"/>
                      </a:rPr>
                      <m:t>𝛀</m:t>
                    </m:r>
                  </m:oMath>
                </a14:m>
                <a:endParaRPr lang="en-US" sz="2000" b="1"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 </m:t>
                      </m:r>
                    </m:oMath>
                  </m:oMathPara>
                </a14:m>
                <a:endParaRPr lang="en-US" sz="2000" b="1" dirty="0">
                  <a:latin typeface="Bahnschrift SemiBold Condensed" panose="020B0502040204020203" pitchFamily="34" charset="0"/>
                </a:endParaRPr>
              </a:p>
            </p:txBody>
          </p:sp>
        </mc:Choice>
        <mc:Fallback xmlns="">
          <p:sp>
            <p:nvSpPr>
              <p:cNvPr id="18" name="Title 1">
                <a:extLst>
                  <a:ext uri="{FF2B5EF4-FFF2-40B4-BE49-F238E27FC236}">
                    <a16:creationId xmlns:a16="http://schemas.microsoft.com/office/drawing/2014/main" id="{76701CC6-9F2E-4796-8790-F1D3850F779C}"/>
                  </a:ext>
                </a:extLst>
              </p:cNvPr>
              <p:cNvSpPr txBox="1">
                <a:spLocks noRot="1" noChangeAspect="1" noMove="1" noResize="1" noEditPoints="1" noAdjustHandles="1" noChangeArrowheads="1" noChangeShapeType="1" noTextEdit="1"/>
              </p:cNvSpPr>
              <p:nvPr/>
            </p:nvSpPr>
            <p:spPr>
              <a:xfrm>
                <a:off x="926454" y="4594985"/>
                <a:ext cx="5506189" cy="632075"/>
              </a:xfrm>
              <a:prstGeom prst="rect">
                <a:avLst/>
              </a:prstGeom>
              <a:blipFill>
                <a:blip r:embed="rId8"/>
                <a:stretch>
                  <a:fillRect l="-1218" t="-126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itle 1">
                <a:extLst>
                  <a:ext uri="{FF2B5EF4-FFF2-40B4-BE49-F238E27FC236}">
                    <a16:creationId xmlns:a16="http://schemas.microsoft.com/office/drawing/2014/main" id="{D0965E6F-F048-450D-A026-D9271176B3AF}"/>
                  </a:ext>
                </a:extLst>
              </p:cNvPr>
              <p:cNvSpPr txBox="1">
                <a:spLocks/>
              </p:cNvSpPr>
              <p:nvPr/>
            </p:nvSpPr>
            <p:spPr>
              <a:xfrm>
                <a:off x="638838" y="4911023"/>
                <a:ext cx="6313939" cy="18254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0000"/>
                  </a:lnSpc>
                </a:pPr>
                <a:r>
                  <a:rPr lang="en-US" sz="1800" b="1" i="0" dirty="0">
                    <a:latin typeface="Bahnschrift SemiBold Condensed" panose="020B0502040204020203" pitchFamily="34" charset="0"/>
                    <a:ea typeface="Cambria Math" panose="02040503050406030204" pitchFamily="18" charset="0"/>
                  </a:rPr>
                  <a:t>For ens</a:t>
                </a:r>
                <a:r>
                  <a:rPr lang="en-US" sz="1800" b="1" dirty="0">
                    <a:latin typeface="Bahnschrift SemiBold Condensed" panose="020B0502040204020203" pitchFamily="34" charset="0"/>
                    <a:ea typeface="Cambria Math" panose="02040503050406030204" pitchFamily="18" charset="0"/>
                  </a:rPr>
                  <a:t>ure, the data transmit good, we need the value of resistor receive larger than the value of the switch. I choose </a:t>
                </a:r>
                <a14:m>
                  <m:oMath xmlns:m="http://schemas.openxmlformats.org/officeDocument/2006/math">
                    <m:sSub>
                      <m:sSubPr>
                        <m:ctrlPr>
                          <a:rPr lang="en-US" sz="1800" b="1"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𝑹</m:t>
                        </m:r>
                      </m:e>
                      <m:sub>
                        <m:r>
                          <a:rPr lang="en-US" sz="1800" b="1" i="1" smtClean="0">
                            <a:latin typeface="Cambria Math" panose="02040503050406030204" pitchFamily="18" charset="0"/>
                            <a:ea typeface="Cambria Math" panose="02040503050406030204" pitchFamily="18" charset="0"/>
                          </a:rPr>
                          <m:t>𝑳𝑺𝑩</m:t>
                        </m:r>
                      </m:sub>
                    </m:sSub>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𝟓𝟎</m:t>
                    </m:r>
                    <m:r>
                      <a:rPr lang="en-US" sz="1800" b="1" i="1" smtClean="0">
                        <a:latin typeface="Cambria Math" panose="02040503050406030204" pitchFamily="18" charset="0"/>
                        <a:ea typeface="Cambria Math" panose="02040503050406030204" pitchFamily="18" charset="0"/>
                      </a:rPr>
                      <m:t>%∗</m:t>
                    </m:r>
                    <m:sSub>
                      <m:sSubPr>
                        <m:ctrlPr>
                          <a:rPr lang="en-US" sz="1800" b="1"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𝑹</m:t>
                        </m:r>
                      </m:e>
                      <m:sub>
                        <m:r>
                          <a:rPr lang="en-US" sz="1800" b="1" i="1" smtClean="0">
                            <a:latin typeface="Cambria Math" panose="02040503050406030204" pitchFamily="18" charset="0"/>
                            <a:ea typeface="Cambria Math" panose="02040503050406030204" pitchFamily="18" charset="0"/>
                          </a:rPr>
                          <m:t>𝑴𝑶𝑺</m:t>
                        </m:r>
                      </m:sub>
                    </m:sSub>
                  </m:oMath>
                </a14:m>
                <a:r>
                  <a:rPr lang="en-US" sz="1800" b="1" i="0" dirty="0">
                    <a:latin typeface="Bahnschrift SemiBold Condensed" panose="020B0502040204020203" pitchFamily="34" charset="0"/>
                    <a:ea typeface="Cambria Math" panose="02040503050406030204" pitchFamily="18" charset="0"/>
                  </a:rPr>
                  <a:t> and </a:t>
                </a:r>
                <a14:m>
                  <m:oMath xmlns:m="http://schemas.openxmlformats.org/officeDocument/2006/math">
                    <m:sSub>
                      <m:sSubPr>
                        <m:ctrlPr>
                          <a:rPr lang="en-US" sz="1800" b="1"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𝑹</m:t>
                        </m:r>
                      </m:e>
                      <m:sub>
                        <m:r>
                          <a:rPr lang="en-US" sz="1800" b="1" i="1" smtClean="0">
                            <a:latin typeface="Cambria Math" panose="02040503050406030204" pitchFamily="18" charset="0"/>
                            <a:ea typeface="Cambria Math" panose="02040503050406030204" pitchFamily="18" charset="0"/>
                          </a:rPr>
                          <m:t>𝒔𝒘</m:t>
                        </m:r>
                        <m:r>
                          <a:rPr lang="en-US" sz="1800" b="1" i="1" smtClean="0">
                            <a:latin typeface="Cambria Math" panose="02040503050406030204" pitchFamily="18" charset="0"/>
                            <a:ea typeface="Cambria Math" panose="02040503050406030204" pitchFamily="18" charset="0"/>
                          </a:rPr>
                          <m:t>𝟏</m:t>
                        </m:r>
                      </m:sub>
                    </m:sSub>
                    <m:r>
                      <a:rPr lang="en-US" sz="1800" b="1" i="1" smtClean="0">
                        <a:latin typeface="Cambria Math" panose="02040503050406030204" pitchFamily="18" charset="0"/>
                        <a:ea typeface="Cambria Math" panose="02040503050406030204" pitchFamily="18" charset="0"/>
                      </a:rPr>
                      <m:t>=</m:t>
                    </m:r>
                    <m:r>
                      <a:rPr lang="en-US" sz="1800" b="1" i="1" smtClean="0">
                        <a:latin typeface="Cambria Math" panose="02040503050406030204" pitchFamily="18" charset="0"/>
                        <a:ea typeface="Cambria Math" panose="02040503050406030204" pitchFamily="18" charset="0"/>
                      </a:rPr>
                      <m:t>𝟓𝟎</m:t>
                    </m:r>
                    <m:r>
                      <a:rPr lang="en-US" sz="1800" b="1" i="1" smtClean="0">
                        <a:latin typeface="Cambria Math" panose="02040503050406030204" pitchFamily="18" charset="0"/>
                        <a:ea typeface="Cambria Math" panose="02040503050406030204" pitchFamily="18" charset="0"/>
                      </a:rPr>
                      <m:t>%∗</m:t>
                    </m:r>
                    <m:sSub>
                      <m:sSubPr>
                        <m:ctrlPr>
                          <a:rPr lang="en-US" sz="1800" b="1"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𝑹</m:t>
                        </m:r>
                      </m:e>
                      <m:sub>
                        <m:r>
                          <a:rPr lang="en-US" sz="1800" b="1" i="1" smtClean="0">
                            <a:latin typeface="Cambria Math" panose="02040503050406030204" pitchFamily="18" charset="0"/>
                            <a:ea typeface="Cambria Math" panose="02040503050406030204" pitchFamily="18" charset="0"/>
                          </a:rPr>
                          <m:t>𝑴𝑶𝑺</m:t>
                        </m:r>
                      </m:sub>
                    </m:sSub>
                  </m:oMath>
                </a14:m>
                <a:r>
                  <a:rPr lang="en-US" sz="1800" b="1" i="0" dirty="0">
                    <a:latin typeface="Bahnschrift SemiBold Condensed" panose="020B0502040204020203" pitchFamily="34" charset="0"/>
                    <a:ea typeface="Cambria Math" panose="02040503050406030204" pitchFamily="18" charset="0"/>
                  </a:rPr>
                  <a:t>. </a:t>
                </a:r>
                <a:r>
                  <a:rPr lang="en-US" sz="1800" b="1" dirty="0">
                    <a:latin typeface="Bahnschrift SemiBold Condensed" panose="020B0502040204020203" pitchFamily="34" charset="0"/>
                    <a:ea typeface="Cambria Math" panose="02040503050406030204" pitchFamily="18" charset="0"/>
                  </a:rPr>
                  <a:t>We find the ratio of </a:t>
                </a:r>
                <a14:m>
                  <m:oMath xmlns:m="http://schemas.openxmlformats.org/officeDocument/2006/math">
                    <m:sSub>
                      <m:sSubPr>
                        <m:ctrlPr>
                          <a:rPr lang="en-US" sz="1800" b="1" i="1" smtClean="0">
                            <a:latin typeface="Cambria Math" panose="02040503050406030204" pitchFamily="18" charset="0"/>
                            <a:ea typeface="Cambria Math" panose="02040503050406030204" pitchFamily="18" charset="0"/>
                          </a:rPr>
                        </m:ctrlPr>
                      </m:sSubPr>
                      <m:e>
                        <m:d>
                          <m:dPr>
                            <m:ctrlPr>
                              <a:rPr lang="en-US" sz="1800" b="1" i="1" smtClean="0">
                                <a:latin typeface="Cambria Math" panose="02040503050406030204" pitchFamily="18" charset="0"/>
                                <a:ea typeface="Cambria Math" panose="02040503050406030204" pitchFamily="18" charset="0"/>
                              </a:rPr>
                            </m:ctrlPr>
                          </m:dPr>
                          <m:e>
                            <m:f>
                              <m:fPr>
                                <m:ctrlPr>
                                  <a:rPr lang="en-US" sz="1800" b="1" i="1" smtClean="0">
                                    <a:latin typeface="Cambria Math" panose="02040503050406030204" pitchFamily="18" charset="0"/>
                                    <a:ea typeface="Cambria Math" panose="02040503050406030204" pitchFamily="18" charset="0"/>
                                  </a:rPr>
                                </m:ctrlPr>
                              </m:fPr>
                              <m:num>
                                <m:r>
                                  <a:rPr lang="en-US" sz="1800" b="1" i="1" smtClean="0">
                                    <a:latin typeface="Cambria Math" panose="02040503050406030204" pitchFamily="18" charset="0"/>
                                    <a:ea typeface="Cambria Math" panose="02040503050406030204" pitchFamily="18" charset="0"/>
                                  </a:rPr>
                                  <m:t>𝑾</m:t>
                                </m:r>
                              </m:num>
                              <m:den>
                                <m:r>
                                  <a:rPr lang="en-US" sz="1800" b="1" i="1" smtClean="0">
                                    <a:latin typeface="Cambria Math" panose="02040503050406030204" pitchFamily="18" charset="0"/>
                                    <a:ea typeface="Cambria Math" panose="02040503050406030204" pitchFamily="18" charset="0"/>
                                  </a:rPr>
                                  <m:t>𝑳</m:t>
                                </m:r>
                              </m:den>
                            </m:f>
                          </m:e>
                        </m:d>
                      </m:e>
                      <m:sub>
                        <m:sSub>
                          <m:sSubPr>
                            <m:ctrlPr>
                              <a:rPr lang="en-US" sz="1800" b="1" i="1" smtClean="0">
                                <a:latin typeface="Cambria Math" panose="02040503050406030204" pitchFamily="18" charset="0"/>
                                <a:ea typeface="Cambria Math" panose="02040503050406030204" pitchFamily="18" charset="0"/>
                              </a:rPr>
                            </m:ctrlPr>
                          </m:sSubPr>
                          <m:e>
                            <m:r>
                              <a:rPr lang="en-US" sz="1800" b="1" i="1" smtClean="0">
                                <a:latin typeface="Cambria Math" panose="02040503050406030204" pitchFamily="18" charset="0"/>
                                <a:ea typeface="Cambria Math" panose="02040503050406030204" pitchFamily="18" charset="0"/>
                              </a:rPr>
                              <m:t>𝑹</m:t>
                            </m:r>
                          </m:e>
                          <m:sub>
                            <m:r>
                              <a:rPr lang="en-US" sz="1800" b="1" i="1" smtClean="0">
                                <a:latin typeface="Cambria Math" panose="02040503050406030204" pitchFamily="18" charset="0"/>
                                <a:ea typeface="Cambria Math" panose="02040503050406030204" pitchFamily="18" charset="0"/>
                              </a:rPr>
                              <m:t>𝑳𝑺𝑩</m:t>
                            </m:r>
                          </m:sub>
                        </m:sSub>
                      </m:sub>
                    </m:sSub>
                    <m:r>
                      <a:rPr lang="en-US" sz="1800" b="1" i="1" smtClean="0">
                        <a:latin typeface="Cambria Math" panose="02040503050406030204" pitchFamily="18" charset="0"/>
                        <a:ea typeface="Cambria Math" panose="02040503050406030204" pitchFamily="18" charset="0"/>
                      </a:rPr>
                      <m:t> </m:t>
                    </m:r>
                  </m:oMath>
                </a14:m>
                <a:r>
                  <a:rPr lang="en-US" sz="1800" b="1" i="0" dirty="0">
                    <a:latin typeface="Bahnschrift SemiBold Condensed" panose="020B0502040204020203" pitchFamily="34" charset="0"/>
                    <a:ea typeface="Cambria Math" panose="02040503050406030204" pitchFamily="18" charset="0"/>
                  </a:rPr>
                  <a:t>then just multiple with the weight of binary code</a:t>
                </a:r>
              </a:p>
              <a:p>
                <a:pPr algn="just">
                  <a:lnSpc>
                    <a:spcPct val="100000"/>
                  </a:lnSpc>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 </m:t>
                      </m:r>
                    </m:oMath>
                  </m:oMathPara>
                </a14:m>
                <a:endParaRPr lang="en-US" sz="1800" b="1" dirty="0">
                  <a:latin typeface="Bahnschrift SemiBold Condensed" panose="020B0502040204020203" pitchFamily="34" charset="0"/>
                </a:endParaRPr>
              </a:p>
            </p:txBody>
          </p:sp>
        </mc:Choice>
        <mc:Fallback xmlns="">
          <p:sp>
            <p:nvSpPr>
              <p:cNvPr id="19" name="Title 1">
                <a:extLst>
                  <a:ext uri="{FF2B5EF4-FFF2-40B4-BE49-F238E27FC236}">
                    <a16:creationId xmlns:a16="http://schemas.microsoft.com/office/drawing/2014/main" id="{D0965E6F-F048-450D-A026-D9271176B3AF}"/>
                  </a:ext>
                </a:extLst>
              </p:cNvPr>
              <p:cNvSpPr txBox="1">
                <a:spLocks noRot="1" noChangeAspect="1" noMove="1" noResize="1" noEditPoints="1" noAdjustHandles="1" noChangeArrowheads="1" noChangeShapeType="1" noTextEdit="1"/>
              </p:cNvSpPr>
              <p:nvPr/>
            </p:nvSpPr>
            <p:spPr>
              <a:xfrm>
                <a:off x="638838" y="4911023"/>
                <a:ext cx="6313939" cy="1825410"/>
              </a:xfrm>
              <a:prstGeom prst="rect">
                <a:avLst/>
              </a:prstGeom>
              <a:blipFill>
                <a:blip r:embed="rId9"/>
                <a:stretch>
                  <a:fillRect l="-869" r="-772"/>
                </a:stretch>
              </a:blipFill>
            </p:spPr>
            <p:txBody>
              <a:bodyPr/>
              <a:lstStyle/>
              <a:p>
                <a:r>
                  <a:rPr lang="en-US">
                    <a:noFill/>
                  </a:rPr>
                  <a:t> </a:t>
                </a:r>
              </a:p>
            </p:txBody>
          </p:sp>
        </mc:Fallback>
      </mc:AlternateContent>
      <p:sp>
        <p:nvSpPr>
          <p:cNvPr id="20" name="Flowchart: Terminator 19">
            <a:extLst>
              <a:ext uri="{FF2B5EF4-FFF2-40B4-BE49-F238E27FC236}">
                <a16:creationId xmlns:a16="http://schemas.microsoft.com/office/drawing/2014/main" id="{F35852C9-0246-40BF-A64B-EC2FA1A5F003}"/>
              </a:ext>
            </a:extLst>
          </p:cNvPr>
          <p:cNvSpPr/>
          <p:nvPr/>
        </p:nvSpPr>
        <p:spPr>
          <a:xfrm>
            <a:off x="7537136" y="1689700"/>
            <a:ext cx="3492578" cy="2139227"/>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lowchart: Terminator 23">
            <a:extLst>
              <a:ext uri="{FF2B5EF4-FFF2-40B4-BE49-F238E27FC236}">
                <a16:creationId xmlns:a16="http://schemas.microsoft.com/office/drawing/2014/main" id="{39E777A0-CE37-4127-B18C-F9454408352A}"/>
              </a:ext>
            </a:extLst>
          </p:cNvPr>
          <p:cNvSpPr/>
          <p:nvPr/>
        </p:nvSpPr>
        <p:spPr>
          <a:xfrm>
            <a:off x="7742034" y="3928188"/>
            <a:ext cx="3492577" cy="2593910"/>
          </a:xfrm>
          <a:prstGeom prst="flowChartTermina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Date Placeholder 32">
            <a:extLst>
              <a:ext uri="{FF2B5EF4-FFF2-40B4-BE49-F238E27FC236}">
                <a16:creationId xmlns:a16="http://schemas.microsoft.com/office/drawing/2014/main" id="{83CF503C-AF33-4DDB-B4EE-FC540C7BA46F}"/>
              </a:ext>
            </a:extLst>
          </p:cNvPr>
          <p:cNvSpPr>
            <a:spLocks noGrp="1"/>
          </p:cNvSpPr>
          <p:nvPr>
            <p:ph type="dt" sz="half" idx="10"/>
          </p:nvPr>
        </p:nvSpPr>
        <p:spPr/>
        <p:txBody>
          <a:bodyPr/>
          <a:lstStyle/>
          <a:p>
            <a:fld id="{ECDF825D-21BB-49DB-8B58-CF009066AA0D}" type="datetime1">
              <a:rPr lang="en-US" sz="2400" smtClean="0"/>
              <a:t>6/3/2025</a:t>
            </a:fld>
            <a:endParaRPr lang="en-US" sz="2400"/>
          </a:p>
        </p:txBody>
      </p:sp>
      <p:sp>
        <p:nvSpPr>
          <p:cNvPr id="34" name="Footer Placeholder 33">
            <a:extLst>
              <a:ext uri="{FF2B5EF4-FFF2-40B4-BE49-F238E27FC236}">
                <a16:creationId xmlns:a16="http://schemas.microsoft.com/office/drawing/2014/main" id="{D263A5F5-C6EF-4123-B46D-B6EC330BCB57}"/>
              </a:ext>
            </a:extLst>
          </p:cNvPr>
          <p:cNvSpPr>
            <a:spLocks noGrp="1"/>
          </p:cNvSpPr>
          <p:nvPr>
            <p:ph type="ftr" sz="quarter" idx="11"/>
          </p:nvPr>
        </p:nvSpPr>
        <p:spPr/>
        <p:txBody>
          <a:bodyPr/>
          <a:lstStyle/>
          <a:p>
            <a:r>
              <a:rPr lang="en-US" sz="2400"/>
              <a:t>Dept of Electronic Engineering</a:t>
            </a:r>
          </a:p>
        </p:txBody>
      </p:sp>
      <p:sp>
        <p:nvSpPr>
          <p:cNvPr id="35" name="Slide Number Placeholder 34">
            <a:extLst>
              <a:ext uri="{FF2B5EF4-FFF2-40B4-BE49-F238E27FC236}">
                <a16:creationId xmlns:a16="http://schemas.microsoft.com/office/drawing/2014/main" id="{11944B82-E37F-4B5D-B455-5323C98EB36B}"/>
              </a:ext>
            </a:extLst>
          </p:cNvPr>
          <p:cNvSpPr>
            <a:spLocks noGrp="1"/>
          </p:cNvSpPr>
          <p:nvPr>
            <p:ph type="sldNum" sz="quarter" idx="12"/>
          </p:nvPr>
        </p:nvSpPr>
        <p:spPr/>
        <p:txBody>
          <a:bodyPr/>
          <a:lstStyle/>
          <a:p>
            <a:fld id="{952A837F-FDD8-4A5A-8D82-65CDA50A5412}" type="slidenum">
              <a:rPr lang="en-US" sz="2400" smtClean="0"/>
              <a:t>8</a:t>
            </a:fld>
            <a:endParaRPr lang="en-US" sz="2400"/>
          </a:p>
        </p:txBody>
      </p:sp>
      <p:sp>
        <p:nvSpPr>
          <p:cNvPr id="36" name="Arrow: Curved Right 35">
            <a:extLst>
              <a:ext uri="{FF2B5EF4-FFF2-40B4-BE49-F238E27FC236}">
                <a16:creationId xmlns:a16="http://schemas.microsoft.com/office/drawing/2014/main" id="{3093934A-A2C1-4E8A-B816-959D23A635C7}"/>
              </a:ext>
            </a:extLst>
          </p:cNvPr>
          <p:cNvSpPr/>
          <p:nvPr/>
        </p:nvSpPr>
        <p:spPr>
          <a:xfrm>
            <a:off x="145030" y="1689700"/>
            <a:ext cx="745898" cy="898614"/>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Title 1">
            <a:extLst>
              <a:ext uri="{FF2B5EF4-FFF2-40B4-BE49-F238E27FC236}">
                <a16:creationId xmlns:a16="http://schemas.microsoft.com/office/drawing/2014/main" id="{BBCA716D-7FBB-47B6-96F1-EB75F22471FD}"/>
              </a:ext>
            </a:extLst>
          </p:cNvPr>
          <p:cNvSpPr txBox="1">
            <a:spLocks/>
          </p:cNvSpPr>
          <p:nvPr/>
        </p:nvSpPr>
        <p:spPr>
          <a:xfrm>
            <a:off x="1409700" y="104229"/>
            <a:ext cx="8035242" cy="1092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dirty="0">
                <a:latin typeface="Bahnschrift SemiBold Condensed" panose="020B0502040204020203" pitchFamily="34" charset="0"/>
              </a:rPr>
              <a:t>Analysis circuit</a:t>
            </a:r>
          </a:p>
        </p:txBody>
      </p:sp>
    </p:spTree>
    <p:extLst>
      <p:ext uri="{BB962C8B-B14F-4D97-AF65-F5344CB8AC3E}">
        <p14:creationId xmlns:p14="http://schemas.microsoft.com/office/powerpoint/2010/main" val="206473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20"/>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1" nodeType="click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2" nodeType="clickEffect">
                                  <p:stCondLst>
                                    <p:cond delay="0"/>
                                  </p:stCondLst>
                                  <p:childTnLst>
                                    <p:set>
                                      <p:cBhvr>
                                        <p:cTn id="25" dur="1" fill="hold">
                                          <p:stCondLst>
                                            <p:cond delay="0"/>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0" grpId="0" animBg="1"/>
      <p:bldP spid="20" grpId="1" animBg="1"/>
      <p:bldP spid="24" grpId="1" animBg="1"/>
      <p:bldP spid="24" grpId="2"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EDCCF-EAE4-42CF-B886-671E7C998F15}"/>
              </a:ext>
            </a:extLst>
          </p:cNvPr>
          <p:cNvSpPr>
            <a:spLocks noGrp="1"/>
          </p:cNvSpPr>
          <p:nvPr>
            <p:ph type="title"/>
          </p:nvPr>
        </p:nvSpPr>
        <p:spPr>
          <a:xfrm>
            <a:off x="6640974" y="5555950"/>
            <a:ext cx="3939251" cy="583999"/>
          </a:xfrm>
        </p:spPr>
        <p:txBody>
          <a:bodyPr>
            <a:normAutofit fontScale="90000"/>
          </a:bodyPr>
          <a:lstStyle/>
          <a:p>
            <a:r>
              <a:rPr lang="en-US" sz="2800" dirty="0">
                <a:latin typeface="Bahnschrift SemiBold Condensed" panose="020B0502040204020203" pitchFamily="34" charset="0"/>
              </a:rPr>
              <a:t>Here is the ratio of (W/L) all MOS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F80DD23-9179-423B-9923-B16A691BDCC9}"/>
                  </a:ext>
                </a:extLst>
              </p:cNvPr>
              <p:cNvSpPr>
                <a:spLocks noGrp="1"/>
              </p:cNvSpPr>
              <p:nvPr>
                <p:ph idx="1"/>
              </p:nvPr>
            </p:nvSpPr>
            <p:spPr>
              <a:xfrm>
                <a:off x="688852" y="931677"/>
                <a:ext cx="3920231" cy="1603375"/>
              </a:xfrm>
            </p:spPr>
            <p:txBody>
              <a:bodyPr>
                <a:noAutofit/>
              </a:bodyPr>
              <a:lstStyle/>
              <a:p>
                <a:pPr marL="0" indent="0" algn="just">
                  <a:lnSpc>
                    <a:spcPct val="150000"/>
                  </a:lnSpc>
                  <a:buNone/>
                </a:pPr>
                <a:r>
                  <a:rPr lang="en-US" sz="1800" dirty="0">
                    <a:latin typeface="Bahnschrift SemiBold Condensed" panose="020B0502040204020203" pitchFamily="34" charset="0"/>
                  </a:rPr>
                  <a:t>As we can see, the ratio of Data_1x_n is equal  1x_n. The next size of other MOS is just </a:t>
                </a:r>
                <a14:m>
                  <m:oMath xmlns:m="http://schemas.openxmlformats.org/officeDocument/2006/math">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m:t>
                                </m:r>
                              </m:num>
                              <m:den>
                                <m:r>
                                  <a:rPr lang="en-US" sz="1800" b="0" i="1" smtClean="0">
                                    <a:latin typeface="Cambria Math" panose="02040503050406030204" pitchFamily="18" charset="0"/>
                                  </a:rPr>
                                  <m:t>𝐿</m:t>
                                </m:r>
                              </m:den>
                            </m:f>
                          </m:e>
                        </m:d>
                      </m:e>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𝐿𝑆𝐵</m:t>
                            </m:r>
                          </m:sub>
                        </m:sSub>
                      </m:sub>
                    </m:sSub>
                    <m:r>
                      <a:rPr lang="en-US" sz="1800" b="0" i="1" smtClean="0">
                        <a:latin typeface="Cambria Math" panose="02040503050406030204" pitchFamily="18" charset="0"/>
                      </a:rPr>
                      <m:t>=2</m:t>
                    </m:r>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m:t>
                                </m:r>
                              </m:num>
                              <m:den>
                                <m:r>
                                  <a:rPr lang="en-US" sz="1800" b="0" i="1" smtClean="0">
                                    <a:latin typeface="Cambria Math" panose="02040503050406030204" pitchFamily="18" charset="0"/>
                                  </a:rPr>
                                  <m:t>𝐿</m:t>
                                </m:r>
                              </m:den>
                            </m:f>
                          </m:e>
                        </m:d>
                      </m:e>
                      <m:sub>
                        <m:r>
                          <a:rPr lang="en-US" sz="1800" b="0" i="1" smtClean="0">
                            <a:latin typeface="Cambria Math" panose="02040503050406030204" pitchFamily="18" charset="0"/>
                          </a:rPr>
                          <m:t>𝑅</m:t>
                        </m:r>
                      </m:sub>
                    </m:sSub>
                    <m:r>
                      <a:rPr lang="en-US" sz="1800" b="0" i="1" smtClean="0">
                        <a:latin typeface="Cambria Math" panose="02040503050406030204" pitchFamily="18" charset="0"/>
                      </a:rPr>
                      <m:t>=4</m:t>
                    </m:r>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m:t>
                                </m:r>
                              </m:num>
                              <m:den>
                                <m:r>
                                  <a:rPr lang="en-US" sz="1800" b="0" i="1" smtClean="0">
                                    <a:latin typeface="Cambria Math" panose="02040503050406030204" pitchFamily="18" charset="0"/>
                                  </a:rPr>
                                  <m:t>𝐿</m:t>
                                </m:r>
                              </m:den>
                            </m:f>
                          </m:e>
                        </m:d>
                      </m:e>
                      <m: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𝑀𝑆𝐵</m:t>
                            </m:r>
                          </m:sub>
                        </m:sSub>
                        <m:r>
                          <a:rPr lang="en-US" sz="1800" b="0" i="1" smtClean="0">
                            <a:latin typeface="Cambria Math" panose="02040503050406030204" pitchFamily="18" charset="0"/>
                          </a:rPr>
                          <m:t> </m:t>
                        </m:r>
                      </m:sub>
                    </m:sSub>
                  </m:oMath>
                </a14:m>
                <a:r>
                  <a:rPr lang="en-US" sz="1800" dirty="0">
                    <a:latin typeface="Bahnschrift SemiBold Condensed" panose="020B0502040204020203" pitchFamily="34" charset="0"/>
                  </a:rPr>
                  <a:t> </a:t>
                </a:r>
              </a:p>
            </p:txBody>
          </p:sp>
        </mc:Choice>
        <mc:Fallback xmlns="">
          <p:sp>
            <p:nvSpPr>
              <p:cNvPr id="3" name="Content Placeholder 2">
                <a:extLst>
                  <a:ext uri="{FF2B5EF4-FFF2-40B4-BE49-F238E27FC236}">
                    <a16:creationId xmlns:a16="http://schemas.microsoft.com/office/drawing/2014/main" id="{BF80DD23-9179-423B-9923-B16A691BDCC9}"/>
                  </a:ext>
                </a:extLst>
              </p:cNvPr>
              <p:cNvSpPr>
                <a:spLocks noGrp="1" noRot="1" noChangeAspect="1" noMove="1" noResize="1" noEditPoints="1" noAdjustHandles="1" noChangeArrowheads="1" noChangeShapeType="1" noTextEdit="1"/>
              </p:cNvSpPr>
              <p:nvPr>
                <p:ph idx="1"/>
              </p:nvPr>
            </p:nvSpPr>
            <p:spPr>
              <a:xfrm>
                <a:off x="688852" y="931677"/>
                <a:ext cx="3920231" cy="1603375"/>
              </a:xfrm>
              <a:blipFill>
                <a:blip r:embed="rId3"/>
                <a:stretch>
                  <a:fillRect l="-1244" r="-1244" b="-2662"/>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156A531-6476-4889-9694-B6FF4E282CC3}"/>
              </a:ext>
            </a:extLst>
          </p:cNvPr>
          <p:cNvPicPr/>
          <p:nvPr/>
        </p:nvPicPr>
        <p:blipFill>
          <a:blip r:embed="rId4"/>
          <a:stretch>
            <a:fillRect/>
          </a:stretch>
        </p:blipFill>
        <p:spPr>
          <a:xfrm>
            <a:off x="5583148" y="1241086"/>
            <a:ext cx="5770652" cy="4282212"/>
          </a:xfrm>
          <a:prstGeom prst="rect">
            <a:avLst/>
          </a:prstGeom>
        </p:spPr>
      </p:pic>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96543D9-3B06-4EEF-B96A-AF8F40571AD2}"/>
                  </a:ext>
                </a:extLst>
              </p:cNvPr>
              <p:cNvSpPr txBox="1">
                <a:spLocks/>
              </p:cNvSpPr>
              <p:nvPr/>
            </p:nvSpPr>
            <p:spPr>
              <a:xfrm>
                <a:off x="645841" y="2562827"/>
                <a:ext cx="4009008" cy="140603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70000"/>
                  </a:lnSpc>
                  <a:buFont typeface="Arial" panose="020B0604020202020204" pitchFamily="34" charset="0"/>
                  <a:buNone/>
                </a:pPr>
                <a:r>
                  <a:rPr lang="en-US" sz="1800" dirty="0">
                    <a:latin typeface="Bahnschrift SemiBold Condensed" panose="020B0502040204020203" pitchFamily="34" charset="0"/>
                  </a:rPr>
                  <a:t>The size of switch MOS is also like data MOS </a:t>
                </a:r>
                <a14:m>
                  <m:oMath xmlns:m="http://schemas.openxmlformats.org/officeDocument/2006/math">
                    <m:sSub>
                      <m:sSubPr>
                        <m:ctrlPr>
                          <a:rPr lang="en-US" sz="1800" i="1">
                            <a:latin typeface="Cambria Math" panose="02040503050406030204" pitchFamily="18" charset="0"/>
                          </a:rPr>
                        </m:ctrlPr>
                      </m:sSubPr>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𝑊</m:t>
                                </m:r>
                              </m:num>
                              <m:den>
                                <m:r>
                                  <a:rPr lang="en-US" sz="1800" i="1">
                                    <a:latin typeface="Cambria Math" panose="02040503050406030204" pitchFamily="18" charset="0"/>
                                  </a:rPr>
                                  <m:t>𝐿</m:t>
                                </m:r>
                              </m:den>
                            </m:f>
                          </m:e>
                        </m:d>
                      </m:e>
                      <m: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𝑆𝑊</m:t>
                            </m:r>
                            <m:r>
                              <a:rPr lang="en-US" sz="1800" b="0" i="1" smtClean="0">
                                <a:latin typeface="Cambria Math" panose="02040503050406030204" pitchFamily="18" charset="0"/>
                              </a:rPr>
                              <m:t>1</m:t>
                            </m:r>
                          </m:sub>
                        </m:sSub>
                      </m:sub>
                    </m:sSub>
                    <m:r>
                      <a:rPr lang="en-US" sz="1800" i="1">
                        <a:latin typeface="Cambria Math" panose="02040503050406030204" pitchFamily="18" charset="0"/>
                      </a:rPr>
                      <m:t>=2</m:t>
                    </m:r>
                    <m:sSub>
                      <m:sSubPr>
                        <m:ctrlPr>
                          <a:rPr lang="en-US" sz="1800" i="1">
                            <a:latin typeface="Cambria Math" panose="02040503050406030204" pitchFamily="18" charset="0"/>
                          </a:rPr>
                        </m:ctrlPr>
                      </m:sSubPr>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𝑊</m:t>
                                </m:r>
                              </m:num>
                              <m:den>
                                <m:r>
                                  <a:rPr lang="en-US" sz="1800" i="1">
                                    <a:latin typeface="Cambria Math" panose="02040503050406030204" pitchFamily="18" charset="0"/>
                                  </a:rPr>
                                  <m:t>𝐿</m:t>
                                </m:r>
                              </m:den>
                            </m:f>
                          </m:e>
                        </m:d>
                      </m:e>
                      <m:sub>
                        <m:r>
                          <a:rPr lang="en-US" sz="1800" b="0" i="1" smtClean="0">
                            <a:latin typeface="Cambria Math" panose="02040503050406030204" pitchFamily="18" charset="0"/>
                          </a:rPr>
                          <m:t>𝑆𝑊</m:t>
                        </m:r>
                        <m:r>
                          <a:rPr lang="en-US" sz="1800" b="0" i="1" smtClean="0">
                            <a:latin typeface="Cambria Math" panose="02040503050406030204" pitchFamily="18" charset="0"/>
                          </a:rPr>
                          <m:t>2</m:t>
                        </m:r>
                      </m:sub>
                    </m:sSub>
                    <m:r>
                      <a:rPr lang="en-US" sz="1800" i="1">
                        <a:latin typeface="Cambria Math" panose="02040503050406030204" pitchFamily="18" charset="0"/>
                      </a:rPr>
                      <m:t>=4</m:t>
                    </m:r>
                    <m:sSub>
                      <m:sSubPr>
                        <m:ctrlPr>
                          <a:rPr lang="en-US" sz="1800" i="1">
                            <a:latin typeface="Cambria Math" panose="02040503050406030204" pitchFamily="18" charset="0"/>
                          </a:rPr>
                        </m:ctrlPr>
                      </m:sSubPr>
                      <m:e>
                        <m:d>
                          <m:dPr>
                            <m:ctrlPr>
                              <a:rPr lang="en-US" sz="1800" i="1">
                                <a:latin typeface="Cambria Math" panose="02040503050406030204" pitchFamily="18" charset="0"/>
                              </a:rPr>
                            </m:ctrlPr>
                          </m:dPr>
                          <m:e>
                            <m:f>
                              <m:fPr>
                                <m:ctrlPr>
                                  <a:rPr lang="en-US" sz="1800" i="1">
                                    <a:latin typeface="Cambria Math" panose="02040503050406030204" pitchFamily="18" charset="0"/>
                                  </a:rPr>
                                </m:ctrlPr>
                              </m:fPr>
                              <m:num>
                                <m:r>
                                  <a:rPr lang="en-US" sz="1800" i="1">
                                    <a:latin typeface="Cambria Math" panose="02040503050406030204" pitchFamily="18" charset="0"/>
                                  </a:rPr>
                                  <m:t>𝑊</m:t>
                                </m:r>
                              </m:num>
                              <m:den>
                                <m:r>
                                  <a:rPr lang="en-US" sz="1800" i="1">
                                    <a:latin typeface="Cambria Math" panose="02040503050406030204" pitchFamily="18" charset="0"/>
                                  </a:rPr>
                                  <m:t>𝐿</m:t>
                                </m:r>
                              </m:den>
                            </m:f>
                          </m:e>
                        </m:d>
                      </m:e>
                      <m: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𝑆𝑊</m:t>
                            </m:r>
                            <m:r>
                              <a:rPr lang="en-US" sz="1800" b="0" i="1" smtClean="0">
                                <a:latin typeface="Cambria Math" panose="02040503050406030204" pitchFamily="18" charset="0"/>
                              </a:rPr>
                              <m:t>3</m:t>
                            </m:r>
                          </m:sub>
                        </m:sSub>
                        <m:r>
                          <a:rPr lang="en-US" sz="1800" i="1">
                            <a:latin typeface="Cambria Math" panose="02040503050406030204" pitchFamily="18" charset="0"/>
                          </a:rPr>
                          <m:t> </m:t>
                        </m:r>
                      </m:sub>
                    </m:sSub>
                  </m:oMath>
                </a14:m>
                <a:r>
                  <a:rPr lang="en-US" sz="1800" dirty="0">
                    <a:latin typeface="Bahnschrift SemiBold Condensed" panose="020B0502040204020203" pitchFamily="34" charset="0"/>
                  </a:rPr>
                  <a:t> </a:t>
                </a:r>
              </a:p>
            </p:txBody>
          </p:sp>
        </mc:Choice>
        <mc:Fallback xmlns="">
          <p:sp>
            <p:nvSpPr>
              <p:cNvPr id="8" name="Content Placeholder 2">
                <a:extLst>
                  <a:ext uri="{FF2B5EF4-FFF2-40B4-BE49-F238E27FC236}">
                    <a16:creationId xmlns:a16="http://schemas.microsoft.com/office/drawing/2014/main" id="{896543D9-3B06-4EEF-B96A-AF8F40571AD2}"/>
                  </a:ext>
                </a:extLst>
              </p:cNvPr>
              <p:cNvSpPr txBox="1">
                <a:spLocks noRot="1" noChangeAspect="1" noMove="1" noResize="1" noEditPoints="1" noAdjustHandles="1" noChangeArrowheads="1" noChangeShapeType="1" noTextEdit="1"/>
              </p:cNvSpPr>
              <p:nvPr/>
            </p:nvSpPr>
            <p:spPr>
              <a:xfrm>
                <a:off x="645841" y="2562827"/>
                <a:ext cx="4009008" cy="1406031"/>
              </a:xfrm>
              <a:prstGeom prst="rect">
                <a:avLst/>
              </a:prstGeom>
              <a:blipFill>
                <a:blip r:embed="rId9"/>
                <a:stretch>
                  <a:fillRect l="-13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CB48A48E-16AD-4D2F-8119-31D73F436738}"/>
                  </a:ext>
                </a:extLst>
              </p:cNvPr>
              <p:cNvSpPr txBox="1">
                <a:spLocks/>
              </p:cNvSpPr>
              <p:nvPr/>
            </p:nvSpPr>
            <p:spPr>
              <a:xfrm>
                <a:off x="622268" y="3900195"/>
                <a:ext cx="4053397" cy="18034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70000"/>
                  </a:lnSpc>
                  <a:buFont typeface="Arial" panose="020B0604020202020204" pitchFamily="34" charset="0"/>
                  <a:buNone/>
                </a:pPr>
                <a:r>
                  <a:rPr lang="en-US" sz="1800" dirty="0">
                    <a:latin typeface="Bahnschrift SemiBold Condensed" panose="020B0502040204020203" pitchFamily="34" charset="0"/>
                  </a:rPr>
                  <a:t>We consider the effective of leakage current of MOS , because  the leakage of PMOS is larger than NMOS, so </a:t>
                </a:r>
                <a14:m>
                  <m:oMath xmlns:m="http://schemas.openxmlformats.org/officeDocument/2006/math">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m:t>
                                </m:r>
                              </m:num>
                              <m:den>
                                <m:r>
                                  <a:rPr lang="en-US" sz="1800" b="0" i="1" smtClean="0">
                                    <a:latin typeface="Cambria Math" panose="02040503050406030204" pitchFamily="18" charset="0"/>
                                  </a:rPr>
                                  <m:t>𝐿</m:t>
                                </m:r>
                              </m:den>
                            </m:f>
                          </m:e>
                        </m:d>
                      </m:e>
                      <m:sub>
                        <m:r>
                          <a:rPr lang="en-US" sz="1800" b="0" i="1" smtClean="0">
                            <a:latin typeface="Cambria Math" panose="02040503050406030204" pitchFamily="18" charset="0"/>
                          </a:rPr>
                          <m:t>𝑃𝑀𝑂𝑆</m:t>
                        </m:r>
                      </m:sub>
                    </m:sSub>
                    <m:r>
                      <a:rPr lang="en-US" sz="1800" b="0" i="1" smtClean="0">
                        <a:latin typeface="Cambria Math" panose="02040503050406030204" pitchFamily="18" charset="0"/>
                      </a:rPr>
                      <m:t>≈2.5</m:t>
                    </m:r>
                    <m:sSub>
                      <m:sSubPr>
                        <m:ctrlPr>
                          <a:rPr lang="en-US" sz="1800" b="0" i="1" smtClean="0">
                            <a:latin typeface="Cambria Math" panose="02040503050406030204" pitchFamily="18" charset="0"/>
                          </a:rPr>
                        </m:ctrlPr>
                      </m:sSubPr>
                      <m:e>
                        <m:d>
                          <m:dPr>
                            <m:ctrlPr>
                              <a:rPr lang="en-US" sz="1800" b="0" i="1" smtClean="0">
                                <a:latin typeface="Cambria Math" panose="02040503050406030204" pitchFamily="18" charset="0"/>
                              </a:rPr>
                            </m:ctrlPr>
                          </m:dPr>
                          <m:e>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𝑊</m:t>
                                </m:r>
                              </m:num>
                              <m:den>
                                <m:r>
                                  <a:rPr lang="en-US" sz="1800" b="0" i="1" smtClean="0">
                                    <a:latin typeface="Cambria Math" panose="02040503050406030204" pitchFamily="18" charset="0"/>
                                  </a:rPr>
                                  <m:t>𝐿</m:t>
                                </m:r>
                              </m:den>
                            </m:f>
                          </m:e>
                        </m:d>
                      </m:e>
                      <m:sub>
                        <m:r>
                          <a:rPr lang="en-US" sz="1800" b="0" i="1" smtClean="0">
                            <a:latin typeface="Cambria Math" panose="02040503050406030204" pitchFamily="18" charset="0"/>
                          </a:rPr>
                          <m:t>𝑁𝑀𝑂𝑆</m:t>
                        </m:r>
                      </m:sub>
                    </m:sSub>
                  </m:oMath>
                </a14:m>
                <a:r>
                  <a:rPr lang="en-US" sz="1800" dirty="0">
                    <a:latin typeface="Bahnschrift SemiBold Condensed" panose="020B0502040204020203" pitchFamily="34" charset="0"/>
                  </a:rPr>
                  <a:t> </a:t>
                </a:r>
              </a:p>
            </p:txBody>
          </p:sp>
        </mc:Choice>
        <mc:Fallback xmlns="">
          <p:sp>
            <p:nvSpPr>
              <p:cNvPr id="9" name="Content Placeholder 2">
                <a:extLst>
                  <a:ext uri="{FF2B5EF4-FFF2-40B4-BE49-F238E27FC236}">
                    <a16:creationId xmlns:a16="http://schemas.microsoft.com/office/drawing/2014/main" id="{CB48A48E-16AD-4D2F-8119-31D73F436738}"/>
                  </a:ext>
                </a:extLst>
              </p:cNvPr>
              <p:cNvSpPr txBox="1">
                <a:spLocks noRot="1" noChangeAspect="1" noMove="1" noResize="1" noEditPoints="1" noAdjustHandles="1" noChangeArrowheads="1" noChangeShapeType="1" noTextEdit="1"/>
              </p:cNvSpPr>
              <p:nvPr/>
            </p:nvSpPr>
            <p:spPr>
              <a:xfrm>
                <a:off x="622268" y="3900195"/>
                <a:ext cx="4053397" cy="1803430"/>
              </a:xfrm>
              <a:prstGeom prst="rect">
                <a:avLst/>
              </a:prstGeom>
              <a:blipFill>
                <a:blip r:embed="rId10"/>
                <a:stretch>
                  <a:fillRect l="-1203" r="-1353"/>
                </a:stretch>
              </a:blipFill>
            </p:spPr>
            <p:txBody>
              <a:bodyPr/>
              <a:lstStyle/>
              <a:p>
                <a:r>
                  <a:rPr lang="en-US">
                    <a:noFill/>
                  </a:rPr>
                  <a:t> </a:t>
                </a:r>
              </a:p>
            </p:txBody>
          </p:sp>
        </mc:Fallback>
      </mc:AlternateContent>
      <p:sp>
        <p:nvSpPr>
          <p:cNvPr id="13" name="Date Placeholder 12">
            <a:extLst>
              <a:ext uri="{FF2B5EF4-FFF2-40B4-BE49-F238E27FC236}">
                <a16:creationId xmlns:a16="http://schemas.microsoft.com/office/drawing/2014/main" id="{F4E55AED-6B87-40DA-B839-D49BAF3C3DDA}"/>
              </a:ext>
            </a:extLst>
          </p:cNvPr>
          <p:cNvSpPr>
            <a:spLocks noGrp="1"/>
          </p:cNvSpPr>
          <p:nvPr>
            <p:ph type="dt" sz="half" idx="10"/>
          </p:nvPr>
        </p:nvSpPr>
        <p:spPr>
          <a:xfrm>
            <a:off x="768752" y="6454004"/>
            <a:ext cx="2743200" cy="365125"/>
          </a:xfrm>
        </p:spPr>
        <p:txBody>
          <a:bodyPr/>
          <a:lstStyle/>
          <a:p>
            <a:fld id="{C6FA7702-0C40-4AB2-B1F4-1C1742C90CDC}" type="datetime1">
              <a:rPr lang="en-US" sz="2400" smtClean="0"/>
              <a:t>6/3/2025</a:t>
            </a:fld>
            <a:endParaRPr lang="en-US" sz="2400"/>
          </a:p>
        </p:txBody>
      </p:sp>
      <p:sp>
        <p:nvSpPr>
          <p:cNvPr id="14" name="Footer Placeholder 13">
            <a:extLst>
              <a:ext uri="{FF2B5EF4-FFF2-40B4-BE49-F238E27FC236}">
                <a16:creationId xmlns:a16="http://schemas.microsoft.com/office/drawing/2014/main" id="{C61F8CA1-EFD5-406F-9E2B-FDD3B6106643}"/>
              </a:ext>
            </a:extLst>
          </p:cNvPr>
          <p:cNvSpPr>
            <a:spLocks noGrp="1"/>
          </p:cNvSpPr>
          <p:nvPr>
            <p:ph type="ftr" sz="quarter" idx="11"/>
          </p:nvPr>
        </p:nvSpPr>
        <p:spPr/>
        <p:txBody>
          <a:bodyPr/>
          <a:lstStyle/>
          <a:p>
            <a:r>
              <a:rPr lang="en-US" sz="2400"/>
              <a:t>Dept of Electronic Engineering</a:t>
            </a:r>
          </a:p>
        </p:txBody>
      </p:sp>
      <p:sp>
        <p:nvSpPr>
          <p:cNvPr id="15" name="Slide Number Placeholder 14">
            <a:extLst>
              <a:ext uri="{FF2B5EF4-FFF2-40B4-BE49-F238E27FC236}">
                <a16:creationId xmlns:a16="http://schemas.microsoft.com/office/drawing/2014/main" id="{DB7FF131-56C7-4BAE-B53B-309F69BFD234}"/>
              </a:ext>
            </a:extLst>
          </p:cNvPr>
          <p:cNvSpPr>
            <a:spLocks noGrp="1"/>
          </p:cNvSpPr>
          <p:nvPr>
            <p:ph type="sldNum" sz="quarter" idx="12"/>
          </p:nvPr>
        </p:nvSpPr>
        <p:spPr/>
        <p:txBody>
          <a:bodyPr/>
          <a:lstStyle/>
          <a:p>
            <a:fld id="{952A837F-FDD8-4A5A-8D82-65CDA50A5412}" type="slidenum">
              <a:rPr lang="en-US" sz="2400" smtClean="0"/>
              <a:t>9</a:t>
            </a:fld>
            <a:endParaRPr lang="en-US" sz="2400"/>
          </a:p>
        </p:txBody>
      </p:sp>
    </p:spTree>
    <p:extLst>
      <p:ext uri="{BB962C8B-B14F-4D97-AF65-F5344CB8AC3E}">
        <p14:creationId xmlns:p14="http://schemas.microsoft.com/office/powerpoint/2010/main" val="2649353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25965-0EC2-42EA-9E38-EF20C98629B2}"/>
              </a:ext>
            </a:extLst>
          </p:cNvPr>
          <p:cNvSpPr>
            <a:spLocks noGrp="1"/>
          </p:cNvSpPr>
          <p:nvPr>
            <p:ph type="title"/>
          </p:nvPr>
        </p:nvSpPr>
        <p:spPr>
          <a:xfrm>
            <a:off x="3404885" y="5761065"/>
            <a:ext cx="5382229" cy="365125"/>
          </a:xfrm>
        </p:spPr>
        <p:txBody>
          <a:bodyPr>
            <a:noAutofit/>
          </a:bodyPr>
          <a:lstStyle/>
          <a:p>
            <a:r>
              <a:rPr lang="en-US" sz="3600" dirty="0">
                <a:latin typeface="Bahnschrift SemiBold Condensed" panose="020B0502040204020203" pitchFamily="34" charset="0"/>
              </a:rPr>
              <a:t>Schematic of the circuit ( 1 slice )</a:t>
            </a:r>
          </a:p>
        </p:txBody>
      </p:sp>
      <p:sp>
        <p:nvSpPr>
          <p:cNvPr id="3" name="Content Placeholder 2">
            <a:extLst>
              <a:ext uri="{FF2B5EF4-FFF2-40B4-BE49-F238E27FC236}">
                <a16:creationId xmlns:a16="http://schemas.microsoft.com/office/drawing/2014/main" id="{B04D4EE3-F514-4398-B295-EFC9ED47E0E8}"/>
              </a:ext>
            </a:extLst>
          </p:cNvPr>
          <p:cNvSpPr>
            <a:spLocks noGrp="1"/>
          </p:cNvSpPr>
          <p:nvPr>
            <p:ph idx="1"/>
          </p:nvPr>
        </p:nvSpPr>
        <p:spPr/>
        <p:txBody>
          <a:bodyPr/>
          <a:lstStyle/>
          <a:p>
            <a:endParaRPr lang="en-US" dirty="0"/>
          </a:p>
        </p:txBody>
      </p:sp>
      <p:pic>
        <p:nvPicPr>
          <p:cNvPr id="4" name="Content Placeholder 12">
            <a:extLst>
              <a:ext uri="{FF2B5EF4-FFF2-40B4-BE49-F238E27FC236}">
                <a16:creationId xmlns:a16="http://schemas.microsoft.com/office/drawing/2014/main" id="{56E7FA4E-C339-4E84-907C-9AD2B339E787}"/>
              </a:ext>
            </a:extLst>
          </p:cNvPr>
          <p:cNvPicPr>
            <a:picLocks/>
          </p:cNvPicPr>
          <p:nvPr/>
        </p:nvPicPr>
        <p:blipFill>
          <a:blip r:embed="rId3"/>
          <a:stretch>
            <a:fillRect/>
          </a:stretch>
        </p:blipFill>
        <p:spPr>
          <a:xfrm>
            <a:off x="1439379" y="944148"/>
            <a:ext cx="9313240" cy="4637530"/>
          </a:xfrm>
          <a:prstGeom prst="rect">
            <a:avLst/>
          </a:prstGeom>
        </p:spPr>
      </p:pic>
      <p:sp>
        <p:nvSpPr>
          <p:cNvPr id="8" name="Date Placeholder 7">
            <a:extLst>
              <a:ext uri="{FF2B5EF4-FFF2-40B4-BE49-F238E27FC236}">
                <a16:creationId xmlns:a16="http://schemas.microsoft.com/office/drawing/2014/main" id="{7CDF180D-4F79-459A-B9BD-114EEAC01A0F}"/>
              </a:ext>
            </a:extLst>
          </p:cNvPr>
          <p:cNvSpPr>
            <a:spLocks noGrp="1"/>
          </p:cNvSpPr>
          <p:nvPr>
            <p:ph type="dt" sz="half" idx="10"/>
          </p:nvPr>
        </p:nvSpPr>
        <p:spPr/>
        <p:txBody>
          <a:bodyPr/>
          <a:lstStyle/>
          <a:p>
            <a:fld id="{336DB8F5-3CF0-4916-A54F-CA9A6249C250}" type="datetime1">
              <a:rPr lang="en-US" smtClean="0"/>
              <a:t>6/3/2025</a:t>
            </a:fld>
            <a:endParaRPr lang="en-US"/>
          </a:p>
        </p:txBody>
      </p:sp>
      <p:sp>
        <p:nvSpPr>
          <p:cNvPr id="9" name="Footer Placeholder 8">
            <a:extLst>
              <a:ext uri="{FF2B5EF4-FFF2-40B4-BE49-F238E27FC236}">
                <a16:creationId xmlns:a16="http://schemas.microsoft.com/office/drawing/2014/main" id="{74C039C5-66BA-42C5-9E00-9E715FC74316}"/>
              </a:ext>
            </a:extLst>
          </p:cNvPr>
          <p:cNvSpPr>
            <a:spLocks noGrp="1"/>
          </p:cNvSpPr>
          <p:nvPr>
            <p:ph type="ftr" sz="quarter" idx="11"/>
          </p:nvPr>
        </p:nvSpPr>
        <p:spPr/>
        <p:txBody>
          <a:bodyPr/>
          <a:lstStyle/>
          <a:p>
            <a:r>
              <a:rPr lang="en-US"/>
              <a:t>Dept of Electronic Engineering</a:t>
            </a:r>
          </a:p>
        </p:txBody>
      </p:sp>
      <p:sp>
        <p:nvSpPr>
          <p:cNvPr id="10" name="Slide Number Placeholder 9">
            <a:extLst>
              <a:ext uri="{FF2B5EF4-FFF2-40B4-BE49-F238E27FC236}">
                <a16:creationId xmlns:a16="http://schemas.microsoft.com/office/drawing/2014/main" id="{7C244CD6-280C-4D4C-805A-D58B6C087F1B}"/>
              </a:ext>
            </a:extLst>
          </p:cNvPr>
          <p:cNvSpPr>
            <a:spLocks noGrp="1"/>
          </p:cNvSpPr>
          <p:nvPr>
            <p:ph type="sldNum" sz="quarter" idx="12"/>
          </p:nvPr>
        </p:nvSpPr>
        <p:spPr/>
        <p:txBody>
          <a:bodyPr/>
          <a:lstStyle/>
          <a:p>
            <a:fld id="{952A837F-FDD8-4A5A-8D82-65CDA50A5412}" type="slidenum">
              <a:rPr lang="en-US" smtClean="0"/>
              <a:t>10</a:t>
            </a:fld>
            <a:endParaRPr lang="en-US"/>
          </a:p>
        </p:txBody>
      </p:sp>
      <p:sp>
        <p:nvSpPr>
          <p:cNvPr id="11" name="Title 1">
            <a:extLst>
              <a:ext uri="{FF2B5EF4-FFF2-40B4-BE49-F238E27FC236}">
                <a16:creationId xmlns:a16="http://schemas.microsoft.com/office/drawing/2014/main" id="{60E038BB-4F7F-4DAE-8AEF-A81C0BEE402F}"/>
              </a:ext>
            </a:extLst>
          </p:cNvPr>
          <p:cNvSpPr txBox="1">
            <a:spLocks/>
          </p:cNvSpPr>
          <p:nvPr/>
        </p:nvSpPr>
        <p:spPr>
          <a:xfrm>
            <a:off x="1223269" y="0"/>
            <a:ext cx="3144545" cy="1092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latin typeface="Bahnschrift SemiBold Condensed" panose="020B0502040204020203" pitchFamily="34" charset="0"/>
              </a:rPr>
              <a:t>Design circuit</a:t>
            </a:r>
          </a:p>
        </p:txBody>
      </p:sp>
    </p:spTree>
    <p:extLst>
      <p:ext uri="{BB962C8B-B14F-4D97-AF65-F5344CB8AC3E}">
        <p14:creationId xmlns:p14="http://schemas.microsoft.com/office/powerpoint/2010/main" val="36726825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2A83B119-386A-4715-8D6F-BCFC3F37F33D}"/>
                  </a:ext>
                </a:extLst>
              </p:cNvPr>
              <p:cNvSpPr>
                <a:spLocks noGrp="1"/>
              </p:cNvSpPr>
              <p:nvPr>
                <p:ph type="title"/>
              </p:nvPr>
            </p:nvSpPr>
            <p:spPr>
              <a:xfrm>
                <a:off x="1409700" y="5550962"/>
                <a:ext cx="4044631" cy="534807"/>
              </a:xfrm>
            </p:spPr>
            <p:txBody>
              <a:bodyPr>
                <a:normAutofit/>
              </a:bodyPr>
              <a:lstStyle/>
              <a:p>
                <a:r>
                  <a:rPr lang="en-US" sz="2400" dirty="0">
                    <a:latin typeface="Bahnschrift SemiBold Condensed" panose="020B0502040204020203" pitchFamily="34" charset="0"/>
                  </a:rPr>
                  <a:t>Testbench for measure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𝑃𝐷</m:t>
                        </m:r>
                      </m:sub>
                    </m:sSub>
                    <m:r>
                      <a:rPr lang="en-US" sz="2400" b="0" i="1" smtClean="0">
                        <a:latin typeface="Cambria Math" panose="02040503050406030204" pitchFamily="18" charset="0"/>
                      </a:rPr>
                      <m:t> &amp;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𝑅</m:t>
                        </m:r>
                      </m:e>
                      <m:sub>
                        <m:r>
                          <a:rPr lang="en-US" sz="2400" b="0" i="1" smtClean="0">
                            <a:latin typeface="Cambria Math" panose="02040503050406030204" pitchFamily="18" charset="0"/>
                          </a:rPr>
                          <m:t>𝑈𝑃</m:t>
                        </m:r>
                      </m:sub>
                    </m:sSub>
                  </m:oMath>
                </a14:m>
                <a:endParaRPr lang="en-US" sz="2400" dirty="0">
                  <a:latin typeface="Bahnschrift SemiBold Condensed" panose="020B0502040204020203" pitchFamily="34" charset="0"/>
                </a:endParaRPr>
              </a:p>
            </p:txBody>
          </p:sp>
        </mc:Choice>
        <mc:Fallback xmlns="">
          <p:sp>
            <p:nvSpPr>
              <p:cNvPr id="2" name="Title 1">
                <a:extLst>
                  <a:ext uri="{FF2B5EF4-FFF2-40B4-BE49-F238E27FC236}">
                    <a16:creationId xmlns:a16="http://schemas.microsoft.com/office/drawing/2014/main" id="{2A83B119-386A-4715-8D6F-BCFC3F37F33D}"/>
                  </a:ext>
                </a:extLst>
              </p:cNvPr>
              <p:cNvSpPr>
                <a:spLocks noGrp="1" noRot="1" noChangeAspect="1" noMove="1" noResize="1" noEditPoints="1" noAdjustHandles="1" noChangeArrowheads="1" noChangeShapeType="1" noTextEdit="1"/>
              </p:cNvSpPr>
              <p:nvPr>
                <p:ph type="title"/>
              </p:nvPr>
            </p:nvSpPr>
            <p:spPr>
              <a:xfrm>
                <a:off x="1409700" y="5550962"/>
                <a:ext cx="4044631" cy="534807"/>
              </a:xfrm>
              <a:blipFill>
                <a:blip r:embed="rId7"/>
                <a:stretch>
                  <a:fillRect l="-2259" t="-6897" b="-14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075647-314E-43A8-B429-81E3B3075CAD}"/>
                  </a:ext>
                </a:extLst>
              </p:cNvPr>
              <p:cNvSpPr>
                <a:spLocks noGrp="1"/>
              </p:cNvSpPr>
              <p:nvPr>
                <p:ph idx="1"/>
              </p:nvPr>
            </p:nvSpPr>
            <p:spPr>
              <a:xfrm>
                <a:off x="7128763" y="1167888"/>
                <a:ext cx="4778408" cy="2316993"/>
              </a:xfrm>
            </p:spPr>
            <p:txBody>
              <a:bodyPr>
                <a:noAutofit/>
              </a:bodyPr>
              <a:lstStyle/>
              <a:p>
                <a:pPr marL="0" indent="0">
                  <a:buNone/>
                </a:pPr>
                <a:r>
                  <a:rPr lang="en-US" sz="3600" dirty="0">
                    <a:latin typeface="Bahnschrift SemiBold Condensed" panose="020B0502040204020203" pitchFamily="34" charset="0"/>
                  </a:rPr>
                  <a:t>Bit 0, bit 1, bit2 are control bit </a:t>
                </a:r>
              </a:p>
              <a:p>
                <a:pPr marL="0" indent="0">
                  <a:buNone/>
                </a:pPr>
                <a:r>
                  <a:rPr lang="en-US" sz="3600" dirty="0">
                    <a:latin typeface="Bahnschrift SemiBold Condensed" panose="020B0502040204020203" pitchFamily="34" charset="0"/>
                  </a:rPr>
                  <a:t>We set output of the circuit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𝑋</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𝑉𝐷𝐷</m:t>
                        </m:r>
                      </m:num>
                      <m:den>
                        <m:r>
                          <a:rPr lang="en-US" sz="3600" b="0" i="1" smtClean="0">
                            <a:latin typeface="Cambria Math" panose="02040503050406030204" pitchFamily="18" charset="0"/>
                          </a:rPr>
                          <m:t>2</m:t>
                        </m:r>
                      </m:den>
                    </m:f>
                  </m:oMath>
                </a14:m>
                <a:endParaRPr lang="en-US" sz="3600" dirty="0">
                  <a:latin typeface="Bahnschrift SemiBold Condensed" panose="020B0502040204020203" pitchFamily="34" charset="0"/>
                </a:endParaRPr>
              </a:p>
              <a:p>
                <a:pPr marL="0" indent="0">
                  <a:buNone/>
                </a:pPr>
                <a:endParaRPr lang="en-US" sz="3600" dirty="0">
                  <a:latin typeface="Bahnschrift SemiBold Condensed" panose="020B0502040204020203" pitchFamily="34" charset="0"/>
                </a:endParaRPr>
              </a:p>
            </p:txBody>
          </p:sp>
        </mc:Choice>
        <mc:Fallback xmlns="">
          <p:sp>
            <p:nvSpPr>
              <p:cNvPr id="3" name="Content Placeholder 2">
                <a:extLst>
                  <a:ext uri="{FF2B5EF4-FFF2-40B4-BE49-F238E27FC236}">
                    <a16:creationId xmlns:a16="http://schemas.microsoft.com/office/drawing/2014/main" id="{4E075647-314E-43A8-B429-81E3B3075CAD}"/>
                  </a:ext>
                </a:extLst>
              </p:cNvPr>
              <p:cNvSpPr>
                <a:spLocks noGrp="1" noRot="1" noChangeAspect="1" noMove="1" noResize="1" noEditPoints="1" noAdjustHandles="1" noChangeArrowheads="1" noChangeShapeType="1" noTextEdit="1"/>
              </p:cNvSpPr>
              <p:nvPr>
                <p:ph idx="1"/>
              </p:nvPr>
            </p:nvSpPr>
            <p:spPr>
              <a:xfrm>
                <a:off x="7128763" y="1167888"/>
                <a:ext cx="4778408" cy="2316993"/>
              </a:xfrm>
              <a:blipFill>
                <a:blip r:embed="rId8"/>
                <a:stretch>
                  <a:fillRect l="-3827" t="-6579" r="-3316"/>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1AB22C2A-23B9-4E6F-AFC1-069207615DA9}"/>
              </a:ext>
            </a:extLst>
          </p:cNvPr>
          <p:cNvPicPr/>
          <p:nvPr/>
        </p:nvPicPr>
        <p:blipFill>
          <a:blip r:embed="rId9"/>
          <a:stretch>
            <a:fillRect/>
          </a:stretch>
        </p:blipFill>
        <p:spPr>
          <a:xfrm>
            <a:off x="553004" y="1167888"/>
            <a:ext cx="6056792" cy="4301511"/>
          </a:xfrm>
          <a:prstGeom prst="rect">
            <a:avLst/>
          </a:prstGeom>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DB754DAC-A79A-48C7-BB42-3627955BB34A}"/>
                  </a:ext>
                </a:extLst>
              </p:cNvPr>
              <p:cNvSpPr txBox="1">
                <a:spLocks/>
              </p:cNvSpPr>
              <p:nvPr/>
            </p:nvSpPr>
            <p:spPr>
              <a:xfrm>
                <a:off x="7128763" y="3295717"/>
                <a:ext cx="4201360" cy="987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0" dirty="0">
                    <a:latin typeface="Bahnschrift SemiBold Condensed" panose="020B0502040204020203" pitchFamily="34" charset="0"/>
                  </a:rPr>
                  <a:t>Set Din = 1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𝑅</m:t>
                        </m:r>
                      </m:e>
                      <m:sub>
                        <m:r>
                          <a:rPr lang="en-US" sz="3600" b="0" i="1" smtClean="0">
                            <a:latin typeface="Cambria Math" panose="02040503050406030204" pitchFamily="18" charset="0"/>
                          </a:rPr>
                          <m:t>𝑃𝐷</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𝑋</m:t>
                            </m:r>
                          </m:sub>
                        </m:sSub>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𝑖</m:t>
                            </m:r>
                          </m:e>
                          <m:sub>
                            <m:r>
                              <a:rPr lang="en-US" sz="3600" b="0" i="1" smtClean="0">
                                <a:latin typeface="Cambria Math" panose="02040503050406030204" pitchFamily="18" charset="0"/>
                              </a:rPr>
                              <m:t>𝑋</m:t>
                            </m:r>
                          </m:sub>
                        </m:sSub>
                      </m:den>
                    </m:f>
                  </m:oMath>
                </a14:m>
                <a:endParaRPr lang="en-US" sz="3600" dirty="0">
                  <a:latin typeface="Bahnschrift SemiBold Condensed" panose="020B0502040204020203" pitchFamily="34" charset="0"/>
                </a:endParaRPr>
              </a:p>
            </p:txBody>
          </p:sp>
        </mc:Choice>
        <mc:Fallback xmlns="">
          <p:sp>
            <p:nvSpPr>
              <p:cNvPr id="6" name="Content Placeholder 2">
                <a:extLst>
                  <a:ext uri="{FF2B5EF4-FFF2-40B4-BE49-F238E27FC236}">
                    <a16:creationId xmlns:a16="http://schemas.microsoft.com/office/drawing/2014/main" id="{DB754DAC-A79A-48C7-BB42-3627955BB34A}"/>
                  </a:ext>
                </a:extLst>
              </p:cNvPr>
              <p:cNvSpPr txBox="1">
                <a:spLocks noRot="1" noChangeAspect="1" noMove="1" noResize="1" noEditPoints="1" noAdjustHandles="1" noChangeArrowheads="1" noChangeShapeType="1" noTextEdit="1"/>
              </p:cNvSpPr>
              <p:nvPr/>
            </p:nvSpPr>
            <p:spPr>
              <a:xfrm>
                <a:off x="7128763" y="3295717"/>
                <a:ext cx="4201360" cy="987950"/>
              </a:xfrm>
              <a:prstGeom prst="rect">
                <a:avLst/>
              </a:prstGeom>
              <a:blipFill>
                <a:blip r:embed="rId10"/>
                <a:stretch>
                  <a:fillRect l="-4348" t="-74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9A47F18D-BFF1-423E-B3EA-F5E6B33A98DB}"/>
                  </a:ext>
                </a:extLst>
              </p:cNvPr>
              <p:cNvSpPr txBox="1">
                <a:spLocks/>
              </p:cNvSpPr>
              <p:nvPr/>
            </p:nvSpPr>
            <p:spPr>
              <a:xfrm>
                <a:off x="7128763" y="4426640"/>
                <a:ext cx="4858308" cy="9879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600" b="0" dirty="0">
                    <a:latin typeface="Bahnschrift SemiBold Condensed" panose="020B0502040204020203" pitchFamily="34" charset="0"/>
                  </a:rPr>
                  <a:t>Set Din = 0 ,</a:t>
                </a:r>
                <a14:m>
                  <m:oMath xmlns:m="http://schemas.openxmlformats.org/officeDocument/2006/math">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𝑅</m:t>
                        </m:r>
                      </m:e>
                      <m:sub>
                        <m:r>
                          <a:rPr lang="en-US" sz="3600" b="0" i="1" smtClean="0">
                            <a:latin typeface="Cambria Math" panose="02040503050406030204" pitchFamily="18" charset="0"/>
                          </a:rPr>
                          <m:t>𝑈𝑃</m:t>
                        </m:r>
                      </m:sub>
                    </m:sSub>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𝑉</m:t>
                                </m:r>
                              </m:e>
                              <m:sub>
                                <m:r>
                                  <a:rPr lang="en-US" sz="3600" b="0" i="1" smtClean="0">
                                    <a:latin typeface="Cambria Math" panose="02040503050406030204" pitchFamily="18" charset="0"/>
                                  </a:rPr>
                                  <m:t>𝐷𝐷</m:t>
                                </m:r>
                              </m:sub>
                            </m:sSub>
                            <m:r>
                              <a:rPr lang="en-US" sz="3600" b="0" i="1" smtClean="0">
                                <a:latin typeface="Cambria Math" panose="02040503050406030204" pitchFamily="18" charset="0"/>
                              </a:rPr>
                              <m:t>−</m:t>
                            </m:r>
                            <m:r>
                              <a:rPr lang="en-US" sz="3600" b="0" i="1" smtClean="0">
                                <a:latin typeface="Cambria Math" panose="02040503050406030204" pitchFamily="18" charset="0"/>
                              </a:rPr>
                              <m:t>𝑉</m:t>
                            </m:r>
                          </m:e>
                          <m:sub>
                            <m:r>
                              <a:rPr lang="en-US" sz="3600" b="0" i="1" smtClean="0">
                                <a:latin typeface="Cambria Math" panose="02040503050406030204" pitchFamily="18" charset="0"/>
                              </a:rPr>
                              <m:t>𝑋</m:t>
                            </m:r>
                          </m:sub>
                        </m:sSub>
                      </m:num>
                      <m:den>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𝑖</m:t>
                            </m:r>
                          </m:e>
                          <m:sub>
                            <m:r>
                              <a:rPr lang="en-US" sz="3600" b="0" i="1" smtClean="0">
                                <a:latin typeface="Cambria Math" panose="02040503050406030204" pitchFamily="18" charset="0"/>
                              </a:rPr>
                              <m:t>𝑋</m:t>
                            </m:r>
                          </m:sub>
                        </m:sSub>
                      </m:den>
                    </m:f>
                  </m:oMath>
                </a14:m>
                <a:endParaRPr lang="en-US" sz="3600" dirty="0">
                  <a:latin typeface="Bahnschrift SemiBold Condensed" panose="020B0502040204020203" pitchFamily="34" charset="0"/>
                </a:endParaRPr>
              </a:p>
            </p:txBody>
          </p:sp>
        </mc:Choice>
        <mc:Fallback xmlns="">
          <p:sp>
            <p:nvSpPr>
              <p:cNvPr id="8" name="Content Placeholder 2">
                <a:extLst>
                  <a:ext uri="{FF2B5EF4-FFF2-40B4-BE49-F238E27FC236}">
                    <a16:creationId xmlns:a16="http://schemas.microsoft.com/office/drawing/2014/main" id="{9A47F18D-BFF1-423E-B3EA-F5E6B33A98DB}"/>
                  </a:ext>
                </a:extLst>
              </p:cNvPr>
              <p:cNvSpPr txBox="1">
                <a:spLocks noRot="1" noChangeAspect="1" noMove="1" noResize="1" noEditPoints="1" noAdjustHandles="1" noChangeArrowheads="1" noChangeShapeType="1" noTextEdit="1"/>
              </p:cNvSpPr>
              <p:nvPr/>
            </p:nvSpPr>
            <p:spPr>
              <a:xfrm>
                <a:off x="7128763" y="4426640"/>
                <a:ext cx="4858308" cy="987950"/>
              </a:xfrm>
              <a:prstGeom prst="rect">
                <a:avLst/>
              </a:prstGeom>
              <a:blipFill>
                <a:blip r:embed="rId11"/>
                <a:stretch>
                  <a:fillRect l="-3764" t="-6790"/>
                </a:stretch>
              </a:blipFill>
            </p:spPr>
            <p:txBody>
              <a:bodyPr/>
              <a:lstStyle/>
              <a:p>
                <a:r>
                  <a:rPr lang="en-US">
                    <a:noFill/>
                  </a:rPr>
                  <a:t> </a:t>
                </a:r>
              </a:p>
            </p:txBody>
          </p:sp>
        </mc:Fallback>
      </mc:AlternateContent>
      <p:sp>
        <p:nvSpPr>
          <p:cNvPr id="12" name="Date Placeholder 11">
            <a:extLst>
              <a:ext uri="{FF2B5EF4-FFF2-40B4-BE49-F238E27FC236}">
                <a16:creationId xmlns:a16="http://schemas.microsoft.com/office/drawing/2014/main" id="{B46F40F6-3D0F-4CCF-A753-D50E0559EE0F}"/>
              </a:ext>
            </a:extLst>
          </p:cNvPr>
          <p:cNvSpPr>
            <a:spLocks noGrp="1"/>
          </p:cNvSpPr>
          <p:nvPr>
            <p:ph type="dt" sz="half" idx="10"/>
          </p:nvPr>
        </p:nvSpPr>
        <p:spPr/>
        <p:txBody>
          <a:bodyPr/>
          <a:lstStyle/>
          <a:p>
            <a:fld id="{3FE79060-32E5-40C9-9845-B629DBEFB179}" type="datetime1">
              <a:rPr lang="en-US" sz="2400" smtClean="0"/>
              <a:t>6/3/2025</a:t>
            </a:fld>
            <a:endParaRPr lang="en-US" sz="2400"/>
          </a:p>
        </p:txBody>
      </p:sp>
      <p:sp>
        <p:nvSpPr>
          <p:cNvPr id="13" name="Footer Placeholder 12">
            <a:extLst>
              <a:ext uri="{FF2B5EF4-FFF2-40B4-BE49-F238E27FC236}">
                <a16:creationId xmlns:a16="http://schemas.microsoft.com/office/drawing/2014/main" id="{EFF36C1A-B157-4A29-BC25-72C1D75ACF85}"/>
              </a:ext>
            </a:extLst>
          </p:cNvPr>
          <p:cNvSpPr>
            <a:spLocks noGrp="1"/>
          </p:cNvSpPr>
          <p:nvPr>
            <p:ph type="ftr" sz="quarter" idx="11"/>
          </p:nvPr>
        </p:nvSpPr>
        <p:spPr/>
        <p:txBody>
          <a:bodyPr/>
          <a:lstStyle/>
          <a:p>
            <a:r>
              <a:rPr lang="en-US" sz="2400"/>
              <a:t>Dept of Electronic Engineering</a:t>
            </a:r>
          </a:p>
        </p:txBody>
      </p:sp>
      <p:sp>
        <p:nvSpPr>
          <p:cNvPr id="14" name="Slide Number Placeholder 13">
            <a:extLst>
              <a:ext uri="{FF2B5EF4-FFF2-40B4-BE49-F238E27FC236}">
                <a16:creationId xmlns:a16="http://schemas.microsoft.com/office/drawing/2014/main" id="{28086262-F532-4D75-A3B5-EEC691518987}"/>
              </a:ext>
            </a:extLst>
          </p:cNvPr>
          <p:cNvSpPr>
            <a:spLocks noGrp="1"/>
          </p:cNvSpPr>
          <p:nvPr>
            <p:ph type="sldNum" sz="quarter" idx="12"/>
          </p:nvPr>
        </p:nvSpPr>
        <p:spPr/>
        <p:txBody>
          <a:bodyPr/>
          <a:lstStyle/>
          <a:p>
            <a:fld id="{952A837F-FDD8-4A5A-8D82-65CDA50A5412}" type="slidenum">
              <a:rPr lang="en-US" sz="2400" smtClean="0"/>
              <a:t>11</a:t>
            </a:fld>
            <a:endParaRPr lang="en-US" sz="2400"/>
          </a:p>
        </p:txBody>
      </p:sp>
      <p:sp>
        <p:nvSpPr>
          <p:cNvPr id="15" name="Title 1">
            <a:extLst>
              <a:ext uri="{FF2B5EF4-FFF2-40B4-BE49-F238E27FC236}">
                <a16:creationId xmlns:a16="http://schemas.microsoft.com/office/drawing/2014/main" id="{6972A955-D2EA-4673-AC9F-4212488BC4E2}"/>
              </a:ext>
            </a:extLst>
          </p:cNvPr>
          <p:cNvSpPr txBox="1">
            <a:spLocks/>
          </p:cNvSpPr>
          <p:nvPr/>
        </p:nvSpPr>
        <p:spPr>
          <a:xfrm>
            <a:off x="1205514" y="-6487"/>
            <a:ext cx="3508529" cy="10928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b="1" dirty="0">
                <a:latin typeface="Bahnschrift SemiBold Condensed" panose="020B0502040204020203" pitchFamily="34" charset="0"/>
              </a:rPr>
              <a:t>Simulate result</a:t>
            </a:r>
          </a:p>
        </p:txBody>
      </p:sp>
    </p:spTree>
    <p:extLst>
      <p:ext uri="{BB962C8B-B14F-4D97-AF65-F5344CB8AC3E}">
        <p14:creationId xmlns:p14="http://schemas.microsoft.com/office/powerpoint/2010/main" val="3788859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BF7CB47-4390-410B-82BC-8B027715D701}"/>
                  </a:ext>
                </a:extLst>
              </p:cNvPr>
              <p:cNvSpPr>
                <a:spLocks noGrp="1"/>
              </p:cNvSpPr>
              <p:nvPr>
                <p:ph type="title"/>
              </p:nvPr>
            </p:nvSpPr>
            <p:spPr>
              <a:xfrm>
                <a:off x="3392194" y="202836"/>
                <a:ext cx="4827603" cy="969350"/>
              </a:xfrm>
            </p:spPr>
            <p:txBody>
              <a:bodyPr>
                <a:normAutofit fontScale="90000"/>
              </a:bodyPr>
              <a:lstStyle/>
              <a:p>
                <a:r>
                  <a:rPr lang="en-US" dirty="0">
                    <a:latin typeface="Bahnschrift SemiBold Condensed" panose="020B0502040204020203" pitchFamily="34" charset="0"/>
                  </a:rPr>
                  <a:t>OUTPUT IMPEDANCE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𝑈𝑃</m:t>
                        </m:r>
                      </m:sub>
                    </m:sSub>
                    <m:r>
                      <a:rPr lang="en-US" b="0" i="1" smtClean="0">
                        <a:latin typeface="Cambria Math" panose="02040503050406030204" pitchFamily="18" charset="0"/>
                      </a:rPr>
                      <m:t> </m:t>
                    </m:r>
                  </m:oMath>
                </a14:m>
                <a:endParaRPr lang="en-US" dirty="0">
                  <a:latin typeface="Bahnschrift SemiBold Condensed" panose="020B0502040204020203" pitchFamily="34" charset="0"/>
                </a:endParaRPr>
              </a:p>
            </p:txBody>
          </p:sp>
        </mc:Choice>
        <mc:Fallback xmlns="">
          <p:sp>
            <p:nvSpPr>
              <p:cNvPr id="2" name="Title 1">
                <a:extLst>
                  <a:ext uri="{FF2B5EF4-FFF2-40B4-BE49-F238E27FC236}">
                    <a16:creationId xmlns:a16="http://schemas.microsoft.com/office/drawing/2014/main" id="{ABF7CB47-4390-410B-82BC-8B027715D701}"/>
                  </a:ext>
                </a:extLst>
              </p:cNvPr>
              <p:cNvSpPr>
                <a:spLocks noGrp="1" noRot="1" noChangeAspect="1" noMove="1" noResize="1" noEditPoints="1" noAdjustHandles="1" noChangeArrowheads="1" noChangeShapeType="1" noTextEdit="1"/>
              </p:cNvSpPr>
              <p:nvPr>
                <p:ph type="title"/>
              </p:nvPr>
            </p:nvSpPr>
            <p:spPr>
              <a:xfrm>
                <a:off x="3392194" y="202836"/>
                <a:ext cx="4827603" cy="969350"/>
              </a:xfrm>
              <a:blipFill>
                <a:blip r:embed="rId2"/>
                <a:stretch>
                  <a:fillRect l="-4419" t="-1258" b="-943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71804FE-7D7C-4C1D-944E-A089A436FFE5}"/>
              </a:ext>
            </a:extLst>
          </p:cNvPr>
          <p:cNvPicPr/>
          <p:nvPr/>
        </p:nvPicPr>
        <p:blipFill>
          <a:blip r:embed="rId3"/>
          <a:stretch>
            <a:fillRect/>
          </a:stretch>
        </p:blipFill>
        <p:spPr>
          <a:xfrm>
            <a:off x="494781" y="1215942"/>
            <a:ext cx="5311215" cy="4430256"/>
          </a:xfrm>
          <a:prstGeom prst="rect">
            <a:avLst/>
          </a:prstGeom>
        </p:spPr>
      </p:pic>
      <p:pic>
        <p:nvPicPr>
          <p:cNvPr id="5" name="Content Placeholder 4">
            <a:extLst>
              <a:ext uri="{FF2B5EF4-FFF2-40B4-BE49-F238E27FC236}">
                <a16:creationId xmlns:a16="http://schemas.microsoft.com/office/drawing/2014/main" id="{B1FDB58E-1A69-43BA-BE90-DE2C0F6C5EAF}"/>
              </a:ext>
            </a:extLst>
          </p:cNvPr>
          <p:cNvPicPr>
            <a:picLocks noGrp="1"/>
          </p:cNvPicPr>
          <p:nvPr>
            <p:ph idx="1"/>
          </p:nvPr>
        </p:nvPicPr>
        <p:blipFill>
          <a:blip r:embed="rId4"/>
          <a:stretch>
            <a:fillRect/>
          </a:stretch>
        </p:blipFill>
        <p:spPr>
          <a:xfrm>
            <a:off x="6034148" y="1334476"/>
            <a:ext cx="5663071" cy="4351338"/>
          </a:xfrm>
          <a:prstGeom prst="rect">
            <a:avLst/>
          </a:prstGeom>
        </p:spPr>
      </p:pic>
      <p:sp>
        <p:nvSpPr>
          <p:cNvPr id="6" name="Rectangle 5">
            <a:extLst>
              <a:ext uri="{FF2B5EF4-FFF2-40B4-BE49-F238E27FC236}">
                <a16:creationId xmlns:a16="http://schemas.microsoft.com/office/drawing/2014/main" id="{AD3C6B4D-0220-4608-9858-3074F7B0F1A7}"/>
              </a:ext>
            </a:extLst>
          </p:cNvPr>
          <p:cNvSpPr/>
          <p:nvPr/>
        </p:nvSpPr>
        <p:spPr>
          <a:xfrm>
            <a:off x="417250" y="3211497"/>
            <a:ext cx="5459767" cy="435006"/>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EF8FC7C6-0659-478E-8990-96D003AC008C}"/>
                  </a:ext>
                </a:extLst>
              </p:cNvPr>
              <p:cNvSpPr txBox="1">
                <a:spLocks/>
              </p:cNvSpPr>
              <p:nvPr/>
            </p:nvSpPr>
            <p:spPr>
              <a:xfrm>
                <a:off x="2304416" y="5848104"/>
                <a:ext cx="7459464" cy="5035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dirty="0">
                    <a:latin typeface="Bahnschrift SemiBold Condensed" panose="020B0502040204020203" pitchFamily="34" charset="0"/>
                  </a:rPr>
                  <a:t>We have at code 011, the output impedance is nearly the target impedance </a:t>
                </a:r>
                <a14:m>
                  <m:oMath xmlns:m="http://schemas.openxmlformats.org/officeDocument/2006/math">
                    <m:r>
                      <a:rPr lang="en-US" sz="2000" b="0" i="1" smtClean="0">
                        <a:latin typeface="Cambria Math" panose="02040503050406030204" pitchFamily="18" charset="0"/>
                      </a:rPr>
                      <m:t>50</m:t>
                    </m:r>
                    <m:r>
                      <m:rPr>
                        <m:sty m:val="p"/>
                      </m:rPr>
                      <a:rPr lang="en-US" sz="2000" b="0" i="0" smtClean="0">
                        <a:latin typeface="Cambria Math" panose="02040503050406030204" pitchFamily="18" charset="0"/>
                      </a:rPr>
                      <m:t>Ω</m:t>
                    </m:r>
                  </m:oMath>
                </a14:m>
                <a:endParaRPr lang="en-US" sz="2000" dirty="0">
                  <a:latin typeface="Bahnschrift SemiBold Condensed" panose="020B0502040204020203" pitchFamily="34" charset="0"/>
                </a:endParaRPr>
              </a:p>
            </p:txBody>
          </p:sp>
        </mc:Choice>
        <mc:Fallback xmlns="">
          <p:sp>
            <p:nvSpPr>
              <p:cNvPr id="8" name="Content Placeholder 2">
                <a:extLst>
                  <a:ext uri="{FF2B5EF4-FFF2-40B4-BE49-F238E27FC236}">
                    <a16:creationId xmlns:a16="http://schemas.microsoft.com/office/drawing/2014/main" id="{EF8FC7C6-0659-478E-8990-96D003AC008C}"/>
                  </a:ext>
                </a:extLst>
              </p:cNvPr>
              <p:cNvSpPr txBox="1">
                <a:spLocks noRot="1" noChangeAspect="1" noMove="1" noResize="1" noEditPoints="1" noAdjustHandles="1" noChangeArrowheads="1" noChangeShapeType="1" noTextEdit="1"/>
              </p:cNvSpPr>
              <p:nvPr/>
            </p:nvSpPr>
            <p:spPr>
              <a:xfrm>
                <a:off x="2304416" y="5848104"/>
                <a:ext cx="7459464" cy="503535"/>
              </a:xfrm>
              <a:prstGeom prst="rect">
                <a:avLst/>
              </a:prstGeom>
              <a:blipFill>
                <a:blip r:embed="rId6"/>
                <a:stretch>
                  <a:fillRect l="-817" t="-12048"/>
                </a:stretch>
              </a:blipFill>
            </p:spPr>
            <p:txBody>
              <a:bodyPr/>
              <a:lstStyle/>
              <a:p>
                <a:r>
                  <a:rPr lang="en-US">
                    <a:noFill/>
                  </a:rPr>
                  <a:t> </a:t>
                </a:r>
              </a:p>
            </p:txBody>
          </p:sp>
        </mc:Fallback>
      </mc:AlternateContent>
      <p:sp>
        <p:nvSpPr>
          <p:cNvPr id="12" name="Date Placeholder 11">
            <a:extLst>
              <a:ext uri="{FF2B5EF4-FFF2-40B4-BE49-F238E27FC236}">
                <a16:creationId xmlns:a16="http://schemas.microsoft.com/office/drawing/2014/main" id="{20DEC65B-AD3E-4FC8-8171-4745F8805DE3}"/>
              </a:ext>
            </a:extLst>
          </p:cNvPr>
          <p:cNvSpPr>
            <a:spLocks noGrp="1"/>
          </p:cNvSpPr>
          <p:nvPr>
            <p:ph type="dt" sz="half" idx="10"/>
          </p:nvPr>
        </p:nvSpPr>
        <p:spPr/>
        <p:txBody>
          <a:bodyPr/>
          <a:lstStyle/>
          <a:p>
            <a:fld id="{31A65327-13A6-4E19-BAD5-5F67A500C0E1}" type="datetime1">
              <a:rPr lang="en-US" sz="2400" smtClean="0"/>
              <a:t>6/3/2025</a:t>
            </a:fld>
            <a:endParaRPr lang="en-US" sz="2400"/>
          </a:p>
        </p:txBody>
      </p:sp>
      <p:sp>
        <p:nvSpPr>
          <p:cNvPr id="13" name="Footer Placeholder 12">
            <a:extLst>
              <a:ext uri="{FF2B5EF4-FFF2-40B4-BE49-F238E27FC236}">
                <a16:creationId xmlns:a16="http://schemas.microsoft.com/office/drawing/2014/main" id="{B061273D-AB7A-4230-BE87-1B1D30472F06}"/>
              </a:ext>
            </a:extLst>
          </p:cNvPr>
          <p:cNvSpPr>
            <a:spLocks noGrp="1"/>
          </p:cNvSpPr>
          <p:nvPr>
            <p:ph type="ftr" sz="quarter" idx="11"/>
          </p:nvPr>
        </p:nvSpPr>
        <p:spPr/>
        <p:txBody>
          <a:bodyPr/>
          <a:lstStyle/>
          <a:p>
            <a:r>
              <a:rPr lang="en-US" sz="2400"/>
              <a:t>Dept of Electronic Engineering</a:t>
            </a:r>
          </a:p>
        </p:txBody>
      </p:sp>
      <p:sp>
        <p:nvSpPr>
          <p:cNvPr id="14" name="Slide Number Placeholder 13">
            <a:extLst>
              <a:ext uri="{FF2B5EF4-FFF2-40B4-BE49-F238E27FC236}">
                <a16:creationId xmlns:a16="http://schemas.microsoft.com/office/drawing/2014/main" id="{4A3D9C88-912D-422E-A8D1-F3CCFE11857E}"/>
              </a:ext>
            </a:extLst>
          </p:cNvPr>
          <p:cNvSpPr>
            <a:spLocks noGrp="1"/>
          </p:cNvSpPr>
          <p:nvPr>
            <p:ph type="sldNum" sz="quarter" idx="12"/>
          </p:nvPr>
        </p:nvSpPr>
        <p:spPr/>
        <p:txBody>
          <a:bodyPr/>
          <a:lstStyle/>
          <a:p>
            <a:fld id="{952A837F-FDD8-4A5A-8D82-65CDA50A5412}" type="slidenum">
              <a:rPr lang="en-US" sz="2400" smtClean="0"/>
              <a:t>12</a:t>
            </a:fld>
            <a:endParaRPr lang="en-US" sz="2400"/>
          </a:p>
        </p:txBody>
      </p:sp>
    </p:spTree>
    <p:extLst>
      <p:ext uri="{BB962C8B-B14F-4D97-AF65-F5344CB8AC3E}">
        <p14:creationId xmlns:p14="http://schemas.microsoft.com/office/powerpoint/2010/main" val="1758159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D70FDBC-BA8E-4CF2-86C0-6E6D369B0C62}"/>
                  </a:ext>
                </a:extLst>
              </p:cNvPr>
              <p:cNvSpPr>
                <a:spLocks noGrp="1"/>
              </p:cNvSpPr>
              <p:nvPr>
                <p:ph type="title"/>
              </p:nvPr>
            </p:nvSpPr>
            <p:spPr>
              <a:xfrm>
                <a:off x="3878431" y="166955"/>
                <a:ext cx="4435137" cy="662780"/>
              </a:xfrm>
            </p:spPr>
            <p:txBody>
              <a:bodyPr>
                <a:normAutofit fontScale="90000"/>
              </a:bodyPr>
              <a:lstStyle/>
              <a:p>
                <a:r>
                  <a:rPr lang="en-US" dirty="0">
                    <a:latin typeface="Bahnschrift SemiBold Condensed" panose="020B0502040204020203" pitchFamily="34" charset="0"/>
                  </a:rPr>
                  <a:t>OUTPUT IMPEDANCE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𝐷𝑁</m:t>
                        </m:r>
                      </m:sub>
                    </m:sSub>
                  </m:oMath>
                </a14:m>
                <a:endParaRPr lang="en-US" dirty="0">
                  <a:latin typeface="Bahnschrift SemiBold Condensed" panose="020B0502040204020203" pitchFamily="34" charset="0"/>
                </a:endParaRPr>
              </a:p>
            </p:txBody>
          </p:sp>
        </mc:Choice>
        <mc:Fallback xmlns="">
          <p:sp>
            <p:nvSpPr>
              <p:cNvPr id="2" name="Title 1">
                <a:extLst>
                  <a:ext uri="{FF2B5EF4-FFF2-40B4-BE49-F238E27FC236}">
                    <a16:creationId xmlns:a16="http://schemas.microsoft.com/office/drawing/2014/main" id="{7D70FDBC-BA8E-4CF2-86C0-6E6D369B0C62}"/>
                  </a:ext>
                </a:extLst>
              </p:cNvPr>
              <p:cNvSpPr>
                <a:spLocks noGrp="1" noRot="1" noChangeAspect="1" noMove="1" noResize="1" noEditPoints="1" noAdjustHandles="1" noChangeArrowheads="1" noChangeShapeType="1" noTextEdit="1"/>
              </p:cNvSpPr>
              <p:nvPr>
                <p:ph type="title"/>
              </p:nvPr>
            </p:nvSpPr>
            <p:spPr>
              <a:xfrm>
                <a:off x="3878431" y="166955"/>
                <a:ext cx="4435137" cy="662780"/>
              </a:xfrm>
              <a:blipFill>
                <a:blip r:embed="rId2"/>
                <a:stretch>
                  <a:fillRect l="-4808" t="-24771" b="-366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1DE67F-9865-49BB-8D81-FC00DC66AC7B}"/>
                  </a:ext>
                </a:extLst>
              </p:cNvPr>
              <p:cNvSpPr>
                <a:spLocks noGrp="1"/>
              </p:cNvSpPr>
              <p:nvPr>
                <p:ph idx="1"/>
              </p:nvPr>
            </p:nvSpPr>
            <p:spPr>
              <a:xfrm>
                <a:off x="1271909" y="5771371"/>
                <a:ext cx="9648179" cy="584979"/>
              </a:xfrm>
            </p:spPr>
            <p:txBody>
              <a:bodyPr>
                <a:normAutofit fontScale="85000" lnSpcReduction="10000"/>
              </a:bodyPr>
              <a:lstStyle/>
              <a:p>
                <a:pPr marL="0" indent="0">
                  <a:buNone/>
                </a:pPr>
                <a:r>
                  <a:rPr lang="en-US" dirty="0">
                    <a:latin typeface="Bahnschrift SemiBold Condensed" panose="020B0502040204020203" pitchFamily="34" charset="0"/>
                  </a:rPr>
                  <a:t>Similarly , we have at code 011, the output impedance is nearly the target impedance </a:t>
                </a:r>
                <a14:m>
                  <m:oMath xmlns:m="http://schemas.openxmlformats.org/officeDocument/2006/math">
                    <m:r>
                      <a:rPr lang="en-US" i="1">
                        <a:latin typeface="Cambria Math" panose="02040503050406030204" pitchFamily="18" charset="0"/>
                      </a:rPr>
                      <m:t>50</m:t>
                    </m:r>
                    <m:r>
                      <m:rPr>
                        <m:sty m:val="p"/>
                      </m:rPr>
                      <a:rPr lang="en-US">
                        <a:latin typeface="Cambria Math" panose="02040503050406030204" pitchFamily="18" charset="0"/>
                      </a:rPr>
                      <m:t>Ω</m:t>
                    </m:r>
                  </m:oMath>
                </a14:m>
                <a:endParaRPr lang="en-US" dirty="0">
                  <a:latin typeface="Bahnschrift SemiBold Condensed" panose="020B0502040204020203" pitchFamily="34" charset="0"/>
                </a:endParaRPr>
              </a:p>
              <a:p>
                <a:pPr marL="0" indent="0">
                  <a:buNone/>
                </a:pPr>
                <a:endParaRPr lang="en-US" dirty="0">
                  <a:latin typeface="Bahnschrift SemiBold Condensed" panose="020B0502040204020203" pitchFamily="34" charset="0"/>
                </a:endParaRPr>
              </a:p>
            </p:txBody>
          </p:sp>
        </mc:Choice>
        <mc:Fallback xmlns="">
          <p:sp>
            <p:nvSpPr>
              <p:cNvPr id="3" name="Content Placeholder 2">
                <a:extLst>
                  <a:ext uri="{FF2B5EF4-FFF2-40B4-BE49-F238E27FC236}">
                    <a16:creationId xmlns:a16="http://schemas.microsoft.com/office/drawing/2014/main" id="{631DE67F-9865-49BB-8D81-FC00DC66AC7B}"/>
                  </a:ext>
                </a:extLst>
              </p:cNvPr>
              <p:cNvSpPr>
                <a:spLocks noGrp="1" noRot="1" noChangeAspect="1" noMove="1" noResize="1" noEditPoints="1" noAdjustHandles="1" noChangeArrowheads="1" noChangeShapeType="1" noTextEdit="1"/>
              </p:cNvSpPr>
              <p:nvPr>
                <p:ph idx="1"/>
              </p:nvPr>
            </p:nvSpPr>
            <p:spPr>
              <a:xfrm>
                <a:off x="1271909" y="5771371"/>
                <a:ext cx="9648179" cy="584979"/>
              </a:xfrm>
              <a:blipFill>
                <a:blip r:embed="rId6"/>
                <a:stretch>
                  <a:fillRect l="-1011" t="-2187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7A29A049-618F-4A80-AAE2-F1DA689CC884}"/>
              </a:ext>
            </a:extLst>
          </p:cNvPr>
          <p:cNvPicPr/>
          <p:nvPr/>
        </p:nvPicPr>
        <p:blipFill>
          <a:blip r:embed="rId7"/>
          <a:stretch>
            <a:fillRect/>
          </a:stretch>
        </p:blipFill>
        <p:spPr>
          <a:xfrm>
            <a:off x="538470" y="931744"/>
            <a:ext cx="5459767" cy="4683298"/>
          </a:xfrm>
          <a:prstGeom prst="rect">
            <a:avLst/>
          </a:prstGeom>
        </p:spPr>
      </p:pic>
      <p:pic>
        <p:nvPicPr>
          <p:cNvPr id="5" name="Content Placeholder 17">
            <a:extLst>
              <a:ext uri="{FF2B5EF4-FFF2-40B4-BE49-F238E27FC236}">
                <a16:creationId xmlns:a16="http://schemas.microsoft.com/office/drawing/2014/main" id="{FA28BA05-3C02-4303-8BFD-0234B53ED2F2}"/>
              </a:ext>
            </a:extLst>
          </p:cNvPr>
          <p:cNvPicPr>
            <a:picLocks/>
          </p:cNvPicPr>
          <p:nvPr/>
        </p:nvPicPr>
        <p:blipFill>
          <a:blip r:embed="rId8"/>
          <a:stretch>
            <a:fillRect/>
          </a:stretch>
        </p:blipFill>
        <p:spPr>
          <a:xfrm>
            <a:off x="6378541" y="931744"/>
            <a:ext cx="4650243" cy="4683298"/>
          </a:xfrm>
          <a:prstGeom prst="rect">
            <a:avLst/>
          </a:prstGeom>
        </p:spPr>
      </p:pic>
      <p:sp>
        <p:nvSpPr>
          <p:cNvPr id="6" name="Rectangle 5">
            <a:extLst>
              <a:ext uri="{FF2B5EF4-FFF2-40B4-BE49-F238E27FC236}">
                <a16:creationId xmlns:a16="http://schemas.microsoft.com/office/drawing/2014/main" id="{74742E5B-0213-425A-ACAB-1011CDA094F1}"/>
              </a:ext>
            </a:extLst>
          </p:cNvPr>
          <p:cNvSpPr/>
          <p:nvPr/>
        </p:nvSpPr>
        <p:spPr>
          <a:xfrm>
            <a:off x="538469" y="3115707"/>
            <a:ext cx="5459767" cy="435006"/>
          </a:xfrm>
          <a:prstGeom prst="rect">
            <a:avLst/>
          </a:prstGeom>
          <a:noFill/>
          <a:ln w="762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Date Placeholder 9">
            <a:extLst>
              <a:ext uri="{FF2B5EF4-FFF2-40B4-BE49-F238E27FC236}">
                <a16:creationId xmlns:a16="http://schemas.microsoft.com/office/drawing/2014/main" id="{B6A4BAAF-84DE-4E00-B46F-B7A59C9F80E0}"/>
              </a:ext>
            </a:extLst>
          </p:cNvPr>
          <p:cNvSpPr>
            <a:spLocks noGrp="1"/>
          </p:cNvSpPr>
          <p:nvPr>
            <p:ph type="dt" sz="half" idx="10"/>
          </p:nvPr>
        </p:nvSpPr>
        <p:spPr/>
        <p:txBody>
          <a:bodyPr/>
          <a:lstStyle/>
          <a:p>
            <a:fld id="{B60F7A9C-557B-4672-BA94-15DFF054AC74}" type="datetime1">
              <a:rPr lang="en-US" sz="2400" smtClean="0"/>
              <a:t>6/3/2025</a:t>
            </a:fld>
            <a:endParaRPr lang="en-US" sz="2400"/>
          </a:p>
        </p:txBody>
      </p:sp>
      <p:sp>
        <p:nvSpPr>
          <p:cNvPr id="11" name="Footer Placeholder 10">
            <a:extLst>
              <a:ext uri="{FF2B5EF4-FFF2-40B4-BE49-F238E27FC236}">
                <a16:creationId xmlns:a16="http://schemas.microsoft.com/office/drawing/2014/main" id="{28B4FF3F-E2B4-4545-AE0B-6F6002059880}"/>
              </a:ext>
            </a:extLst>
          </p:cNvPr>
          <p:cNvSpPr>
            <a:spLocks noGrp="1"/>
          </p:cNvSpPr>
          <p:nvPr>
            <p:ph type="ftr" sz="quarter" idx="11"/>
          </p:nvPr>
        </p:nvSpPr>
        <p:spPr/>
        <p:txBody>
          <a:bodyPr/>
          <a:lstStyle/>
          <a:p>
            <a:r>
              <a:rPr lang="en-US" sz="2400"/>
              <a:t>Dept of Electronic Engineering</a:t>
            </a:r>
          </a:p>
        </p:txBody>
      </p:sp>
      <p:sp>
        <p:nvSpPr>
          <p:cNvPr id="12" name="Slide Number Placeholder 11">
            <a:extLst>
              <a:ext uri="{FF2B5EF4-FFF2-40B4-BE49-F238E27FC236}">
                <a16:creationId xmlns:a16="http://schemas.microsoft.com/office/drawing/2014/main" id="{32188F3E-19BF-4C87-A53E-7985D2B06268}"/>
              </a:ext>
            </a:extLst>
          </p:cNvPr>
          <p:cNvSpPr>
            <a:spLocks noGrp="1"/>
          </p:cNvSpPr>
          <p:nvPr>
            <p:ph type="sldNum" sz="quarter" idx="12"/>
          </p:nvPr>
        </p:nvSpPr>
        <p:spPr/>
        <p:txBody>
          <a:bodyPr/>
          <a:lstStyle/>
          <a:p>
            <a:fld id="{952A837F-FDD8-4A5A-8D82-65CDA50A5412}" type="slidenum">
              <a:rPr lang="en-US" sz="2400" smtClean="0"/>
              <a:t>13</a:t>
            </a:fld>
            <a:endParaRPr lang="en-US" sz="2400"/>
          </a:p>
        </p:txBody>
      </p:sp>
    </p:spTree>
    <p:extLst>
      <p:ext uri="{BB962C8B-B14F-4D97-AF65-F5344CB8AC3E}">
        <p14:creationId xmlns:p14="http://schemas.microsoft.com/office/powerpoint/2010/main" val="4144286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5798FF9F-5368-44AB-B1EA-47D763BB6CEA}"/>
                  </a:ext>
                </a:extLst>
              </p:cNvPr>
              <p:cNvSpPr>
                <a:spLocks noGrp="1"/>
              </p:cNvSpPr>
              <p:nvPr>
                <p:ph type="title"/>
              </p:nvPr>
            </p:nvSpPr>
            <p:spPr>
              <a:xfrm>
                <a:off x="3658894" y="195030"/>
                <a:ext cx="5282212" cy="860852"/>
              </a:xfrm>
            </p:spPr>
            <p:txBody>
              <a:bodyPr>
                <a:noAutofit/>
              </a:bodyPr>
              <a:lstStyle/>
              <a:p>
                <a:r>
                  <a:rPr lang="en-US" sz="3200" dirty="0">
                    <a:latin typeface="Bahnschrift SemiBold Condensed" panose="020B0502040204020203" pitchFamily="34" charset="0"/>
                  </a:rPr>
                  <a:t>Compare </a:t>
                </a:r>
                <a14:m>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𝐷𝑁</m:t>
                        </m:r>
                      </m:sub>
                    </m:sSub>
                    <m:r>
                      <a:rPr lang="en-US" sz="3200" b="0" i="1" smtClean="0">
                        <a:latin typeface="Cambria Math" panose="02040503050406030204" pitchFamily="18" charset="0"/>
                      </a:rPr>
                      <m:t> &amp; </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𝑅</m:t>
                        </m:r>
                      </m:e>
                      <m:sub>
                        <m:r>
                          <a:rPr lang="en-US" sz="3200" b="0" i="1" smtClean="0">
                            <a:latin typeface="Cambria Math" panose="02040503050406030204" pitchFamily="18" charset="0"/>
                          </a:rPr>
                          <m:t>𝑈𝑃</m:t>
                        </m:r>
                      </m:sub>
                    </m:sSub>
                  </m:oMath>
                </a14:m>
                <a:r>
                  <a:rPr lang="en-US" sz="3200" dirty="0">
                    <a:latin typeface="Bahnschrift SemiBold Condensed" panose="020B0502040204020203" pitchFamily="34" charset="0"/>
                  </a:rPr>
                  <a:t> in 9 PVT</a:t>
                </a:r>
              </a:p>
            </p:txBody>
          </p:sp>
        </mc:Choice>
        <mc:Fallback xmlns="">
          <p:sp>
            <p:nvSpPr>
              <p:cNvPr id="2" name="Title 1">
                <a:extLst>
                  <a:ext uri="{FF2B5EF4-FFF2-40B4-BE49-F238E27FC236}">
                    <a16:creationId xmlns:a16="http://schemas.microsoft.com/office/drawing/2014/main" id="{5798FF9F-5368-44AB-B1EA-47D763BB6CEA}"/>
                  </a:ext>
                </a:extLst>
              </p:cNvPr>
              <p:cNvSpPr>
                <a:spLocks noGrp="1" noRot="1" noChangeAspect="1" noMove="1" noResize="1" noEditPoints="1" noAdjustHandles="1" noChangeArrowheads="1" noChangeShapeType="1" noTextEdit="1"/>
              </p:cNvSpPr>
              <p:nvPr>
                <p:ph type="title"/>
              </p:nvPr>
            </p:nvSpPr>
            <p:spPr>
              <a:xfrm>
                <a:off x="3658894" y="195030"/>
                <a:ext cx="5282212" cy="860852"/>
              </a:xfrm>
              <a:blipFill>
                <a:blip r:embed="rId2"/>
                <a:stretch>
                  <a:fillRect l="-2884" b="-35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368AC44-A98D-4411-B12F-0F89B7E33A09}"/>
                  </a:ext>
                </a:extLst>
              </p:cNvPr>
              <p:cNvSpPr>
                <a:spLocks noGrp="1"/>
              </p:cNvSpPr>
              <p:nvPr>
                <p:ph idx="1"/>
              </p:nvPr>
            </p:nvSpPr>
            <p:spPr>
              <a:xfrm>
                <a:off x="6683210" y="1095438"/>
                <a:ext cx="5149672" cy="1131901"/>
              </a:xfrm>
            </p:spPr>
            <p:txBody>
              <a:bodyPr>
                <a:noAutofit/>
              </a:bodyPr>
              <a:lstStyle/>
              <a:p>
                <a:pPr marL="0" indent="0" algn="just">
                  <a:buNone/>
                </a:pPr>
                <a:r>
                  <a:rPr lang="en-US" sz="2000" dirty="0">
                    <a:latin typeface="Bahnschrift SemiBold Condensed" panose="020B0502040204020203" pitchFamily="34" charset="0"/>
                  </a:rPr>
                  <a:t>Among the three process corners TT, SS, FF. At the SS corner exhibits the largest variation in output impedance. This is because, at SS, both devices have reduced mobility and higher threshold voltages, leading to an increased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𝑜𝑛</m:t>
                        </m:r>
                      </m:sub>
                    </m:sSub>
                  </m:oMath>
                </a14:m>
                <a:endParaRPr lang="en-US" sz="2000" dirty="0">
                  <a:latin typeface="Bahnschrift SemiBold Condensed" panose="020B0502040204020203" pitchFamily="34" charset="0"/>
                </a:endParaRPr>
              </a:p>
            </p:txBody>
          </p:sp>
        </mc:Choice>
        <mc:Fallback xmlns="">
          <p:sp>
            <p:nvSpPr>
              <p:cNvPr id="3" name="Content Placeholder 2">
                <a:extLst>
                  <a:ext uri="{FF2B5EF4-FFF2-40B4-BE49-F238E27FC236}">
                    <a16:creationId xmlns:a16="http://schemas.microsoft.com/office/drawing/2014/main" id="{F368AC44-A98D-4411-B12F-0F89B7E33A09}"/>
                  </a:ext>
                </a:extLst>
              </p:cNvPr>
              <p:cNvSpPr>
                <a:spLocks noGrp="1" noRot="1" noChangeAspect="1" noMove="1" noResize="1" noEditPoints="1" noAdjustHandles="1" noChangeArrowheads="1" noChangeShapeType="1" noTextEdit="1"/>
              </p:cNvSpPr>
              <p:nvPr>
                <p:ph idx="1"/>
              </p:nvPr>
            </p:nvSpPr>
            <p:spPr>
              <a:xfrm>
                <a:off x="6683210" y="1095438"/>
                <a:ext cx="5149672" cy="1131901"/>
              </a:xfrm>
              <a:blipFill>
                <a:blip r:embed="rId3"/>
                <a:stretch>
                  <a:fillRect l="-1183" t="-5946" r="-1302" b="-29730"/>
                </a:stretch>
              </a:blipFill>
            </p:spPr>
            <p:txBody>
              <a:bodyPr/>
              <a:lstStyle/>
              <a:p>
                <a:r>
                  <a:rPr lang="en-US">
                    <a:noFill/>
                  </a:rPr>
                  <a:t> </a:t>
                </a:r>
              </a:p>
            </p:txBody>
          </p:sp>
        </mc:Fallback>
      </mc:AlternateContent>
      <p:pic>
        <p:nvPicPr>
          <p:cNvPr id="4" name="Content Placeholder 9">
            <a:extLst>
              <a:ext uri="{FF2B5EF4-FFF2-40B4-BE49-F238E27FC236}">
                <a16:creationId xmlns:a16="http://schemas.microsoft.com/office/drawing/2014/main" id="{8F482C48-0710-4374-BB0E-4B6C78E47C76}"/>
              </a:ext>
            </a:extLst>
          </p:cNvPr>
          <p:cNvPicPr>
            <a:picLocks noChangeAspect="1"/>
          </p:cNvPicPr>
          <p:nvPr/>
        </p:nvPicPr>
        <p:blipFill>
          <a:blip r:embed="rId4"/>
          <a:stretch>
            <a:fillRect/>
          </a:stretch>
        </p:blipFill>
        <p:spPr>
          <a:xfrm>
            <a:off x="464598" y="1036486"/>
            <a:ext cx="6113132" cy="5187719"/>
          </a:xfrm>
          <a:prstGeom prst="rect">
            <a:avLst/>
          </a:prstGeom>
        </p:spPr>
      </p:pic>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585CC439-5C34-42DF-958F-E0D42C3ABEAB}"/>
                  </a:ext>
                </a:extLst>
              </p:cNvPr>
              <p:cNvSpPr txBox="1">
                <a:spLocks/>
              </p:cNvSpPr>
              <p:nvPr/>
            </p:nvSpPr>
            <p:spPr>
              <a:xfrm>
                <a:off x="6683210" y="2659858"/>
                <a:ext cx="5360632" cy="9210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dirty="0">
                    <a:latin typeface="Bahnschrift SemiBold Condensed" panose="020B0502040204020203" pitchFamily="34" charset="0"/>
                  </a:rPr>
                  <a:t>“Within the same process node, the output impedance can vary significantly at low temperature. At low temperature, the transistor’s carrier mobility decreases, which in turn increases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𝑅</m:t>
                        </m:r>
                      </m:e>
                      <m:sub>
                        <m:r>
                          <a:rPr lang="en-US" sz="2000" b="0" i="1" smtClean="0">
                            <a:latin typeface="Cambria Math" panose="02040503050406030204" pitchFamily="18" charset="0"/>
                          </a:rPr>
                          <m:t>𝑜𝑛</m:t>
                        </m:r>
                      </m:sub>
                    </m:sSub>
                  </m:oMath>
                </a14:m>
                <a:r>
                  <a:rPr lang="en-US" sz="2000" dirty="0">
                    <a:latin typeface="Bahnschrift SemiBold Condensed" panose="020B0502040204020203" pitchFamily="34" charset="0"/>
                  </a:rPr>
                  <a:t>. Additionally, the series resistor’s value also changes as temperature drops, further contributing to the rise in output impedance.</a:t>
                </a:r>
              </a:p>
            </p:txBody>
          </p:sp>
        </mc:Choice>
        <mc:Fallback xmlns="">
          <p:sp>
            <p:nvSpPr>
              <p:cNvPr id="6" name="Content Placeholder 2">
                <a:extLst>
                  <a:ext uri="{FF2B5EF4-FFF2-40B4-BE49-F238E27FC236}">
                    <a16:creationId xmlns:a16="http://schemas.microsoft.com/office/drawing/2014/main" id="{585CC439-5C34-42DF-958F-E0D42C3ABEAB}"/>
                  </a:ext>
                </a:extLst>
              </p:cNvPr>
              <p:cNvSpPr txBox="1">
                <a:spLocks noRot="1" noChangeAspect="1" noMove="1" noResize="1" noEditPoints="1" noAdjustHandles="1" noChangeArrowheads="1" noChangeShapeType="1" noTextEdit="1"/>
              </p:cNvSpPr>
              <p:nvPr/>
            </p:nvSpPr>
            <p:spPr>
              <a:xfrm>
                <a:off x="6683210" y="2659858"/>
                <a:ext cx="5360632" cy="921058"/>
              </a:xfrm>
              <a:prstGeom prst="rect">
                <a:avLst/>
              </a:prstGeom>
              <a:blipFill>
                <a:blip r:embed="rId5"/>
                <a:stretch>
                  <a:fillRect l="-1136" t="-6623" r="-1136" b="-1006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68D7C7E4-0F4D-44D8-BBC3-349CE816BF16}"/>
                  </a:ext>
                </a:extLst>
              </p:cNvPr>
              <p:cNvSpPr txBox="1">
                <a:spLocks/>
              </p:cNvSpPr>
              <p:nvPr/>
            </p:nvSpPr>
            <p:spPr>
              <a:xfrm>
                <a:off x="6788690" y="4966547"/>
                <a:ext cx="5149672" cy="1131901"/>
              </a:xfrm>
              <a:prstGeom prst="rect">
                <a:avLst/>
              </a:prstGeom>
              <a:solidFill>
                <a:schemeClr val="accent1">
                  <a:lumMod val="60000"/>
                  <a:lumOff val="40000"/>
                </a:schemeClr>
              </a:solid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latin typeface="Bahnschrift SemiBold Condensed" panose="020B0502040204020203" pitchFamily="34" charset="0"/>
                  </a:rPr>
                  <a:t>Summary : My design is not good </a:t>
                </a:r>
                <a:r>
                  <a:rPr lang="en-US" dirty="0" err="1">
                    <a:latin typeface="Bahnschrift SemiBold Condensed" panose="020B0502040204020203" pitchFamily="34" charset="0"/>
                  </a:rPr>
                  <a:t>enogh</a:t>
                </a:r>
                <a:r>
                  <a:rPr lang="en-US" dirty="0">
                    <a:latin typeface="Bahnschrift SemiBold Condensed" panose="020B0502040204020203" pitchFamily="34" charset="0"/>
                  </a:rPr>
                  <a:t> for control impedance. The change in each PVT is too large ( </a:t>
                </a:r>
                <a14:m>
                  <m:oMath xmlns:m="http://schemas.openxmlformats.org/officeDocument/2006/math">
                    <m:r>
                      <a:rPr lang="en-US" b="0" i="1" smtClean="0">
                        <a:latin typeface="Cambria Math" panose="02040503050406030204" pitchFamily="18" charset="0"/>
                      </a:rPr>
                      <m:t>±20%)</m:t>
                    </m:r>
                  </m:oMath>
                </a14:m>
                <a:r>
                  <a:rPr lang="en-US" dirty="0">
                    <a:latin typeface="Bahnschrift SemiBold Condensed" panose="020B0502040204020203" pitchFamily="34" charset="0"/>
                  </a:rPr>
                  <a:t>, typically in case SS</a:t>
                </a:r>
              </a:p>
            </p:txBody>
          </p:sp>
        </mc:Choice>
        <mc:Fallback xmlns="">
          <p:sp>
            <p:nvSpPr>
              <p:cNvPr id="7" name="Content Placeholder 2">
                <a:extLst>
                  <a:ext uri="{FF2B5EF4-FFF2-40B4-BE49-F238E27FC236}">
                    <a16:creationId xmlns:a16="http://schemas.microsoft.com/office/drawing/2014/main" id="{68D7C7E4-0F4D-44D8-BBC3-349CE816BF16}"/>
                  </a:ext>
                </a:extLst>
              </p:cNvPr>
              <p:cNvSpPr txBox="1">
                <a:spLocks noRot="1" noChangeAspect="1" noMove="1" noResize="1" noEditPoints="1" noAdjustHandles="1" noChangeArrowheads="1" noChangeShapeType="1" noTextEdit="1"/>
              </p:cNvSpPr>
              <p:nvPr/>
            </p:nvSpPr>
            <p:spPr>
              <a:xfrm>
                <a:off x="6788690" y="4966547"/>
                <a:ext cx="5149672" cy="1131901"/>
              </a:xfrm>
              <a:prstGeom prst="rect">
                <a:avLst/>
              </a:prstGeom>
              <a:blipFill>
                <a:blip r:embed="rId6"/>
                <a:stretch>
                  <a:fillRect l="-2133" t="-12432" r="-2251" b="-5405"/>
                </a:stretch>
              </a:blipFill>
            </p:spPr>
            <p:txBody>
              <a:bodyPr/>
              <a:lstStyle/>
              <a:p>
                <a:r>
                  <a:rPr lang="en-US">
                    <a:noFill/>
                  </a:rPr>
                  <a:t> </a:t>
                </a:r>
              </a:p>
            </p:txBody>
          </p:sp>
        </mc:Fallback>
      </mc:AlternateContent>
      <p:sp>
        <p:nvSpPr>
          <p:cNvPr id="12" name="Date Placeholder 11">
            <a:extLst>
              <a:ext uri="{FF2B5EF4-FFF2-40B4-BE49-F238E27FC236}">
                <a16:creationId xmlns:a16="http://schemas.microsoft.com/office/drawing/2014/main" id="{4ED917E6-4CFA-4BFB-9FB7-6D266AA78F3D}"/>
              </a:ext>
            </a:extLst>
          </p:cNvPr>
          <p:cNvSpPr>
            <a:spLocks noGrp="1"/>
          </p:cNvSpPr>
          <p:nvPr>
            <p:ph type="dt" sz="half" idx="10"/>
          </p:nvPr>
        </p:nvSpPr>
        <p:spPr/>
        <p:txBody>
          <a:bodyPr/>
          <a:lstStyle/>
          <a:p>
            <a:fld id="{C2359ED1-B745-47B7-81AE-DCB95A92A795}" type="datetime1">
              <a:rPr lang="en-US" sz="2400" smtClean="0"/>
              <a:t>6/3/2025</a:t>
            </a:fld>
            <a:endParaRPr lang="en-US" sz="2400"/>
          </a:p>
        </p:txBody>
      </p:sp>
      <p:sp>
        <p:nvSpPr>
          <p:cNvPr id="13" name="Footer Placeholder 12">
            <a:extLst>
              <a:ext uri="{FF2B5EF4-FFF2-40B4-BE49-F238E27FC236}">
                <a16:creationId xmlns:a16="http://schemas.microsoft.com/office/drawing/2014/main" id="{339B42C5-9F47-4C8E-AB2C-F8F781E129E8}"/>
              </a:ext>
            </a:extLst>
          </p:cNvPr>
          <p:cNvSpPr>
            <a:spLocks noGrp="1"/>
          </p:cNvSpPr>
          <p:nvPr>
            <p:ph type="ftr" sz="quarter" idx="11"/>
          </p:nvPr>
        </p:nvSpPr>
        <p:spPr/>
        <p:txBody>
          <a:bodyPr/>
          <a:lstStyle/>
          <a:p>
            <a:r>
              <a:rPr lang="en-US" sz="2400"/>
              <a:t>Dept of Electronic Engineering</a:t>
            </a:r>
          </a:p>
        </p:txBody>
      </p:sp>
      <p:sp>
        <p:nvSpPr>
          <p:cNvPr id="14" name="Slide Number Placeholder 13">
            <a:extLst>
              <a:ext uri="{FF2B5EF4-FFF2-40B4-BE49-F238E27FC236}">
                <a16:creationId xmlns:a16="http://schemas.microsoft.com/office/drawing/2014/main" id="{D3FB1952-596D-48AE-B574-DFF220F1D3DD}"/>
              </a:ext>
            </a:extLst>
          </p:cNvPr>
          <p:cNvSpPr>
            <a:spLocks noGrp="1"/>
          </p:cNvSpPr>
          <p:nvPr>
            <p:ph type="sldNum" sz="quarter" idx="12"/>
          </p:nvPr>
        </p:nvSpPr>
        <p:spPr/>
        <p:txBody>
          <a:bodyPr/>
          <a:lstStyle/>
          <a:p>
            <a:fld id="{952A837F-FDD8-4A5A-8D82-65CDA50A5412}" type="slidenum">
              <a:rPr lang="en-US" sz="2400" smtClean="0"/>
              <a:t>14</a:t>
            </a:fld>
            <a:endParaRPr lang="en-US" sz="2400"/>
          </a:p>
        </p:txBody>
      </p:sp>
    </p:spTree>
    <p:extLst>
      <p:ext uri="{BB962C8B-B14F-4D97-AF65-F5344CB8AC3E}">
        <p14:creationId xmlns:p14="http://schemas.microsoft.com/office/powerpoint/2010/main" val="3108254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0B61E-5573-4CD7-9461-10D19ED4532A}"/>
              </a:ext>
            </a:extLst>
          </p:cNvPr>
          <p:cNvSpPr>
            <a:spLocks noGrp="1"/>
          </p:cNvSpPr>
          <p:nvPr>
            <p:ph type="title"/>
          </p:nvPr>
        </p:nvSpPr>
        <p:spPr>
          <a:xfrm>
            <a:off x="1641259" y="371520"/>
            <a:ext cx="8909482" cy="431322"/>
          </a:xfrm>
        </p:spPr>
        <p:txBody>
          <a:bodyPr>
            <a:normAutofit fontScale="90000"/>
          </a:bodyPr>
          <a:lstStyle/>
          <a:p>
            <a:pPr algn="ctr"/>
            <a:r>
              <a:rPr lang="en-US" dirty="0">
                <a:latin typeface="Bahnschrift SemiBold Condensed" panose="020B0502040204020203" pitchFamily="34" charset="0"/>
              </a:rPr>
              <a:t>Measure parameter with </a:t>
            </a:r>
            <a:r>
              <a:rPr lang="en-US" dirty="0" err="1">
                <a:latin typeface="Bahnschrift SemiBold Condensed" panose="020B0502040204020203" pitchFamily="34" charset="0"/>
              </a:rPr>
              <a:t>prbs</a:t>
            </a:r>
            <a:r>
              <a:rPr lang="en-US" dirty="0">
                <a:latin typeface="Bahnschrift SemiBold Condensed" panose="020B0502040204020203" pitchFamily="34" charset="0"/>
              </a:rPr>
              <a:t> source </a:t>
            </a:r>
          </a:p>
        </p:txBody>
      </p:sp>
      <p:sp>
        <p:nvSpPr>
          <p:cNvPr id="3" name="Content Placeholder 2">
            <a:extLst>
              <a:ext uri="{FF2B5EF4-FFF2-40B4-BE49-F238E27FC236}">
                <a16:creationId xmlns:a16="http://schemas.microsoft.com/office/drawing/2014/main" id="{718705E2-A285-4D5D-96CD-10CA0D8487F0}"/>
              </a:ext>
            </a:extLst>
          </p:cNvPr>
          <p:cNvSpPr>
            <a:spLocks noGrp="1"/>
          </p:cNvSpPr>
          <p:nvPr>
            <p:ph idx="1"/>
          </p:nvPr>
        </p:nvSpPr>
        <p:spPr>
          <a:xfrm>
            <a:off x="2742984" y="5757917"/>
            <a:ext cx="6339397" cy="435005"/>
          </a:xfrm>
        </p:spPr>
        <p:txBody>
          <a:bodyPr>
            <a:normAutofit fontScale="92500" lnSpcReduction="10000"/>
          </a:bodyPr>
          <a:lstStyle/>
          <a:p>
            <a:pPr marL="0" indent="0" algn="ctr">
              <a:buNone/>
            </a:pPr>
            <a:r>
              <a:rPr lang="en-US" dirty="0">
                <a:latin typeface="Bahnschrift SemiBold Condensed" panose="020B0502040204020203" pitchFamily="34" charset="0"/>
              </a:rPr>
              <a:t>We need to config some parameter for </a:t>
            </a:r>
            <a:r>
              <a:rPr lang="en-US" dirty="0" err="1">
                <a:latin typeface="Bahnschrift SemiBold Condensed" panose="020B0502040204020203" pitchFamily="34" charset="0"/>
              </a:rPr>
              <a:t>prbs</a:t>
            </a:r>
            <a:r>
              <a:rPr lang="en-US" dirty="0">
                <a:latin typeface="Bahnschrift SemiBold Condensed" panose="020B0502040204020203" pitchFamily="34" charset="0"/>
              </a:rPr>
              <a:t> source first</a:t>
            </a:r>
          </a:p>
        </p:txBody>
      </p:sp>
      <p:pic>
        <p:nvPicPr>
          <p:cNvPr id="4" name="Picture 3">
            <a:extLst>
              <a:ext uri="{FF2B5EF4-FFF2-40B4-BE49-F238E27FC236}">
                <a16:creationId xmlns:a16="http://schemas.microsoft.com/office/drawing/2014/main" id="{1371E138-13FB-4807-A422-00181CB102D1}"/>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430124" y="1035297"/>
            <a:ext cx="3112066" cy="4559192"/>
          </a:xfrm>
          <a:prstGeom prst="rect">
            <a:avLst/>
          </a:prstGeom>
        </p:spPr>
      </p:pic>
      <p:pic>
        <p:nvPicPr>
          <p:cNvPr id="5" name="Picture 4">
            <a:extLst>
              <a:ext uri="{FF2B5EF4-FFF2-40B4-BE49-F238E27FC236}">
                <a16:creationId xmlns:a16="http://schemas.microsoft.com/office/drawing/2014/main" id="{98D26E35-0A8A-4F93-84F5-AB42D8E30AB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847112" y="1035297"/>
            <a:ext cx="2926670" cy="4559192"/>
          </a:xfrm>
          <a:prstGeom prst="rect">
            <a:avLst/>
          </a:prstGeom>
        </p:spPr>
      </p:pic>
      <p:pic>
        <p:nvPicPr>
          <p:cNvPr id="6" name="Picture 5">
            <a:extLst>
              <a:ext uri="{FF2B5EF4-FFF2-40B4-BE49-F238E27FC236}">
                <a16:creationId xmlns:a16="http://schemas.microsoft.com/office/drawing/2014/main" id="{2599556D-A654-4673-A949-E6E7D62A91DB}"/>
              </a:ext>
            </a:extLst>
          </p:cNvPr>
          <p:cNvPicPr/>
          <p:nvPr/>
        </p:nvPicPr>
        <p:blipFill>
          <a:blip r:embed="rId4">
            <a:extLst>
              <a:ext uri="{28A0092B-C50C-407E-A947-70E740481C1C}">
                <a14:useLocalDpi xmlns:a14="http://schemas.microsoft.com/office/drawing/2010/main" val="0"/>
              </a:ext>
            </a:extLst>
          </a:blip>
          <a:stretch>
            <a:fillRect/>
          </a:stretch>
        </p:blipFill>
        <p:spPr>
          <a:xfrm>
            <a:off x="7078705" y="1592270"/>
            <a:ext cx="4683171" cy="3259938"/>
          </a:xfrm>
          <a:prstGeom prst="rect">
            <a:avLst/>
          </a:prstGeom>
        </p:spPr>
      </p:pic>
      <p:sp>
        <p:nvSpPr>
          <p:cNvPr id="10" name="Date Placeholder 9">
            <a:extLst>
              <a:ext uri="{FF2B5EF4-FFF2-40B4-BE49-F238E27FC236}">
                <a16:creationId xmlns:a16="http://schemas.microsoft.com/office/drawing/2014/main" id="{A28B78DE-B2EA-4FEE-AE80-C0D56A71B9CA}"/>
              </a:ext>
            </a:extLst>
          </p:cNvPr>
          <p:cNvSpPr>
            <a:spLocks noGrp="1"/>
          </p:cNvSpPr>
          <p:nvPr>
            <p:ph type="dt" sz="half" idx="10"/>
          </p:nvPr>
        </p:nvSpPr>
        <p:spPr/>
        <p:txBody>
          <a:bodyPr/>
          <a:lstStyle/>
          <a:p>
            <a:fld id="{FC86A67F-7F57-4BFC-AD7B-323CDA197E1A}" type="datetime1">
              <a:rPr lang="en-US" sz="2400" smtClean="0"/>
              <a:t>6/3/2025</a:t>
            </a:fld>
            <a:endParaRPr lang="en-US" sz="2400"/>
          </a:p>
        </p:txBody>
      </p:sp>
      <p:sp>
        <p:nvSpPr>
          <p:cNvPr id="11" name="Footer Placeholder 10">
            <a:extLst>
              <a:ext uri="{FF2B5EF4-FFF2-40B4-BE49-F238E27FC236}">
                <a16:creationId xmlns:a16="http://schemas.microsoft.com/office/drawing/2014/main" id="{3FB61080-B41E-48C8-976F-315440F31271}"/>
              </a:ext>
            </a:extLst>
          </p:cNvPr>
          <p:cNvSpPr>
            <a:spLocks noGrp="1"/>
          </p:cNvSpPr>
          <p:nvPr>
            <p:ph type="ftr" sz="quarter" idx="11"/>
          </p:nvPr>
        </p:nvSpPr>
        <p:spPr/>
        <p:txBody>
          <a:bodyPr/>
          <a:lstStyle/>
          <a:p>
            <a:r>
              <a:rPr lang="en-US" sz="2400" dirty="0"/>
              <a:t>Dept of Electronic Engineering</a:t>
            </a:r>
          </a:p>
        </p:txBody>
      </p:sp>
      <p:sp>
        <p:nvSpPr>
          <p:cNvPr id="12" name="Slide Number Placeholder 11">
            <a:extLst>
              <a:ext uri="{FF2B5EF4-FFF2-40B4-BE49-F238E27FC236}">
                <a16:creationId xmlns:a16="http://schemas.microsoft.com/office/drawing/2014/main" id="{CBBCF42A-ECF2-47AD-B68A-47C5E2C05D9B}"/>
              </a:ext>
            </a:extLst>
          </p:cNvPr>
          <p:cNvSpPr>
            <a:spLocks noGrp="1"/>
          </p:cNvSpPr>
          <p:nvPr>
            <p:ph type="sldNum" sz="quarter" idx="12"/>
          </p:nvPr>
        </p:nvSpPr>
        <p:spPr/>
        <p:txBody>
          <a:bodyPr/>
          <a:lstStyle/>
          <a:p>
            <a:fld id="{952A837F-FDD8-4A5A-8D82-65CDA50A5412}" type="slidenum">
              <a:rPr lang="en-US" sz="2400" smtClean="0"/>
              <a:t>15</a:t>
            </a:fld>
            <a:endParaRPr lang="en-US" sz="2400" dirty="0"/>
          </a:p>
        </p:txBody>
      </p:sp>
    </p:spTree>
    <p:extLst>
      <p:ext uri="{BB962C8B-B14F-4D97-AF65-F5344CB8AC3E}">
        <p14:creationId xmlns:p14="http://schemas.microsoft.com/office/powerpoint/2010/main" val="2399707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D00B6-AEBF-400C-9D7C-E314EA819B3C}"/>
              </a:ext>
            </a:extLst>
          </p:cNvPr>
          <p:cNvSpPr>
            <a:spLocks noGrp="1"/>
          </p:cNvSpPr>
          <p:nvPr>
            <p:ph type="title"/>
          </p:nvPr>
        </p:nvSpPr>
        <p:spPr>
          <a:xfrm>
            <a:off x="3350211" y="375973"/>
            <a:ext cx="4736977" cy="540397"/>
          </a:xfrm>
        </p:spPr>
        <p:txBody>
          <a:bodyPr>
            <a:normAutofit fontScale="90000"/>
          </a:bodyPr>
          <a:lstStyle/>
          <a:p>
            <a:pPr algn="ctr"/>
            <a:r>
              <a:rPr lang="en-US" dirty="0">
                <a:latin typeface="Bahnschrift SemiBold Condensed" panose="020B0502040204020203" pitchFamily="34" charset="0"/>
              </a:rPr>
              <a:t>Testbench for measuring </a:t>
            </a:r>
          </a:p>
        </p:txBody>
      </p:sp>
      <p:pic>
        <p:nvPicPr>
          <p:cNvPr id="4" name="Picture 3">
            <a:extLst>
              <a:ext uri="{FF2B5EF4-FFF2-40B4-BE49-F238E27FC236}">
                <a16:creationId xmlns:a16="http://schemas.microsoft.com/office/drawing/2014/main" id="{A4E89BCB-1568-4492-A9F0-7699AA96DE1D}"/>
              </a:ext>
            </a:extLst>
          </p:cNvPr>
          <p:cNvPicPr/>
          <p:nvPr/>
        </p:nvPicPr>
        <p:blipFill>
          <a:blip r:embed="rId2"/>
          <a:stretch>
            <a:fillRect/>
          </a:stretch>
        </p:blipFill>
        <p:spPr>
          <a:xfrm>
            <a:off x="604423" y="1060892"/>
            <a:ext cx="5491577" cy="4895392"/>
          </a:xfrm>
          <a:prstGeom prst="rect">
            <a:avLst/>
          </a:prstGeom>
        </p:spPr>
      </p:pic>
      <p:pic>
        <p:nvPicPr>
          <p:cNvPr id="5" name="Picture 4">
            <a:extLst>
              <a:ext uri="{FF2B5EF4-FFF2-40B4-BE49-F238E27FC236}">
                <a16:creationId xmlns:a16="http://schemas.microsoft.com/office/drawing/2014/main" id="{BCEB9FED-44DC-4D7A-BB1D-C9A0FD1DB68E}"/>
              </a:ext>
            </a:extLst>
          </p:cNvPr>
          <p:cNvPicPr/>
          <p:nvPr/>
        </p:nvPicPr>
        <p:blipFill>
          <a:blip r:embed="rId3"/>
          <a:stretch>
            <a:fillRect/>
          </a:stretch>
        </p:blipFill>
        <p:spPr>
          <a:xfrm>
            <a:off x="6271336" y="1215653"/>
            <a:ext cx="5349299" cy="3977783"/>
          </a:xfrm>
          <a:prstGeom prst="rect">
            <a:avLst/>
          </a:prstGeom>
        </p:spPr>
      </p:pic>
      <p:sp>
        <p:nvSpPr>
          <p:cNvPr id="8" name="Oval 7">
            <a:extLst>
              <a:ext uri="{FF2B5EF4-FFF2-40B4-BE49-F238E27FC236}">
                <a16:creationId xmlns:a16="http://schemas.microsoft.com/office/drawing/2014/main" id="{CD973E38-F9B5-4EDD-9D3A-7DD39B65E95E}"/>
              </a:ext>
            </a:extLst>
          </p:cNvPr>
          <p:cNvSpPr/>
          <p:nvPr/>
        </p:nvSpPr>
        <p:spPr>
          <a:xfrm>
            <a:off x="7119891" y="1664564"/>
            <a:ext cx="1189608" cy="93710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a:extLst>
              <a:ext uri="{FF2B5EF4-FFF2-40B4-BE49-F238E27FC236}">
                <a16:creationId xmlns:a16="http://schemas.microsoft.com/office/drawing/2014/main" id="{2BD289A4-8CE6-4E14-9D86-3D7AE11B0F1B}"/>
              </a:ext>
            </a:extLst>
          </p:cNvPr>
          <p:cNvSpPr/>
          <p:nvPr/>
        </p:nvSpPr>
        <p:spPr>
          <a:xfrm>
            <a:off x="7756377" y="3787784"/>
            <a:ext cx="1189608" cy="93710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Arrow Connector 10">
            <a:extLst>
              <a:ext uri="{FF2B5EF4-FFF2-40B4-BE49-F238E27FC236}">
                <a16:creationId xmlns:a16="http://schemas.microsoft.com/office/drawing/2014/main" id="{B0EE592A-E20F-4D4C-A910-2D938BB569A4}"/>
              </a:ext>
            </a:extLst>
          </p:cNvPr>
          <p:cNvCxnSpPr>
            <a:cxnSpLocks/>
          </p:cNvCxnSpPr>
          <p:nvPr/>
        </p:nvCxnSpPr>
        <p:spPr>
          <a:xfrm flipV="1">
            <a:off x="8016536" y="1043385"/>
            <a:ext cx="1225118" cy="69663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363E399D-D4EC-40CA-A4E9-AEEC89121F98}"/>
              </a:ext>
            </a:extLst>
          </p:cNvPr>
          <p:cNvCxnSpPr>
            <a:cxnSpLocks/>
            <a:endCxn id="14" idx="2"/>
          </p:cNvCxnSpPr>
          <p:nvPr/>
        </p:nvCxnSpPr>
        <p:spPr>
          <a:xfrm flipV="1">
            <a:off x="8549196" y="1046476"/>
            <a:ext cx="936596" cy="271765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EAFB9E5C-4620-4AEA-BDA9-0F613F691E29}"/>
              </a:ext>
            </a:extLst>
          </p:cNvPr>
          <p:cNvSpPr/>
          <p:nvPr/>
        </p:nvSpPr>
        <p:spPr>
          <a:xfrm>
            <a:off x="8824405" y="689470"/>
            <a:ext cx="1322773" cy="35700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overshoot</a:t>
            </a:r>
          </a:p>
        </p:txBody>
      </p:sp>
      <p:sp>
        <p:nvSpPr>
          <p:cNvPr id="15" name="Oval 14">
            <a:extLst>
              <a:ext uri="{FF2B5EF4-FFF2-40B4-BE49-F238E27FC236}">
                <a16:creationId xmlns:a16="http://schemas.microsoft.com/office/drawing/2014/main" id="{B0D27209-BB56-4F53-9C3F-D0D907105234}"/>
              </a:ext>
            </a:extLst>
          </p:cNvPr>
          <p:cNvSpPr/>
          <p:nvPr/>
        </p:nvSpPr>
        <p:spPr>
          <a:xfrm>
            <a:off x="9417981" y="3886918"/>
            <a:ext cx="1189608" cy="937102"/>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Arrow Connector 15">
            <a:extLst>
              <a:ext uri="{FF2B5EF4-FFF2-40B4-BE49-F238E27FC236}">
                <a16:creationId xmlns:a16="http://schemas.microsoft.com/office/drawing/2014/main" id="{70C30975-8FF9-4F7E-8B94-21BA8A15624A}"/>
              </a:ext>
            </a:extLst>
          </p:cNvPr>
          <p:cNvCxnSpPr>
            <a:cxnSpLocks/>
          </p:cNvCxnSpPr>
          <p:nvPr/>
        </p:nvCxnSpPr>
        <p:spPr>
          <a:xfrm flipH="1" flipV="1">
            <a:off x="9787632" y="1043385"/>
            <a:ext cx="225153" cy="2843533"/>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F6B6DDE7-A872-4BB2-B70A-3997F226CA4C}"/>
              </a:ext>
            </a:extLst>
          </p:cNvPr>
          <p:cNvSpPr txBox="1">
            <a:spLocks/>
          </p:cNvSpPr>
          <p:nvPr/>
        </p:nvSpPr>
        <p:spPr>
          <a:xfrm>
            <a:off x="6788458" y="5394282"/>
            <a:ext cx="4799119" cy="817546"/>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latin typeface="Bahnschrift SemiBold Condensed" panose="020B0502040204020203" pitchFamily="34" charset="0"/>
              </a:rPr>
              <a:t>Too much overshoot, ringing </a:t>
            </a:r>
          </a:p>
          <a:p>
            <a:pPr algn="ctr"/>
            <a:r>
              <a:rPr lang="en-US" dirty="0">
                <a:latin typeface="Bahnschrift SemiBold Condensed" panose="020B0502040204020203" pitchFamily="34" charset="0"/>
              </a:rPr>
              <a:t>Slow settling time</a:t>
            </a:r>
          </a:p>
        </p:txBody>
      </p:sp>
      <p:sp>
        <p:nvSpPr>
          <p:cNvPr id="25" name="Date Placeholder 24">
            <a:extLst>
              <a:ext uri="{FF2B5EF4-FFF2-40B4-BE49-F238E27FC236}">
                <a16:creationId xmlns:a16="http://schemas.microsoft.com/office/drawing/2014/main" id="{8AC70BC2-B671-4325-9A41-AE63DD6E4702}"/>
              </a:ext>
            </a:extLst>
          </p:cNvPr>
          <p:cNvSpPr>
            <a:spLocks noGrp="1"/>
          </p:cNvSpPr>
          <p:nvPr>
            <p:ph type="dt" sz="half" idx="10"/>
          </p:nvPr>
        </p:nvSpPr>
        <p:spPr/>
        <p:txBody>
          <a:bodyPr/>
          <a:lstStyle/>
          <a:p>
            <a:fld id="{ECA2419F-78F0-41A9-9745-E64EC2618EEB}" type="datetime1">
              <a:rPr lang="en-US" sz="2400" smtClean="0"/>
              <a:t>6/3/2025</a:t>
            </a:fld>
            <a:endParaRPr lang="en-US" sz="2400"/>
          </a:p>
        </p:txBody>
      </p:sp>
      <p:sp>
        <p:nvSpPr>
          <p:cNvPr id="26" name="Footer Placeholder 25">
            <a:extLst>
              <a:ext uri="{FF2B5EF4-FFF2-40B4-BE49-F238E27FC236}">
                <a16:creationId xmlns:a16="http://schemas.microsoft.com/office/drawing/2014/main" id="{3B64BF6C-689E-4FBF-ABFC-3EE5096E4B84}"/>
              </a:ext>
            </a:extLst>
          </p:cNvPr>
          <p:cNvSpPr>
            <a:spLocks noGrp="1"/>
          </p:cNvSpPr>
          <p:nvPr>
            <p:ph type="ftr" sz="quarter" idx="11"/>
          </p:nvPr>
        </p:nvSpPr>
        <p:spPr/>
        <p:txBody>
          <a:bodyPr/>
          <a:lstStyle/>
          <a:p>
            <a:r>
              <a:rPr lang="en-US" sz="2400"/>
              <a:t>Dept of Electronic Engineering</a:t>
            </a:r>
          </a:p>
        </p:txBody>
      </p:sp>
      <p:sp>
        <p:nvSpPr>
          <p:cNvPr id="27" name="Slide Number Placeholder 26">
            <a:extLst>
              <a:ext uri="{FF2B5EF4-FFF2-40B4-BE49-F238E27FC236}">
                <a16:creationId xmlns:a16="http://schemas.microsoft.com/office/drawing/2014/main" id="{AD0F59CC-3F61-43B6-8214-ABAFAB65096B}"/>
              </a:ext>
            </a:extLst>
          </p:cNvPr>
          <p:cNvSpPr>
            <a:spLocks noGrp="1"/>
          </p:cNvSpPr>
          <p:nvPr>
            <p:ph type="sldNum" sz="quarter" idx="12"/>
          </p:nvPr>
        </p:nvSpPr>
        <p:spPr/>
        <p:txBody>
          <a:bodyPr/>
          <a:lstStyle/>
          <a:p>
            <a:fld id="{952A837F-FDD8-4A5A-8D82-65CDA50A5412}" type="slidenum">
              <a:rPr lang="en-US" sz="2400" smtClean="0"/>
              <a:t>16</a:t>
            </a:fld>
            <a:endParaRPr lang="en-US" sz="2400"/>
          </a:p>
        </p:txBody>
      </p:sp>
    </p:spTree>
    <p:extLst>
      <p:ext uri="{BB962C8B-B14F-4D97-AF65-F5344CB8AC3E}">
        <p14:creationId xmlns:p14="http://schemas.microsoft.com/office/powerpoint/2010/main" val="33984223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3A16E98C-74E5-49B5-90B8-7E26D5E11C49}"/>
              </a:ext>
            </a:extLst>
          </p:cNvPr>
          <p:cNvSpPr txBox="1">
            <a:spLocks/>
          </p:cNvSpPr>
          <p:nvPr/>
        </p:nvSpPr>
        <p:spPr>
          <a:xfrm>
            <a:off x="6600016" y="1690688"/>
            <a:ext cx="4468428" cy="10741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Bahnschrift SemiBold Condensed" panose="020B0502040204020203" pitchFamily="34" charset="0"/>
              </a:rPr>
              <a:t>For measure </a:t>
            </a:r>
            <a:r>
              <a:rPr lang="en-US" dirty="0" err="1">
                <a:latin typeface="Bahnschrift SemiBold Condensed" panose="020B0502040204020203" pitchFamily="34" charset="0"/>
              </a:rPr>
              <a:t>tfall</a:t>
            </a:r>
            <a:r>
              <a:rPr lang="en-US" dirty="0">
                <a:latin typeface="Bahnschrift SemiBold Condensed" panose="020B0502040204020203" pitchFamily="34" charset="0"/>
              </a:rPr>
              <a:t> , </a:t>
            </a:r>
            <a:r>
              <a:rPr lang="en-US" dirty="0" err="1">
                <a:latin typeface="Bahnschrift SemiBold Condensed" panose="020B0502040204020203" pitchFamily="34" charset="0"/>
              </a:rPr>
              <a:t>trise</a:t>
            </a:r>
            <a:r>
              <a:rPr lang="en-US" dirty="0">
                <a:latin typeface="Bahnschrift SemiBold Condensed" panose="020B0502040204020203" pitchFamily="34" charset="0"/>
              </a:rPr>
              <a:t> , duty cycle and jitter we use Eye diagram </a:t>
            </a:r>
          </a:p>
        </p:txBody>
      </p:sp>
      <p:pic>
        <p:nvPicPr>
          <p:cNvPr id="6" name="Picture 5">
            <a:extLst>
              <a:ext uri="{FF2B5EF4-FFF2-40B4-BE49-F238E27FC236}">
                <a16:creationId xmlns:a16="http://schemas.microsoft.com/office/drawing/2014/main" id="{A4F80CDE-0FEC-4DF6-BBFC-7D890FA8C7A9}"/>
              </a:ext>
            </a:extLst>
          </p:cNvPr>
          <p:cNvPicPr/>
          <p:nvPr/>
        </p:nvPicPr>
        <p:blipFill>
          <a:blip r:embed="rId3"/>
          <a:stretch>
            <a:fillRect/>
          </a:stretch>
        </p:blipFill>
        <p:spPr>
          <a:xfrm>
            <a:off x="1103104" y="3749394"/>
            <a:ext cx="4355680" cy="2236650"/>
          </a:xfrm>
          <a:prstGeom prst="rect">
            <a:avLst/>
          </a:prstGeom>
        </p:spPr>
      </p:pic>
      <p:pic>
        <p:nvPicPr>
          <p:cNvPr id="7" name="Picture 6">
            <a:extLst>
              <a:ext uri="{FF2B5EF4-FFF2-40B4-BE49-F238E27FC236}">
                <a16:creationId xmlns:a16="http://schemas.microsoft.com/office/drawing/2014/main" id="{F596C457-0A10-4E9D-BDDA-054DF9ECE4D5}"/>
              </a:ext>
            </a:extLst>
          </p:cNvPr>
          <p:cNvPicPr>
            <a:picLocks noChangeAspect="1"/>
          </p:cNvPicPr>
          <p:nvPr/>
        </p:nvPicPr>
        <p:blipFill>
          <a:blip r:embed="rId4"/>
          <a:stretch>
            <a:fillRect/>
          </a:stretch>
        </p:blipFill>
        <p:spPr>
          <a:xfrm>
            <a:off x="838200" y="829847"/>
            <a:ext cx="5169376" cy="2626677"/>
          </a:xfrm>
          <a:prstGeom prst="rect">
            <a:avLst/>
          </a:prstGeom>
        </p:spPr>
      </p:pic>
      <p:sp>
        <p:nvSpPr>
          <p:cNvPr id="8" name="Rectangle 7">
            <a:extLst>
              <a:ext uri="{FF2B5EF4-FFF2-40B4-BE49-F238E27FC236}">
                <a16:creationId xmlns:a16="http://schemas.microsoft.com/office/drawing/2014/main" id="{767B5564-2648-43EF-8188-B45BD0A87746}"/>
              </a:ext>
            </a:extLst>
          </p:cNvPr>
          <p:cNvSpPr/>
          <p:nvPr/>
        </p:nvSpPr>
        <p:spPr>
          <a:xfrm>
            <a:off x="1284636" y="2804782"/>
            <a:ext cx="390617" cy="15979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C41F7FD4-98D2-4818-9798-129EDD06B988}"/>
              </a:ext>
            </a:extLst>
          </p:cNvPr>
          <p:cNvCxnSpPr/>
          <p:nvPr/>
        </p:nvCxnSpPr>
        <p:spPr>
          <a:xfrm>
            <a:off x="1716792" y="2884681"/>
            <a:ext cx="279536"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F6D9E5F-88F3-4F57-A21B-945CBCC00879}"/>
              </a:ext>
            </a:extLst>
          </p:cNvPr>
          <p:cNvSpPr/>
          <p:nvPr/>
        </p:nvSpPr>
        <p:spPr>
          <a:xfrm>
            <a:off x="1996328" y="2827289"/>
            <a:ext cx="390617" cy="15978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rgbClr val="FF0000"/>
                </a:solidFill>
              </a:rPr>
              <a:t>2*UI</a:t>
            </a:r>
          </a:p>
        </p:txBody>
      </p:sp>
      <p:sp>
        <p:nvSpPr>
          <p:cNvPr id="13" name="Content Placeholder 2">
            <a:extLst>
              <a:ext uri="{FF2B5EF4-FFF2-40B4-BE49-F238E27FC236}">
                <a16:creationId xmlns:a16="http://schemas.microsoft.com/office/drawing/2014/main" id="{073B8D33-DD67-486E-97B5-28F0CDA3D9AC}"/>
              </a:ext>
            </a:extLst>
          </p:cNvPr>
          <p:cNvSpPr txBox="1">
            <a:spLocks/>
          </p:cNvSpPr>
          <p:nvPr/>
        </p:nvSpPr>
        <p:spPr>
          <a:xfrm>
            <a:off x="7572432" y="4535926"/>
            <a:ext cx="3403138" cy="74429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Bahnschrift SemiBold Condensed" panose="020B0502040204020203" pitchFamily="34" charset="0"/>
              </a:rPr>
              <a:t>We have Eye diagram example like this</a:t>
            </a:r>
          </a:p>
        </p:txBody>
      </p:sp>
      <p:sp>
        <p:nvSpPr>
          <p:cNvPr id="14" name="Arrow: Right 13">
            <a:extLst>
              <a:ext uri="{FF2B5EF4-FFF2-40B4-BE49-F238E27FC236}">
                <a16:creationId xmlns:a16="http://schemas.microsoft.com/office/drawing/2014/main" id="{E2CC2C0B-7F0E-4FFD-BA93-DF1374F3A577}"/>
              </a:ext>
            </a:extLst>
          </p:cNvPr>
          <p:cNvSpPr/>
          <p:nvPr/>
        </p:nvSpPr>
        <p:spPr>
          <a:xfrm flipH="1">
            <a:off x="6473242" y="4505855"/>
            <a:ext cx="785068" cy="7442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ate Placeholder 17">
            <a:extLst>
              <a:ext uri="{FF2B5EF4-FFF2-40B4-BE49-F238E27FC236}">
                <a16:creationId xmlns:a16="http://schemas.microsoft.com/office/drawing/2014/main" id="{577216A3-58E7-42C5-AB43-31C6E58B388D}"/>
              </a:ext>
            </a:extLst>
          </p:cNvPr>
          <p:cNvSpPr>
            <a:spLocks noGrp="1"/>
          </p:cNvSpPr>
          <p:nvPr>
            <p:ph type="dt" sz="half" idx="10"/>
          </p:nvPr>
        </p:nvSpPr>
        <p:spPr/>
        <p:txBody>
          <a:bodyPr/>
          <a:lstStyle/>
          <a:p>
            <a:fld id="{2D853B40-906F-413D-826D-5B51013EFB37}" type="datetime1">
              <a:rPr lang="en-US" sz="2400" smtClean="0"/>
              <a:t>6/3/2025</a:t>
            </a:fld>
            <a:endParaRPr lang="en-US" sz="2400"/>
          </a:p>
        </p:txBody>
      </p:sp>
      <p:sp>
        <p:nvSpPr>
          <p:cNvPr id="19" name="Footer Placeholder 18">
            <a:extLst>
              <a:ext uri="{FF2B5EF4-FFF2-40B4-BE49-F238E27FC236}">
                <a16:creationId xmlns:a16="http://schemas.microsoft.com/office/drawing/2014/main" id="{BDD64A48-7B78-458C-B288-EF2610214FDF}"/>
              </a:ext>
            </a:extLst>
          </p:cNvPr>
          <p:cNvSpPr>
            <a:spLocks noGrp="1"/>
          </p:cNvSpPr>
          <p:nvPr>
            <p:ph type="ftr" sz="quarter" idx="11"/>
          </p:nvPr>
        </p:nvSpPr>
        <p:spPr/>
        <p:txBody>
          <a:bodyPr/>
          <a:lstStyle/>
          <a:p>
            <a:r>
              <a:rPr lang="en-US" sz="2400"/>
              <a:t>Dept of Electronic Engineering</a:t>
            </a:r>
          </a:p>
        </p:txBody>
      </p:sp>
      <p:sp>
        <p:nvSpPr>
          <p:cNvPr id="20" name="Slide Number Placeholder 19">
            <a:extLst>
              <a:ext uri="{FF2B5EF4-FFF2-40B4-BE49-F238E27FC236}">
                <a16:creationId xmlns:a16="http://schemas.microsoft.com/office/drawing/2014/main" id="{5F464AAD-B71F-4A45-B2C2-F2D5DE460BA0}"/>
              </a:ext>
            </a:extLst>
          </p:cNvPr>
          <p:cNvSpPr>
            <a:spLocks noGrp="1"/>
          </p:cNvSpPr>
          <p:nvPr>
            <p:ph type="sldNum" sz="quarter" idx="12"/>
          </p:nvPr>
        </p:nvSpPr>
        <p:spPr/>
        <p:txBody>
          <a:bodyPr/>
          <a:lstStyle/>
          <a:p>
            <a:fld id="{952A837F-FDD8-4A5A-8D82-65CDA50A5412}" type="slidenum">
              <a:rPr lang="en-US" sz="2400" smtClean="0"/>
              <a:t>17</a:t>
            </a:fld>
            <a:endParaRPr lang="en-US" sz="2400"/>
          </a:p>
        </p:txBody>
      </p:sp>
    </p:spTree>
    <p:extLst>
      <p:ext uri="{BB962C8B-B14F-4D97-AF65-F5344CB8AC3E}">
        <p14:creationId xmlns:p14="http://schemas.microsoft.com/office/powerpoint/2010/main" val="238821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0A79-573F-44AD-A2F3-7EA4E6C1D657}"/>
              </a:ext>
            </a:extLst>
          </p:cNvPr>
          <p:cNvSpPr>
            <a:spLocks noGrp="1"/>
          </p:cNvSpPr>
          <p:nvPr>
            <p:ph type="title"/>
          </p:nvPr>
        </p:nvSpPr>
        <p:spPr>
          <a:xfrm>
            <a:off x="2358383" y="2944496"/>
            <a:ext cx="2408853" cy="806411"/>
          </a:xfrm>
        </p:spPr>
        <p:txBody>
          <a:bodyPr>
            <a:normAutofit/>
          </a:bodyPr>
          <a:lstStyle/>
          <a:p>
            <a:r>
              <a:rPr lang="en-US" sz="2400" dirty="0">
                <a:latin typeface="Bahnschrift SemiBold Condensed" panose="020B0502040204020203" pitchFamily="34" charset="0"/>
              </a:rPr>
              <a:t>Eye diagram of 9 PVT</a:t>
            </a:r>
          </a:p>
        </p:txBody>
      </p:sp>
      <p:pic>
        <p:nvPicPr>
          <p:cNvPr id="5" name="Picture 4">
            <a:extLst>
              <a:ext uri="{FF2B5EF4-FFF2-40B4-BE49-F238E27FC236}">
                <a16:creationId xmlns:a16="http://schemas.microsoft.com/office/drawing/2014/main" id="{1B799038-585D-4C47-9D06-B07B6E0DB16D}"/>
              </a:ext>
            </a:extLst>
          </p:cNvPr>
          <p:cNvPicPr/>
          <p:nvPr/>
        </p:nvPicPr>
        <p:blipFill>
          <a:blip r:embed="rId2"/>
          <a:stretch>
            <a:fillRect/>
          </a:stretch>
        </p:blipFill>
        <p:spPr>
          <a:xfrm>
            <a:off x="475932" y="1201368"/>
            <a:ext cx="6210935" cy="2579370"/>
          </a:xfrm>
          <a:prstGeom prst="rect">
            <a:avLst/>
          </a:prstGeom>
        </p:spPr>
      </p:pic>
      <p:pic>
        <p:nvPicPr>
          <p:cNvPr id="6" name="Picture 5">
            <a:extLst>
              <a:ext uri="{FF2B5EF4-FFF2-40B4-BE49-F238E27FC236}">
                <a16:creationId xmlns:a16="http://schemas.microsoft.com/office/drawing/2014/main" id="{53F2C711-CB1A-425D-9FCA-1C5B273ABE9F}"/>
              </a:ext>
            </a:extLst>
          </p:cNvPr>
          <p:cNvPicPr/>
          <p:nvPr/>
        </p:nvPicPr>
        <p:blipFill>
          <a:blip r:embed="rId3"/>
          <a:stretch>
            <a:fillRect/>
          </a:stretch>
        </p:blipFill>
        <p:spPr>
          <a:xfrm>
            <a:off x="693684" y="4351070"/>
            <a:ext cx="5402316" cy="1979310"/>
          </a:xfrm>
          <a:prstGeom prst="rect">
            <a:avLst/>
          </a:prstGeom>
        </p:spPr>
      </p:pic>
      <p:sp>
        <p:nvSpPr>
          <p:cNvPr id="7" name="Title 1">
            <a:extLst>
              <a:ext uri="{FF2B5EF4-FFF2-40B4-BE49-F238E27FC236}">
                <a16:creationId xmlns:a16="http://schemas.microsoft.com/office/drawing/2014/main" id="{54EA0089-3584-4780-BA6F-B03A5320FC1A}"/>
              </a:ext>
            </a:extLst>
          </p:cNvPr>
          <p:cNvSpPr txBox="1">
            <a:spLocks/>
          </p:cNvSpPr>
          <p:nvPr/>
        </p:nvSpPr>
        <p:spPr>
          <a:xfrm>
            <a:off x="6668276" y="3571943"/>
            <a:ext cx="4355324" cy="463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Bahnschrift SemiBold Condensed" panose="020B0502040204020203" pitchFamily="34" charset="0"/>
              </a:rPr>
              <a:t>Measure </a:t>
            </a:r>
            <a:r>
              <a:rPr lang="en-US" sz="4000" dirty="0" err="1">
                <a:latin typeface="Bahnschrift SemiBold Condensed" panose="020B0502040204020203" pitchFamily="34" charset="0"/>
              </a:rPr>
              <a:t>trise</a:t>
            </a:r>
            <a:r>
              <a:rPr lang="en-US" sz="4000" dirty="0">
                <a:latin typeface="Bahnschrift SemiBold Condensed" panose="020B0502040204020203" pitchFamily="34" charset="0"/>
              </a:rPr>
              <a:t>, </a:t>
            </a:r>
            <a:r>
              <a:rPr lang="en-US" sz="4000" dirty="0" err="1">
                <a:latin typeface="Bahnschrift SemiBold Condensed" panose="020B0502040204020203" pitchFamily="34" charset="0"/>
              </a:rPr>
              <a:t>tfall</a:t>
            </a:r>
            <a:endParaRPr lang="en-US" sz="4000" dirty="0">
              <a:latin typeface="Bahnschrift SemiBold Condensed" panose="020B0502040204020203" pitchFamily="34" charset="0"/>
            </a:endParaRPr>
          </a:p>
        </p:txBody>
      </p:sp>
      <p:sp>
        <p:nvSpPr>
          <p:cNvPr id="8" name="Title 1">
            <a:extLst>
              <a:ext uri="{FF2B5EF4-FFF2-40B4-BE49-F238E27FC236}">
                <a16:creationId xmlns:a16="http://schemas.microsoft.com/office/drawing/2014/main" id="{B70D8C7C-DBFC-4B24-AC38-FDA59D4B7752}"/>
              </a:ext>
            </a:extLst>
          </p:cNvPr>
          <p:cNvSpPr txBox="1">
            <a:spLocks/>
          </p:cNvSpPr>
          <p:nvPr/>
        </p:nvSpPr>
        <p:spPr>
          <a:xfrm>
            <a:off x="6668278" y="4140148"/>
            <a:ext cx="5268495" cy="18567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2900" indent="-342900" algn="just">
              <a:buFont typeface="Wingdings" panose="05000000000000000000" pitchFamily="2" charset="2"/>
              <a:buChar char="§"/>
            </a:pPr>
            <a:r>
              <a:rPr lang="en-US" sz="2400" dirty="0">
                <a:latin typeface="Bahnschrift SemiBold Condensed" panose="020B0502040204020203" pitchFamily="34" charset="0"/>
              </a:rPr>
              <a:t>On “Eye diagram” window -&gt; click Tool -&gt; Eye </a:t>
            </a:r>
            <a:r>
              <a:rPr lang="en-US" sz="2400" dirty="0" err="1">
                <a:latin typeface="Bahnschrift SemiBold Condensed" panose="020B0502040204020203" pitchFamily="34" charset="0"/>
              </a:rPr>
              <a:t>digram</a:t>
            </a:r>
            <a:r>
              <a:rPr lang="en-US" sz="2400" dirty="0">
                <a:latin typeface="Bahnschrift SemiBold Condensed" panose="020B0502040204020203" pitchFamily="34" charset="0"/>
              </a:rPr>
              <a:t> -&gt; click Advance Option -&gt; Choose name of signal we want </a:t>
            </a:r>
          </a:p>
          <a:p>
            <a:pPr marL="342900" indent="-342900" algn="just">
              <a:buFont typeface="Wingdings" panose="05000000000000000000" pitchFamily="2" charset="2"/>
              <a:buChar char="§"/>
            </a:pPr>
            <a:r>
              <a:rPr lang="en-US" sz="2400" dirty="0">
                <a:latin typeface="Bahnschrift SemiBold Condensed" panose="020B0502040204020203" pitchFamily="34" charset="0"/>
              </a:rPr>
              <a:t>Choose “Threshold “ 0 , Bin = 100 -&gt; OK</a:t>
            </a:r>
          </a:p>
        </p:txBody>
      </p:sp>
      <p:sp>
        <p:nvSpPr>
          <p:cNvPr id="11" name="Rectangle 10">
            <a:extLst>
              <a:ext uri="{FF2B5EF4-FFF2-40B4-BE49-F238E27FC236}">
                <a16:creationId xmlns:a16="http://schemas.microsoft.com/office/drawing/2014/main" id="{663830AE-1F29-4E0E-BC06-8C03368513B4}"/>
              </a:ext>
            </a:extLst>
          </p:cNvPr>
          <p:cNvSpPr/>
          <p:nvPr/>
        </p:nvSpPr>
        <p:spPr>
          <a:xfrm>
            <a:off x="4348136" y="6071607"/>
            <a:ext cx="419100" cy="13733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7BBDFF1-74D9-4FD2-B997-F067B9CCCB81}"/>
              </a:ext>
            </a:extLst>
          </p:cNvPr>
          <p:cNvSpPr/>
          <p:nvPr/>
        </p:nvSpPr>
        <p:spPr>
          <a:xfrm>
            <a:off x="1279902" y="1634558"/>
            <a:ext cx="953567" cy="60376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D9E77446-5B3F-4215-B3D7-F8CEA8F4515A}"/>
              </a:ext>
            </a:extLst>
          </p:cNvPr>
          <p:cNvCxnSpPr/>
          <p:nvPr/>
        </p:nvCxnSpPr>
        <p:spPr>
          <a:xfrm>
            <a:off x="1166669" y="2685362"/>
            <a:ext cx="2794000" cy="0"/>
          </a:xfrm>
          <a:prstGeom prst="straightConnector1">
            <a:avLst/>
          </a:prstGeom>
          <a:ln w="57150">
            <a:solidFill>
              <a:srgbClr val="FFFF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6F49F38-0002-4670-BDBB-E2B8FECE5A8E}"/>
              </a:ext>
            </a:extLst>
          </p:cNvPr>
          <p:cNvSpPr/>
          <p:nvPr/>
        </p:nvSpPr>
        <p:spPr>
          <a:xfrm>
            <a:off x="2494278" y="2356652"/>
            <a:ext cx="1087120" cy="27248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FF00"/>
                </a:solidFill>
                <a:latin typeface="Bahnschrift SemiBold Condensed" panose="020B0502040204020203" pitchFamily="34" charset="0"/>
              </a:rPr>
              <a:t>0.72UI</a:t>
            </a:r>
          </a:p>
        </p:txBody>
      </p:sp>
      <p:cxnSp>
        <p:nvCxnSpPr>
          <p:cNvPr id="17" name="Straight Arrow Connector 16">
            <a:extLst>
              <a:ext uri="{FF2B5EF4-FFF2-40B4-BE49-F238E27FC236}">
                <a16:creationId xmlns:a16="http://schemas.microsoft.com/office/drawing/2014/main" id="{0BCEDEE8-C4DF-47E2-912D-8D09246B819D}"/>
              </a:ext>
            </a:extLst>
          </p:cNvPr>
          <p:cNvCxnSpPr/>
          <p:nvPr/>
        </p:nvCxnSpPr>
        <p:spPr>
          <a:xfrm flipV="1">
            <a:off x="2233469" y="1634558"/>
            <a:ext cx="4856480" cy="1059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EF72544-5C4E-4732-A6D5-B0E80AF5DBDF}"/>
              </a:ext>
            </a:extLst>
          </p:cNvPr>
          <p:cNvSpPr/>
          <p:nvPr/>
        </p:nvSpPr>
        <p:spPr>
          <a:xfrm>
            <a:off x="4076443" y="2926294"/>
            <a:ext cx="953567" cy="60376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1CF1E1B2-A564-4520-9906-D94BD705C04B}"/>
              </a:ext>
            </a:extLst>
          </p:cNvPr>
          <p:cNvCxnSpPr/>
          <p:nvPr/>
        </p:nvCxnSpPr>
        <p:spPr>
          <a:xfrm flipV="1">
            <a:off x="5030010" y="1842082"/>
            <a:ext cx="2059939" cy="153416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BE830B5-8C6A-46B4-8B9A-1BC92C672F64}"/>
              </a:ext>
            </a:extLst>
          </p:cNvPr>
          <p:cNvSpPr/>
          <p:nvPr/>
        </p:nvSpPr>
        <p:spPr>
          <a:xfrm>
            <a:off x="7217761" y="1469813"/>
            <a:ext cx="2641600" cy="541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latin typeface="Bahnschrift SemiBold Condensed" panose="020B0502040204020203" pitchFamily="34" charset="0"/>
              </a:rPr>
              <a:t>The reflect of signal -&gt; make ISI</a:t>
            </a:r>
          </a:p>
        </p:txBody>
      </p:sp>
      <p:cxnSp>
        <p:nvCxnSpPr>
          <p:cNvPr id="23" name="Straight Arrow Connector 22">
            <a:extLst>
              <a:ext uri="{FF2B5EF4-FFF2-40B4-BE49-F238E27FC236}">
                <a16:creationId xmlns:a16="http://schemas.microsoft.com/office/drawing/2014/main" id="{461B659E-557F-48CA-AE82-79D7DD82706F}"/>
              </a:ext>
            </a:extLst>
          </p:cNvPr>
          <p:cNvCxnSpPr>
            <a:cxnSpLocks/>
          </p:cNvCxnSpPr>
          <p:nvPr/>
        </p:nvCxnSpPr>
        <p:spPr>
          <a:xfrm>
            <a:off x="2563669" y="2011150"/>
            <a:ext cx="0" cy="1217025"/>
          </a:xfrm>
          <a:prstGeom prst="straightConnector1">
            <a:avLst/>
          </a:prstGeom>
          <a:ln w="5715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5AA863EC-EB88-42DF-BAC7-136914D0E0CB}"/>
              </a:ext>
            </a:extLst>
          </p:cNvPr>
          <p:cNvCxnSpPr/>
          <p:nvPr/>
        </p:nvCxnSpPr>
        <p:spPr>
          <a:xfrm>
            <a:off x="2563669" y="2356652"/>
            <a:ext cx="4963160" cy="0"/>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EE5C622F-92BA-421A-AD96-A5A64E69B2BF}"/>
              </a:ext>
            </a:extLst>
          </p:cNvPr>
          <p:cNvCxnSpPr>
            <a:cxnSpLocks/>
          </p:cNvCxnSpPr>
          <p:nvPr/>
        </p:nvCxnSpPr>
        <p:spPr>
          <a:xfrm flipV="1">
            <a:off x="2633061" y="2491054"/>
            <a:ext cx="4853128" cy="463707"/>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88941A5-D295-44BA-A5D7-73CE7291DF73}"/>
              </a:ext>
            </a:extLst>
          </p:cNvPr>
          <p:cNvSpPr/>
          <p:nvPr/>
        </p:nvSpPr>
        <p:spPr>
          <a:xfrm>
            <a:off x="7486189" y="2142756"/>
            <a:ext cx="2641600" cy="5413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accent6">
                    <a:lumMod val="75000"/>
                  </a:schemeClr>
                </a:solidFill>
                <a:latin typeface="Bahnschrift SemiBold Condensed" panose="020B0502040204020203" pitchFamily="34" charset="0"/>
              </a:rPr>
              <a:t>Time for logic “0” is not equal time logic “1”</a:t>
            </a:r>
          </a:p>
        </p:txBody>
      </p:sp>
      <p:sp>
        <p:nvSpPr>
          <p:cNvPr id="36" name="Date Placeholder 35">
            <a:extLst>
              <a:ext uri="{FF2B5EF4-FFF2-40B4-BE49-F238E27FC236}">
                <a16:creationId xmlns:a16="http://schemas.microsoft.com/office/drawing/2014/main" id="{D89C1846-93C8-4AFB-8B6F-6921C5D227F5}"/>
              </a:ext>
            </a:extLst>
          </p:cNvPr>
          <p:cNvSpPr>
            <a:spLocks noGrp="1"/>
          </p:cNvSpPr>
          <p:nvPr>
            <p:ph type="dt" sz="half" idx="10"/>
          </p:nvPr>
        </p:nvSpPr>
        <p:spPr/>
        <p:txBody>
          <a:bodyPr/>
          <a:lstStyle/>
          <a:p>
            <a:fld id="{0EE66839-E4B9-481C-BC2D-2DE91BEE66C7}" type="datetime1">
              <a:rPr lang="en-US" sz="2400" smtClean="0"/>
              <a:t>6/3/2025</a:t>
            </a:fld>
            <a:endParaRPr lang="en-US" sz="2400"/>
          </a:p>
        </p:txBody>
      </p:sp>
      <p:sp>
        <p:nvSpPr>
          <p:cNvPr id="37" name="Footer Placeholder 36">
            <a:extLst>
              <a:ext uri="{FF2B5EF4-FFF2-40B4-BE49-F238E27FC236}">
                <a16:creationId xmlns:a16="http://schemas.microsoft.com/office/drawing/2014/main" id="{11B812F0-4651-45A4-A39F-7E86DD39F40F}"/>
              </a:ext>
            </a:extLst>
          </p:cNvPr>
          <p:cNvSpPr>
            <a:spLocks noGrp="1"/>
          </p:cNvSpPr>
          <p:nvPr>
            <p:ph type="ftr" sz="quarter" idx="11"/>
          </p:nvPr>
        </p:nvSpPr>
        <p:spPr/>
        <p:txBody>
          <a:bodyPr/>
          <a:lstStyle/>
          <a:p>
            <a:r>
              <a:rPr lang="en-US" sz="2400"/>
              <a:t>Dept of Electronic Engineering</a:t>
            </a:r>
          </a:p>
        </p:txBody>
      </p:sp>
      <p:sp>
        <p:nvSpPr>
          <p:cNvPr id="38" name="Slide Number Placeholder 37">
            <a:extLst>
              <a:ext uri="{FF2B5EF4-FFF2-40B4-BE49-F238E27FC236}">
                <a16:creationId xmlns:a16="http://schemas.microsoft.com/office/drawing/2014/main" id="{D51E07B9-85FC-46FB-BE0A-AB9DF5F6554F}"/>
              </a:ext>
            </a:extLst>
          </p:cNvPr>
          <p:cNvSpPr>
            <a:spLocks noGrp="1"/>
          </p:cNvSpPr>
          <p:nvPr>
            <p:ph type="sldNum" sz="quarter" idx="12"/>
          </p:nvPr>
        </p:nvSpPr>
        <p:spPr/>
        <p:txBody>
          <a:bodyPr/>
          <a:lstStyle/>
          <a:p>
            <a:fld id="{952A837F-FDD8-4A5A-8D82-65CDA50A5412}" type="slidenum">
              <a:rPr lang="en-US" sz="2400" smtClean="0"/>
              <a:t>18</a:t>
            </a:fld>
            <a:endParaRPr lang="en-US" sz="2400"/>
          </a:p>
        </p:txBody>
      </p:sp>
      <p:sp>
        <p:nvSpPr>
          <p:cNvPr id="22" name="Title 1">
            <a:extLst>
              <a:ext uri="{FF2B5EF4-FFF2-40B4-BE49-F238E27FC236}">
                <a16:creationId xmlns:a16="http://schemas.microsoft.com/office/drawing/2014/main" id="{052E1764-13EB-4F7C-97CF-4E08C49571D5}"/>
              </a:ext>
            </a:extLst>
          </p:cNvPr>
          <p:cNvSpPr txBox="1">
            <a:spLocks/>
          </p:cNvSpPr>
          <p:nvPr/>
        </p:nvSpPr>
        <p:spPr>
          <a:xfrm>
            <a:off x="1474235" y="3778186"/>
            <a:ext cx="4355324" cy="4637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latin typeface="Bahnschrift SemiBold Condensed" panose="020B0502040204020203" pitchFamily="34" charset="0"/>
              </a:rPr>
              <a:t>Eye diagram of 9 PVT</a:t>
            </a:r>
          </a:p>
        </p:txBody>
      </p:sp>
    </p:spTree>
    <p:extLst>
      <p:ext uri="{BB962C8B-B14F-4D97-AF65-F5344CB8AC3E}">
        <p14:creationId xmlns:p14="http://schemas.microsoft.com/office/powerpoint/2010/main" val="2676000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401C-9BD1-4554-BD94-236CCA580F41}"/>
              </a:ext>
            </a:extLst>
          </p:cNvPr>
          <p:cNvSpPr>
            <a:spLocks noGrp="1"/>
          </p:cNvSpPr>
          <p:nvPr>
            <p:ph type="title"/>
          </p:nvPr>
        </p:nvSpPr>
        <p:spPr>
          <a:xfrm>
            <a:off x="1231739" y="274955"/>
            <a:ext cx="5166360" cy="732155"/>
          </a:xfrm>
        </p:spPr>
        <p:txBody>
          <a:bodyPr/>
          <a:lstStyle/>
          <a:p>
            <a:r>
              <a:rPr lang="en-US" dirty="0"/>
              <a:t>Table value of 9 PVT </a:t>
            </a:r>
          </a:p>
        </p:txBody>
      </p:sp>
      <p:pic>
        <p:nvPicPr>
          <p:cNvPr id="4" name="Picture 3">
            <a:extLst>
              <a:ext uri="{FF2B5EF4-FFF2-40B4-BE49-F238E27FC236}">
                <a16:creationId xmlns:a16="http://schemas.microsoft.com/office/drawing/2014/main" id="{F23C164F-A502-4354-AE04-5CE5AD5F7F72}"/>
              </a:ext>
            </a:extLst>
          </p:cNvPr>
          <p:cNvPicPr>
            <a:picLocks noChangeAspect="1"/>
          </p:cNvPicPr>
          <p:nvPr/>
        </p:nvPicPr>
        <p:blipFill>
          <a:blip r:embed="rId2"/>
          <a:stretch>
            <a:fillRect/>
          </a:stretch>
        </p:blipFill>
        <p:spPr>
          <a:xfrm>
            <a:off x="929640" y="1241108"/>
            <a:ext cx="9270561" cy="2342832"/>
          </a:xfrm>
          <a:prstGeom prst="rect">
            <a:avLst/>
          </a:prstGeom>
        </p:spPr>
      </p:pic>
      <p:sp>
        <p:nvSpPr>
          <p:cNvPr id="5" name="Title 1">
            <a:extLst>
              <a:ext uri="{FF2B5EF4-FFF2-40B4-BE49-F238E27FC236}">
                <a16:creationId xmlns:a16="http://schemas.microsoft.com/office/drawing/2014/main" id="{AE02CE54-C2E2-44B5-AA19-DB4DE1E4907E}"/>
              </a:ext>
            </a:extLst>
          </p:cNvPr>
          <p:cNvSpPr txBox="1">
            <a:spLocks/>
          </p:cNvSpPr>
          <p:nvPr/>
        </p:nvSpPr>
        <p:spPr>
          <a:xfrm>
            <a:off x="929640" y="4172267"/>
            <a:ext cx="3510280" cy="3968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Bahnschrift SemiBold Condensed" panose="020B0502040204020203" pitchFamily="34" charset="0"/>
              </a:rPr>
              <a:t>All value </a:t>
            </a:r>
            <a:r>
              <a:rPr lang="en-US" sz="2800" dirty="0" err="1">
                <a:latin typeface="Bahnschrift SemiBold Condensed" panose="020B0502040204020203" pitchFamily="34" charset="0"/>
              </a:rPr>
              <a:t>trise</a:t>
            </a:r>
            <a:r>
              <a:rPr lang="en-US" sz="2800" dirty="0">
                <a:latin typeface="Bahnschrift SemiBold Condensed" panose="020B0502040204020203" pitchFamily="34" charset="0"/>
              </a:rPr>
              <a:t>, </a:t>
            </a:r>
            <a:r>
              <a:rPr lang="en-US" sz="2800" dirty="0" err="1">
                <a:latin typeface="Bahnschrift SemiBold Condensed" panose="020B0502040204020203" pitchFamily="34" charset="0"/>
              </a:rPr>
              <a:t>tfall</a:t>
            </a:r>
            <a:r>
              <a:rPr lang="en-US" sz="2800" dirty="0">
                <a:latin typeface="Bahnschrift SemiBold Condensed" panose="020B0502040204020203" pitchFamily="34" charset="0"/>
              </a:rPr>
              <a:t> are smaller than 20 </a:t>
            </a:r>
            <a:r>
              <a:rPr lang="en-US" sz="2800" dirty="0" err="1">
                <a:latin typeface="Bahnschrift SemiBold Condensed" panose="020B0502040204020203" pitchFamily="34" charset="0"/>
              </a:rPr>
              <a:t>ps</a:t>
            </a:r>
            <a:r>
              <a:rPr lang="en-US" sz="2800" dirty="0">
                <a:latin typeface="Bahnschrift SemiBold Condensed" panose="020B0502040204020203" pitchFamily="34" charset="0"/>
              </a:rPr>
              <a:t> (standard for 5 Gb/s ) </a:t>
            </a:r>
          </a:p>
        </p:txBody>
      </p:sp>
      <p:sp>
        <p:nvSpPr>
          <p:cNvPr id="6" name="Title 1">
            <a:extLst>
              <a:ext uri="{FF2B5EF4-FFF2-40B4-BE49-F238E27FC236}">
                <a16:creationId xmlns:a16="http://schemas.microsoft.com/office/drawing/2014/main" id="{78A68D52-0DE8-411A-B2F7-941CC87B254C}"/>
              </a:ext>
            </a:extLst>
          </p:cNvPr>
          <p:cNvSpPr txBox="1">
            <a:spLocks/>
          </p:cNvSpPr>
          <p:nvPr/>
        </p:nvSpPr>
        <p:spPr>
          <a:xfrm>
            <a:off x="838200" y="5293042"/>
            <a:ext cx="5166360" cy="8489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Bahnschrift SemiBold Condensed" panose="020B0502040204020203" pitchFamily="34" charset="0"/>
              </a:rPr>
              <a:t>DT_H and DT_L are larger than 100 </a:t>
            </a:r>
            <a:r>
              <a:rPr lang="en-US" sz="2800" dirty="0" err="1">
                <a:latin typeface="Bahnschrift SemiBold Condensed" panose="020B0502040204020203" pitchFamily="34" charset="0"/>
              </a:rPr>
              <a:t>ps</a:t>
            </a:r>
            <a:r>
              <a:rPr lang="en-US" sz="2800" dirty="0">
                <a:latin typeface="Bahnschrift SemiBold Condensed" panose="020B0502040204020203" pitchFamily="34" charset="0"/>
              </a:rPr>
              <a:t> (standard for 5 Gb/s ) </a:t>
            </a:r>
          </a:p>
        </p:txBody>
      </p:sp>
      <p:sp>
        <p:nvSpPr>
          <p:cNvPr id="7" name="Title 1">
            <a:extLst>
              <a:ext uri="{FF2B5EF4-FFF2-40B4-BE49-F238E27FC236}">
                <a16:creationId xmlns:a16="http://schemas.microsoft.com/office/drawing/2014/main" id="{0B17E151-D6CD-418D-BEB3-F7626E7FCAF3}"/>
              </a:ext>
            </a:extLst>
          </p:cNvPr>
          <p:cNvSpPr txBox="1">
            <a:spLocks/>
          </p:cNvSpPr>
          <p:nvPr/>
        </p:nvSpPr>
        <p:spPr>
          <a:xfrm>
            <a:off x="6187442" y="3934460"/>
            <a:ext cx="3622040" cy="8928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Bahnschrift SemiBold Condensed" panose="020B0502040204020203" pitchFamily="34" charset="0"/>
              </a:rPr>
              <a:t>The rising/falling time of edge is good </a:t>
            </a:r>
          </a:p>
        </p:txBody>
      </p:sp>
      <mc:AlternateContent xmlns:mc="http://schemas.openxmlformats.org/markup-compatibility/2006" xmlns:a14="http://schemas.microsoft.com/office/drawing/2010/main">
        <mc:Choice Requires="a14">
          <p:sp>
            <p:nvSpPr>
              <p:cNvPr id="8" name="Title 1">
                <a:extLst>
                  <a:ext uri="{FF2B5EF4-FFF2-40B4-BE49-F238E27FC236}">
                    <a16:creationId xmlns:a16="http://schemas.microsoft.com/office/drawing/2014/main" id="{F8AA61D9-65AC-4015-A748-8679872ED43B}"/>
                  </a:ext>
                </a:extLst>
              </p:cNvPr>
              <p:cNvSpPr txBox="1">
                <a:spLocks/>
              </p:cNvSpPr>
              <p:nvPr/>
            </p:nvSpPr>
            <p:spPr>
              <a:xfrm>
                <a:off x="6187442" y="5369877"/>
                <a:ext cx="4892480" cy="8489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dirty="0">
                    <a:latin typeface="Bahnschrift SemiBold Condensed" panose="020B0502040204020203" pitchFamily="34" charset="0"/>
                  </a:rPr>
                  <a:t>For 5 Gb/s -&gt; </a:t>
                </a:r>
                <a14:m>
                  <m:oMath xmlns:m="http://schemas.openxmlformats.org/officeDocument/2006/math">
                    <m:r>
                      <a:rPr lang="en-US" sz="2800" b="0" i="1" smtClean="0">
                        <a:latin typeface="Cambria Math" panose="02040503050406030204" pitchFamily="18" charset="0"/>
                      </a:rPr>
                      <m:t>𝐷</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𝐻</m:t>
                        </m:r>
                      </m:sub>
                    </m:sSub>
                    <m:r>
                      <a:rPr lang="en-US" sz="2800" b="0" i="1" smtClean="0">
                        <a:latin typeface="Cambria Math" panose="02040503050406030204" pitchFamily="18" charset="0"/>
                      </a:rPr>
                      <m:t>=</m:t>
                    </m:r>
                    <m:r>
                      <a:rPr lang="en-US" sz="2800" b="0" i="1" smtClean="0">
                        <a:latin typeface="Cambria Math" panose="02040503050406030204" pitchFamily="18" charset="0"/>
                      </a:rPr>
                      <m:t>𝐷</m:t>
                    </m:r>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𝑇</m:t>
                        </m:r>
                      </m:e>
                      <m:sub>
                        <m:r>
                          <a:rPr lang="en-US" sz="2800" b="0" i="1" smtClean="0">
                            <a:latin typeface="Cambria Math" panose="02040503050406030204" pitchFamily="18" charset="0"/>
                          </a:rPr>
                          <m:t>𝐿</m:t>
                        </m:r>
                      </m:sub>
                    </m:sSub>
                    <m:r>
                      <a:rPr lang="en-US" sz="2800" b="0" i="1" smtClean="0">
                        <a:latin typeface="Cambria Math" panose="02040503050406030204" pitchFamily="18" charset="0"/>
                      </a:rPr>
                      <m:t>≈100</m:t>
                    </m:r>
                    <m:r>
                      <a:rPr lang="en-US" sz="2800" b="0" i="1" smtClean="0">
                        <a:latin typeface="Cambria Math" panose="02040503050406030204" pitchFamily="18" charset="0"/>
                      </a:rPr>
                      <m:t>𝑝𝑠</m:t>
                    </m:r>
                  </m:oMath>
                </a14:m>
                <a:r>
                  <a:rPr lang="en-US" sz="2800" dirty="0">
                    <a:latin typeface="Bahnschrift SemiBold Condensed" panose="020B0502040204020203" pitchFamily="34" charset="0"/>
                  </a:rPr>
                  <a:t> -&gt; not match </a:t>
                </a:r>
              </a:p>
            </p:txBody>
          </p:sp>
        </mc:Choice>
        <mc:Fallback xmlns="">
          <p:sp>
            <p:nvSpPr>
              <p:cNvPr id="8" name="Title 1">
                <a:extLst>
                  <a:ext uri="{FF2B5EF4-FFF2-40B4-BE49-F238E27FC236}">
                    <a16:creationId xmlns:a16="http://schemas.microsoft.com/office/drawing/2014/main" id="{F8AA61D9-65AC-4015-A748-8679872ED43B}"/>
                  </a:ext>
                </a:extLst>
              </p:cNvPr>
              <p:cNvSpPr txBox="1">
                <a:spLocks noRot="1" noChangeAspect="1" noMove="1" noResize="1" noEditPoints="1" noAdjustHandles="1" noChangeArrowheads="1" noChangeShapeType="1" noTextEdit="1"/>
              </p:cNvSpPr>
              <p:nvPr/>
            </p:nvSpPr>
            <p:spPr>
              <a:xfrm>
                <a:off x="6187442" y="5369877"/>
                <a:ext cx="4892480" cy="848995"/>
              </a:xfrm>
              <a:prstGeom prst="rect">
                <a:avLst/>
              </a:prstGeom>
              <a:blipFill>
                <a:blip r:embed="rId3"/>
                <a:stretch>
                  <a:fillRect l="-2491" t="-13669" b="-20863"/>
                </a:stretch>
              </a:blipFill>
            </p:spPr>
            <p:txBody>
              <a:bodyPr/>
              <a:lstStyle/>
              <a:p>
                <a:r>
                  <a:rPr lang="en-US">
                    <a:noFill/>
                  </a:rPr>
                  <a:t> </a:t>
                </a:r>
              </a:p>
            </p:txBody>
          </p:sp>
        </mc:Fallback>
      </mc:AlternateContent>
      <p:sp>
        <p:nvSpPr>
          <p:cNvPr id="9" name="Arrow: Right 8">
            <a:extLst>
              <a:ext uri="{FF2B5EF4-FFF2-40B4-BE49-F238E27FC236}">
                <a16:creationId xmlns:a16="http://schemas.microsoft.com/office/drawing/2014/main" id="{D62526A7-2B25-4130-8943-B45C4CBCDF8B}"/>
              </a:ext>
            </a:extLst>
          </p:cNvPr>
          <p:cNvSpPr/>
          <p:nvPr/>
        </p:nvSpPr>
        <p:spPr>
          <a:xfrm>
            <a:off x="4358640" y="4050982"/>
            <a:ext cx="1300480" cy="5181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5D69B513-1BCF-4A2D-AB43-82EF70271C3D}"/>
              </a:ext>
            </a:extLst>
          </p:cNvPr>
          <p:cNvSpPr/>
          <p:nvPr/>
        </p:nvSpPr>
        <p:spPr>
          <a:xfrm>
            <a:off x="5445760" y="5369877"/>
            <a:ext cx="650240" cy="6327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ate Placeholder 13">
            <a:extLst>
              <a:ext uri="{FF2B5EF4-FFF2-40B4-BE49-F238E27FC236}">
                <a16:creationId xmlns:a16="http://schemas.microsoft.com/office/drawing/2014/main" id="{700B2B6F-DDC5-4B88-9AF4-6FCA7D116DEA}"/>
              </a:ext>
            </a:extLst>
          </p:cNvPr>
          <p:cNvSpPr>
            <a:spLocks noGrp="1"/>
          </p:cNvSpPr>
          <p:nvPr>
            <p:ph type="dt" sz="half" idx="10"/>
          </p:nvPr>
        </p:nvSpPr>
        <p:spPr/>
        <p:txBody>
          <a:bodyPr/>
          <a:lstStyle/>
          <a:p>
            <a:fld id="{A5F17691-1405-4252-A79C-7F141516D0ED}" type="datetime1">
              <a:rPr lang="en-US" sz="2400" smtClean="0"/>
              <a:t>6/3/2025</a:t>
            </a:fld>
            <a:endParaRPr lang="en-US" sz="2400"/>
          </a:p>
        </p:txBody>
      </p:sp>
      <p:sp>
        <p:nvSpPr>
          <p:cNvPr id="15" name="Footer Placeholder 14">
            <a:extLst>
              <a:ext uri="{FF2B5EF4-FFF2-40B4-BE49-F238E27FC236}">
                <a16:creationId xmlns:a16="http://schemas.microsoft.com/office/drawing/2014/main" id="{1616CD20-918E-4DF4-82FF-ECA2F926565A}"/>
              </a:ext>
            </a:extLst>
          </p:cNvPr>
          <p:cNvSpPr>
            <a:spLocks noGrp="1"/>
          </p:cNvSpPr>
          <p:nvPr>
            <p:ph type="ftr" sz="quarter" idx="11"/>
          </p:nvPr>
        </p:nvSpPr>
        <p:spPr/>
        <p:txBody>
          <a:bodyPr/>
          <a:lstStyle/>
          <a:p>
            <a:r>
              <a:rPr lang="en-US" sz="2400"/>
              <a:t>Dept of Electronic Engineering</a:t>
            </a:r>
          </a:p>
        </p:txBody>
      </p:sp>
      <p:sp>
        <p:nvSpPr>
          <p:cNvPr id="16" name="Slide Number Placeholder 15">
            <a:extLst>
              <a:ext uri="{FF2B5EF4-FFF2-40B4-BE49-F238E27FC236}">
                <a16:creationId xmlns:a16="http://schemas.microsoft.com/office/drawing/2014/main" id="{F3AC16DF-5DB1-4A07-97E7-BF4ADAF89202}"/>
              </a:ext>
            </a:extLst>
          </p:cNvPr>
          <p:cNvSpPr>
            <a:spLocks noGrp="1"/>
          </p:cNvSpPr>
          <p:nvPr>
            <p:ph type="sldNum" sz="quarter" idx="12"/>
          </p:nvPr>
        </p:nvSpPr>
        <p:spPr/>
        <p:txBody>
          <a:bodyPr/>
          <a:lstStyle/>
          <a:p>
            <a:fld id="{952A837F-FDD8-4A5A-8D82-65CDA50A5412}" type="slidenum">
              <a:rPr lang="en-US" sz="2400" smtClean="0"/>
              <a:t>19</a:t>
            </a:fld>
            <a:endParaRPr lang="en-US" sz="2400"/>
          </a:p>
        </p:txBody>
      </p:sp>
    </p:spTree>
    <p:extLst>
      <p:ext uri="{BB962C8B-B14F-4D97-AF65-F5344CB8AC3E}">
        <p14:creationId xmlns:p14="http://schemas.microsoft.com/office/powerpoint/2010/main" val="3273753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0F49D-8C8F-424A-9146-2A10A56BB1C2}"/>
              </a:ext>
            </a:extLst>
          </p:cNvPr>
          <p:cNvSpPr>
            <a:spLocks noGrp="1"/>
          </p:cNvSpPr>
          <p:nvPr>
            <p:ph type="title"/>
          </p:nvPr>
        </p:nvSpPr>
        <p:spPr>
          <a:xfrm>
            <a:off x="2103580" y="217741"/>
            <a:ext cx="7761320" cy="965834"/>
          </a:xfrm>
        </p:spPr>
        <p:txBody>
          <a:bodyPr>
            <a:noAutofit/>
          </a:bodyPr>
          <a:lstStyle/>
          <a:p>
            <a:pPr algn="ctr"/>
            <a:r>
              <a:rPr lang="en-US" sz="7200" dirty="0">
                <a:latin typeface="Bahnschrift SemiBold Condensed" panose="020B0502040204020203" pitchFamily="34" charset="0"/>
              </a:rPr>
              <a:t>Summary</a:t>
            </a:r>
          </a:p>
        </p:txBody>
      </p:sp>
      <p:pic>
        <p:nvPicPr>
          <p:cNvPr id="4" name="Picture 3">
            <a:extLst>
              <a:ext uri="{FF2B5EF4-FFF2-40B4-BE49-F238E27FC236}">
                <a16:creationId xmlns:a16="http://schemas.microsoft.com/office/drawing/2014/main" id="{33D1A491-4BFA-48F5-87FC-DBDAAFF73F2F}"/>
              </a:ext>
            </a:extLst>
          </p:cNvPr>
          <p:cNvPicPr>
            <a:picLocks noChangeAspect="1"/>
          </p:cNvPicPr>
          <p:nvPr/>
        </p:nvPicPr>
        <p:blipFill>
          <a:blip r:embed="rId2"/>
          <a:stretch>
            <a:fillRect/>
          </a:stretch>
        </p:blipFill>
        <p:spPr>
          <a:xfrm>
            <a:off x="2209800" y="1266190"/>
            <a:ext cx="7761321" cy="4800917"/>
          </a:xfrm>
          <a:prstGeom prst="rect">
            <a:avLst/>
          </a:prstGeom>
        </p:spPr>
      </p:pic>
      <p:sp>
        <p:nvSpPr>
          <p:cNvPr id="8" name="Date Placeholder 7">
            <a:extLst>
              <a:ext uri="{FF2B5EF4-FFF2-40B4-BE49-F238E27FC236}">
                <a16:creationId xmlns:a16="http://schemas.microsoft.com/office/drawing/2014/main" id="{8C181563-F86A-4247-9C5D-4A60D7267C6D}"/>
              </a:ext>
            </a:extLst>
          </p:cNvPr>
          <p:cNvSpPr>
            <a:spLocks noGrp="1"/>
          </p:cNvSpPr>
          <p:nvPr>
            <p:ph type="dt" sz="half" idx="10"/>
          </p:nvPr>
        </p:nvSpPr>
        <p:spPr/>
        <p:txBody>
          <a:bodyPr/>
          <a:lstStyle/>
          <a:p>
            <a:fld id="{D7A713CB-8552-4C42-9D2F-F8123471AA5F}" type="datetime1">
              <a:rPr lang="en-US" sz="2400" smtClean="0"/>
              <a:t>6/3/2025</a:t>
            </a:fld>
            <a:endParaRPr lang="en-US" sz="2400"/>
          </a:p>
        </p:txBody>
      </p:sp>
      <p:sp>
        <p:nvSpPr>
          <p:cNvPr id="9" name="Footer Placeholder 8">
            <a:extLst>
              <a:ext uri="{FF2B5EF4-FFF2-40B4-BE49-F238E27FC236}">
                <a16:creationId xmlns:a16="http://schemas.microsoft.com/office/drawing/2014/main" id="{10717C61-B99A-452B-9C7E-CB6772DA83E3}"/>
              </a:ext>
            </a:extLst>
          </p:cNvPr>
          <p:cNvSpPr>
            <a:spLocks noGrp="1"/>
          </p:cNvSpPr>
          <p:nvPr>
            <p:ph type="ftr" sz="quarter" idx="11"/>
          </p:nvPr>
        </p:nvSpPr>
        <p:spPr/>
        <p:txBody>
          <a:bodyPr/>
          <a:lstStyle/>
          <a:p>
            <a:r>
              <a:rPr lang="en-US" sz="2400"/>
              <a:t>Dept of Electronic Engineering</a:t>
            </a:r>
          </a:p>
        </p:txBody>
      </p:sp>
      <p:sp>
        <p:nvSpPr>
          <p:cNvPr id="10" name="Slide Number Placeholder 9">
            <a:extLst>
              <a:ext uri="{FF2B5EF4-FFF2-40B4-BE49-F238E27FC236}">
                <a16:creationId xmlns:a16="http://schemas.microsoft.com/office/drawing/2014/main" id="{554DA207-BCC6-4686-8AED-1B68DD926BBD}"/>
              </a:ext>
            </a:extLst>
          </p:cNvPr>
          <p:cNvSpPr>
            <a:spLocks noGrp="1"/>
          </p:cNvSpPr>
          <p:nvPr>
            <p:ph type="sldNum" sz="quarter" idx="12"/>
          </p:nvPr>
        </p:nvSpPr>
        <p:spPr/>
        <p:txBody>
          <a:bodyPr/>
          <a:lstStyle/>
          <a:p>
            <a:fld id="{952A837F-FDD8-4A5A-8D82-65CDA50A5412}" type="slidenum">
              <a:rPr lang="en-US" sz="2400" smtClean="0"/>
              <a:t>20</a:t>
            </a:fld>
            <a:endParaRPr lang="en-US" sz="2400"/>
          </a:p>
        </p:txBody>
      </p:sp>
    </p:spTree>
    <p:extLst>
      <p:ext uri="{BB962C8B-B14F-4D97-AF65-F5344CB8AC3E}">
        <p14:creationId xmlns:p14="http://schemas.microsoft.com/office/powerpoint/2010/main" val="1026708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952C-A8C1-4733-93A8-6E7DCEF6D748}"/>
              </a:ext>
            </a:extLst>
          </p:cNvPr>
          <p:cNvSpPr>
            <a:spLocks noGrp="1"/>
          </p:cNvSpPr>
          <p:nvPr>
            <p:ph type="title"/>
          </p:nvPr>
        </p:nvSpPr>
        <p:spPr>
          <a:xfrm>
            <a:off x="1188192" y="-22133"/>
            <a:ext cx="3081227" cy="1325563"/>
          </a:xfrm>
        </p:spPr>
        <p:txBody>
          <a:bodyPr/>
          <a:lstStyle/>
          <a:p>
            <a:r>
              <a:rPr lang="en-US" b="1" dirty="0">
                <a:latin typeface="Bahnschrift SemiBold Condensed" panose="020B0502040204020203" pitchFamily="34" charset="0"/>
              </a:rPr>
              <a:t>Future Work</a:t>
            </a:r>
            <a:endParaRPr lang="en-US" dirty="0"/>
          </a:p>
        </p:txBody>
      </p:sp>
      <p:sp>
        <p:nvSpPr>
          <p:cNvPr id="7" name="Date Placeholder 6">
            <a:extLst>
              <a:ext uri="{FF2B5EF4-FFF2-40B4-BE49-F238E27FC236}">
                <a16:creationId xmlns:a16="http://schemas.microsoft.com/office/drawing/2014/main" id="{021B850A-A311-4294-BCC2-0F2FB5B1B4C3}"/>
              </a:ext>
            </a:extLst>
          </p:cNvPr>
          <p:cNvSpPr>
            <a:spLocks noGrp="1"/>
          </p:cNvSpPr>
          <p:nvPr>
            <p:ph type="dt" sz="half" idx="10"/>
          </p:nvPr>
        </p:nvSpPr>
        <p:spPr/>
        <p:txBody>
          <a:bodyPr/>
          <a:lstStyle/>
          <a:p>
            <a:fld id="{01A80701-0078-4F80-8211-706EB465A29C}" type="datetime1">
              <a:rPr lang="en-US" sz="2400" smtClean="0"/>
              <a:t>6/3/2025</a:t>
            </a:fld>
            <a:endParaRPr lang="en-US" sz="2400"/>
          </a:p>
        </p:txBody>
      </p:sp>
      <p:sp>
        <p:nvSpPr>
          <p:cNvPr id="8" name="Footer Placeholder 7">
            <a:extLst>
              <a:ext uri="{FF2B5EF4-FFF2-40B4-BE49-F238E27FC236}">
                <a16:creationId xmlns:a16="http://schemas.microsoft.com/office/drawing/2014/main" id="{C6BB2A13-ACAB-4648-8E16-4BDF3B8E0CD9}"/>
              </a:ext>
            </a:extLst>
          </p:cNvPr>
          <p:cNvSpPr>
            <a:spLocks noGrp="1"/>
          </p:cNvSpPr>
          <p:nvPr>
            <p:ph type="ftr" sz="quarter" idx="11"/>
          </p:nvPr>
        </p:nvSpPr>
        <p:spPr/>
        <p:txBody>
          <a:bodyPr/>
          <a:lstStyle/>
          <a:p>
            <a:r>
              <a:rPr lang="en-US" sz="2400"/>
              <a:t>Dept of Electronic Engineering</a:t>
            </a:r>
          </a:p>
        </p:txBody>
      </p:sp>
      <p:sp>
        <p:nvSpPr>
          <p:cNvPr id="9" name="Slide Number Placeholder 8">
            <a:extLst>
              <a:ext uri="{FF2B5EF4-FFF2-40B4-BE49-F238E27FC236}">
                <a16:creationId xmlns:a16="http://schemas.microsoft.com/office/drawing/2014/main" id="{B1CF4059-5CE3-4E52-B743-2A9C25FFBF80}"/>
              </a:ext>
            </a:extLst>
          </p:cNvPr>
          <p:cNvSpPr>
            <a:spLocks noGrp="1"/>
          </p:cNvSpPr>
          <p:nvPr>
            <p:ph type="sldNum" sz="quarter" idx="12"/>
          </p:nvPr>
        </p:nvSpPr>
        <p:spPr/>
        <p:txBody>
          <a:bodyPr/>
          <a:lstStyle/>
          <a:p>
            <a:fld id="{952A837F-FDD8-4A5A-8D82-65CDA50A5412}" type="slidenum">
              <a:rPr lang="en-US" sz="2400" smtClean="0"/>
              <a:t>21</a:t>
            </a:fld>
            <a:endParaRPr lang="en-US" sz="2400"/>
          </a:p>
        </p:txBody>
      </p:sp>
      <p:sp>
        <p:nvSpPr>
          <p:cNvPr id="6" name="Title 1">
            <a:extLst>
              <a:ext uri="{FF2B5EF4-FFF2-40B4-BE49-F238E27FC236}">
                <a16:creationId xmlns:a16="http://schemas.microsoft.com/office/drawing/2014/main" id="{93B89C2B-6A50-4DDF-9DFF-BF89118E1214}"/>
              </a:ext>
            </a:extLst>
          </p:cNvPr>
          <p:cNvSpPr txBox="1">
            <a:spLocks/>
          </p:cNvSpPr>
          <p:nvPr/>
        </p:nvSpPr>
        <p:spPr>
          <a:xfrm>
            <a:off x="6029726" y="3212416"/>
            <a:ext cx="5324074" cy="186004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800" dirty="0">
                <a:latin typeface="Bahnschrift SemiBold Condensed" panose="020B0502040204020203" pitchFamily="34" charset="0"/>
              </a:rPr>
              <a:t>Replica global impedance control loop provides analog gate voltages to the additional top/bottom transistors to set the pull-up/down impedance</a:t>
            </a:r>
          </a:p>
        </p:txBody>
      </p:sp>
      <p:pic>
        <p:nvPicPr>
          <p:cNvPr id="4" name="Picture 3">
            <a:extLst>
              <a:ext uri="{FF2B5EF4-FFF2-40B4-BE49-F238E27FC236}">
                <a16:creationId xmlns:a16="http://schemas.microsoft.com/office/drawing/2014/main" id="{A9C8C10F-9070-4E4A-B5B9-FB0B268713F5}"/>
              </a:ext>
            </a:extLst>
          </p:cNvPr>
          <p:cNvPicPr>
            <a:picLocks noChangeAspect="1"/>
          </p:cNvPicPr>
          <p:nvPr/>
        </p:nvPicPr>
        <p:blipFill>
          <a:blip r:embed="rId2"/>
          <a:stretch>
            <a:fillRect/>
          </a:stretch>
        </p:blipFill>
        <p:spPr>
          <a:xfrm>
            <a:off x="535550" y="1471117"/>
            <a:ext cx="5324075" cy="4885233"/>
          </a:xfrm>
          <a:prstGeom prst="rect">
            <a:avLst/>
          </a:prstGeom>
        </p:spPr>
      </p:pic>
      <p:sp>
        <p:nvSpPr>
          <p:cNvPr id="11" name="Rectangle 10">
            <a:extLst>
              <a:ext uri="{FF2B5EF4-FFF2-40B4-BE49-F238E27FC236}">
                <a16:creationId xmlns:a16="http://schemas.microsoft.com/office/drawing/2014/main" id="{89258ACC-00DC-467E-87BC-565887044557}"/>
              </a:ext>
            </a:extLst>
          </p:cNvPr>
          <p:cNvSpPr/>
          <p:nvPr/>
        </p:nvSpPr>
        <p:spPr>
          <a:xfrm>
            <a:off x="6029726" y="1380657"/>
            <a:ext cx="6318810" cy="769441"/>
          </a:xfrm>
          <a:prstGeom prst="rect">
            <a:avLst/>
          </a:prstGeom>
        </p:spPr>
        <p:txBody>
          <a:bodyPr wrap="square">
            <a:spAutoFit/>
          </a:bodyPr>
          <a:lstStyle/>
          <a:p>
            <a:r>
              <a:rPr lang="en-US" sz="4400" dirty="0">
                <a:latin typeface="Bahnschrift SemiBold Condensed" panose="020B0502040204020203" pitchFamily="34" charset="0"/>
              </a:rPr>
              <a:t>Low-Swing Voltage-Mode Driver</a:t>
            </a:r>
          </a:p>
        </p:txBody>
      </p:sp>
    </p:spTree>
    <p:extLst>
      <p:ext uri="{BB962C8B-B14F-4D97-AF65-F5344CB8AC3E}">
        <p14:creationId xmlns:p14="http://schemas.microsoft.com/office/powerpoint/2010/main" val="2302503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93AD7-68F7-4C8D-8223-9328D17C6302}"/>
              </a:ext>
            </a:extLst>
          </p:cNvPr>
          <p:cNvSpPr>
            <a:spLocks noGrp="1"/>
          </p:cNvSpPr>
          <p:nvPr>
            <p:ph type="title"/>
          </p:nvPr>
        </p:nvSpPr>
        <p:spPr/>
        <p:txBody>
          <a:bodyPr/>
          <a:lstStyle/>
          <a:p>
            <a:r>
              <a:rPr lang="en-US" dirty="0">
                <a:latin typeface="Bahnschrift SemiBold Condensed" panose="020B0502040204020203" pitchFamily="34" charset="0"/>
              </a:rPr>
              <a:t>References	</a:t>
            </a:r>
          </a:p>
        </p:txBody>
      </p:sp>
      <p:sp>
        <p:nvSpPr>
          <p:cNvPr id="3" name="Content Placeholder 2">
            <a:extLst>
              <a:ext uri="{FF2B5EF4-FFF2-40B4-BE49-F238E27FC236}">
                <a16:creationId xmlns:a16="http://schemas.microsoft.com/office/drawing/2014/main" id="{CE617174-742A-47D3-99D9-591AB290B242}"/>
              </a:ext>
            </a:extLst>
          </p:cNvPr>
          <p:cNvSpPr>
            <a:spLocks noGrp="1"/>
          </p:cNvSpPr>
          <p:nvPr>
            <p:ph idx="1"/>
          </p:nvPr>
        </p:nvSpPr>
        <p:spPr/>
        <p:txBody>
          <a:bodyPr/>
          <a:lstStyle/>
          <a:p>
            <a:pPr algn="just">
              <a:buFont typeface="Wingdings" panose="05000000000000000000" pitchFamily="2" charset="2"/>
              <a:buChar char="§"/>
            </a:pPr>
            <a:r>
              <a:rPr lang="en-US" sz="3200" dirty="0">
                <a:latin typeface="Bahnschrift SemiBold Condensed" panose="020B0502040204020203" pitchFamily="34" charset="0"/>
              </a:rPr>
              <a:t> Sam Palermo, “ECEN720: High-Speed Links Circuits and Systems Spring 2025”</a:t>
            </a:r>
          </a:p>
          <a:p>
            <a:pPr algn="just">
              <a:buFont typeface="Wingdings" panose="05000000000000000000" pitchFamily="2" charset="2"/>
              <a:buChar char="§"/>
            </a:pPr>
            <a:r>
              <a:rPr lang="en-US" sz="3200" dirty="0">
                <a:latin typeface="Bahnschrift SemiBold Condensed" panose="020B0502040204020203" pitchFamily="34" charset="0"/>
                <a:ea typeface="Times New Roman" panose="02020603050405020304" pitchFamily="18" charset="0"/>
              </a:rPr>
              <a:t> </a:t>
            </a:r>
            <a:r>
              <a:rPr lang="en-US" sz="3200" dirty="0" err="1">
                <a:latin typeface="Bahnschrift SemiBold Condensed" panose="020B0502040204020203" pitchFamily="34" charset="0"/>
                <a:ea typeface="Times New Roman" panose="02020603050405020304" pitchFamily="18" charset="0"/>
              </a:rPr>
              <a:t>Woorham</a:t>
            </a:r>
            <a:r>
              <a:rPr lang="en-US" sz="3200" dirty="0">
                <a:latin typeface="Bahnschrift SemiBold Condensed" panose="020B0502040204020203" pitchFamily="34" charset="0"/>
                <a:ea typeface="Times New Roman" panose="02020603050405020304" pitchFamily="18" charset="0"/>
              </a:rPr>
              <a:t> Bae and </a:t>
            </a:r>
            <a:r>
              <a:rPr lang="en-US" sz="3200" dirty="0" err="1">
                <a:latin typeface="Bahnschrift SemiBold Condensed" panose="020B0502040204020203" pitchFamily="34" charset="0"/>
                <a:ea typeface="Times New Roman" panose="02020603050405020304" pitchFamily="18" charset="0"/>
              </a:rPr>
              <a:t>Deog-Kyoon</a:t>
            </a:r>
            <a:r>
              <a:rPr lang="en-US" sz="3200" dirty="0">
                <a:latin typeface="Bahnschrift SemiBold Condensed" panose="020B0502040204020203" pitchFamily="34" charset="0"/>
                <a:ea typeface="Times New Roman" panose="02020603050405020304" pitchFamily="18" charset="0"/>
              </a:rPr>
              <a:t> </a:t>
            </a:r>
            <a:r>
              <a:rPr lang="en-US" sz="3200" dirty="0" err="1">
                <a:latin typeface="Bahnschrift SemiBold Condensed" panose="020B0502040204020203" pitchFamily="34" charset="0"/>
                <a:ea typeface="Times New Roman" panose="02020603050405020304" pitchFamily="18" charset="0"/>
              </a:rPr>
              <a:t>Jeong</a:t>
            </a:r>
            <a:r>
              <a:rPr lang="en-US" sz="3200" dirty="0">
                <a:solidFill>
                  <a:srgbClr val="000000"/>
                </a:solidFill>
                <a:latin typeface="Bahnschrift SemiBold Condensed" panose="020B0502040204020203" pitchFamily="34" charset="0"/>
                <a:ea typeface="Times New Roman" panose="02020603050405020304" pitchFamily="18" charset="0"/>
              </a:rPr>
              <a:t>, “</a:t>
            </a:r>
            <a:r>
              <a:rPr lang="en-US" sz="3200" b="1" dirty="0">
                <a:latin typeface="Bahnschrift SemiBold Condensed" panose="020B0502040204020203" pitchFamily="34" charset="0"/>
                <a:ea typeface="Times New Roman" panose="02020603050405020304" pitchFamily="18" charset="0"/>
              </a:rPr>
              <a:t>A power-efficient 600-mVpp voltage-mode driver with independently matched pull-up and pull-down impedances</a:t>
            </a:r>
            <a:r>
              <a:rPr lang="en-US" sz="3200" dirty="0">
                <a:solidFill>
                  <a:srgbClr val="000000"/>
                </a:solidFill>
                <a:latin typeface="Bahnschrift SemiBold Condensed" panose="020B0502040204020203" pitchFamily="34" charset="0"/>
                <a:ea typeface="Times New Roman" panose="02020603050405020304" pitchFamily="18" charset="0"/>
              </a:rPr>
              <a:t>”, </a:t>
            </a:r>
            <a:r>
              <a:rPr lang="en-US" sz="3200" dirty="0">
                <a:latin typeface="Bahnschrift SemiBold Condensed" panose="020B0502040204020203" pitchFamily="34" charset="0"/>
                <a:ea typeface="Times New Roman" panose="02020603050405020304" pitchFamily="18" charset="0"/>
              </a:rPr>
              <a:t>2014</a:t>
            </a:r>
            <a:r>
              <a:rPr lang="en-US" sz="3200" dirty="0">
                <a:solidFill>
                  <a:srgbClr val="000000"/>
                </a:solidFill>
                <a:latin typeface="Bahnschrift SemiBold Condensed" panose="020B0502040204020203" pitchFamily="34" charset="0"/>
                <a:ea typeface="Times New Roman" panose="02020603050405020304" pitchFamily="18" charset="0"/>
              </a:rPr>
              <a:t>.</a:t>
            </a:r>
            <a:endParaRPr lang="en-US" sz="3200" dirty="0">
              <a:latin typeface="Bahnschrift SemiBold Condensed" panose="020B0502040204020203" pitchFamily="34" charset="0"/>
              <a:ea typeface="Times New Roman" panose="02020603050405020304" pitchFamily="18" charset="0"/>
            </a:endParaRPr>
          </a:p>
          <a:p>
            <a:pPr algn="just">
              <a:buFont typeface="Wingdings" panose="05000000000000000000" pitchFamily="2" charset="2"/>
              <a:buChar char="§"/>
            </a:pPr>
            <a:r>
              <a:rPr lang="en-US" sz="3200" dirty="0">
                <a:latin typeface="Bahnschrift SemiBold Condensed" panose="020B0502040204020203" pitchFamily="34" charset="0"/>
                <a:ea typeface="Times New Roman" panose="02020603050405020304" pitchFamily="18" charset="0"/>
              </a:rPr>
              <a:t> Miao Bai, </a:t>
            </a:r>
            <a:r>
              <a:rPr lang="en-US" sz="3200" dirty="0" err="1">
                <a:latin typeface="Bahnschrift SemiBold Condensed" panose="020B0502040204020203" pitchFamily="34" charset="0"/>
                <a:ea typeface="Times New Roman" panose="02020603050405020304" pitchFamily="18" charset="0"/>
              </a:rPr>
              <a:t>Xiaofei</a:t>
            </a:r>
            <a:r>
              <a:rPr lang="en-US" sz="3200" dirty="0">
                <a:latin typeface="Bahnschrift SemiBold Condensed" panose="020B0502040204020203" pitchFamily="34" charset="0"/>
                <a:ea typeface="Times New Roman" panose="02020603050405020304" pitchFamily="18" charset="0"/>
              </a:rPr>
              <a:t> Wang, Jing </a:t>
            </a:r>
            <a:r>
              <a:rPr lang="en-US" sz="3200" dirty="0" err="1">
                <a:latin typeface="Bahnschrift SemiBold Condensed" panose="020B0502040204020203" pitchFamily="34" charset="0"/>
                <a:ea typeface="Times New Roman" panose="02020603050405020304" pitchFamily="18" charset="0"/>
              </a:rPr>
              <a:t>Jin</a:t>
            </a:r>
            <a:r>
              <a:rPr lang="en-US" sz="3200" dirty="0">
                <a:latin typeface="Bahnschrift SemiBold Condensed" panose="020B0502040204020203" pitchFamily="34" charset="0"/>
                <a:ea typeface="Times New Roman" panose="02020603050405020304" pitchFamily="18" charset="0"/>
              </a:rPr>
              <a:t>, </a:t>
            </a:r>
            <a:r>
              <a:rPr lang="en-US" sz="3200" dirty="0" err="1">
                <a:latin typeface="Bahnschrift SemiBold Condensed" panose="020B0502040204020203" pitchFamily="34" charset="0"/>
                <a:ea typeface="Times New Roman" panose="02020603050405020304" pitchFamily="18" charset="0"/>
              </a:rPr>
              <a:t>Tingting</a:t>
            </a:r>
            <a:r>
              <a:rPr lang="en-US" sz="3200" dirty="0">
                <a:latin typeface="Bahnschrift SemiBold Condensed" panose="020B0502040204020203" pitchFamily="34" charset="0"/>
                <a:ea typeface="Times New Roman" panose="02020603050405020304" pitchFamily="18" charset="0"/>
              </a:rPr>
              <a:t> Mo, “</a:t>
            </a:r>
            <a:r>
              <a:rPr lang="en-US" sz="3200" b="1" dirty="0">
                <a:latin typeface="Bahnschrift SemiBold Condensed" panose="020B0502040204020203" pitchFamily="34" charset="0"/>
                <a:ea typeface="Times New Roman" panose="02020603050405020304" pitchFamily="18" charset="0"/>
              </a:rPr>
              <a:t>An Impedance Calibration Method Based on Temperature and Process Monitor for LPDDR5 Interface</a:t>
            </a:r>
            <a:r>
              <a:rPr lang="en-US" sz="3200" dirty="0">
                <a:latin typeface="Bahnschrift SemiBold Condensed" panose="020B0502040204020203" pitchFamily="34" charset="0"/>
                <a:ea typeface="Times New Roman" panose="02020603050405020304" pitchFamily="18" charset="0"/>
              </a:rPr>
              <a:t>”, 2021</a:t>
            </a:r>
            <a:endParaRPr lang="en-US" sz="3200" dirty="0">
              <a:latin typeface="Bahnschrift SemiBold Condensed" panose="020B0502040204020203" pitchFamily="34" charset="0"/>
            </a:endParaRPr>
          </a:p>
          <a:p>
            <a:pPr marL="0" indent="0">
              <a:buNone/>
            </a:pPr>
            <a:endParaRPr lang="en-US" dirty="0"/>
          </a:p>
        </p:txBody>
      </p:sp>
      <p:sp>
        <p:nvSpPr>
          <p:cNvPr id="4" name="Date Placeholder 3">
            <a:extLst>
              <a:ext uri="{FF2B5EF4-FFF2-40B4-BE49-F238E27FC236}">
                <a16:creationId xmlns:a16="http://schemas.microsoft.com/office/drawing/2014/main" id="{C7C20063-4816-4761-A1F3-BADCCE13A723}"/>
              </a:ext>
            </a:extLst>
          </p:cNvPr>
          <p:cNvSpPr>
            <a:spLocks noGrp="1"/>
          </p:cNvSpPr>
          <p:nvPr>
            <p:ph type="dt" sz="half" idx="10"/>
          </p:nvPr>
        </p:nvSpPr>
        <p:spPr/>
        <p:txBody>
          <a:bodyPr/>
          <a:lstStyle/>
          <a:p>
            <a:fld id="{20A705B1-E5D8-4293-B524-547D5A9E6D60}" type="datetime1">
              <a:rPr lang="en-US" sz="2400" smtClean="0"/>
              <a:t>6/3/2025</a:t>
            </a:fld>
            <a:endParaRPr lang="en-US" sz="2400"/>
          </a:p>
        </p:txBody>
      </p:sp>
      <p:sp>
        <p:nvSpPr>
          <p:cNvPr id="5" name="Footer Placeholder 4">
            <a:extLst>
              <a:ext uri="{FF2B5EF4-FFF2-40B4-BE49-F238E27FC236}">
                <a16:creationId xmlns:a16="http://schemas.microsoft.com/office/drawing/2014/main" id="{1735A338-BA0E-47C3-8D8E-161344D24DA1}"/>
              </a:ext>
            </a:extLst>
          </p:cNvPr>
          <p:cNvSpPr>
            <a:spLocks noGrp="1"/>
          </p:cNvSpPr>
          <p:nvPr>
            <p:ph type="ftr" sz="quarter" idx="11"/>
          </p:nvPr>
        </p:nvSpPr>
        <p:spPr/>
        <p:txBody>
          <a:bodyPr/>
          <a:lstStyle/>
          <a:p>
            <a:r>
              <a:rPr lang="en-US" sz="2400"/>
              <a:t>Dept of Electronic Engineering</a:t>
            </a:r>
          </a:p>
        </p:txBody>
      </p:sp>
      <p:sp>
        <p:nvSpPr>
          <p:cNvPr id="6" name="Slide Number Placeholder 5">
            <a:extLst>
              <a:ext uri="{FF2B5EF4-FFF2-40B4-BE49-F238E27FC236}">
                <a16:creationId xmlns:a16="http://schemas.microsoft.com/office/drawing/2014/main" id="{52C1752F-7A08-4A22-90E5-C92EE9E5CC43}"/>
              </a:ext>
            </a:extLst>
          </p:cNvPr>
          <p:cNvSpPr>
            <a:spLocks noGrp="1"/>
          </p:cNvSpPr>
          <p:nvPr>
            <p:ph type="sldNum" sz="quarter" idx="12"/>
          </p:nvPr>
        </p:nvSpPr>
        <p:spPr/>
        <p:txBody>
          <a:bodyPr/>
          <a:lstStyle/>
          <a:p>
            <a:fld id="{952A837F-FDD8-4A5A-8D82-65CDA50A5412}" type="slidenum">
              <a:rPr lang="en-US" sz="2400" smtClean="0"/>
              <a:t>22</a:t>
            </a:fld>
            <a:endParaRPr lang="en-US" sz="2400"/>
          </a:p>
        </p:txBody>
      </p:sp>
    </p:spTree>
    <p:extLst>
      <p:ext uri="{BB962C8B-B14F-4D97-AF65-F5344CB8AC3E}">
        <p14:creationId xmlns:p14="http://schemas.microsoft.com/office/powerpoint/2010/main" val="1314183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84B7-7553-4331-A9A8-1B6145D0C3EB}"/>
              </a:ext>
            </a:extLst>
          </p:cNvPr>
          <p:cNvSpPr>
            <a:spLocks noGrp="1"/>
          </p:cNvSpPr>
          <p:nvPr>
            <p:ph type="title"/>
          </p:nvPr>
        </p:nvSpPr>
        <p:spPr>
          <a:xfrm>
            <a:off x="4038600" y="2489200"/>
            <a:ext cx="4029075" cy="1325563"/>
          </a:xfrm>
        </p:spPr>
        <p:txBody>
          <a:bodyPr>
            <a:normAutofit/>
          </a:bodyPr>
          <a:lstStyle/>
          <a:p>
            <a:r>
              <a:rPr lang="en-US" sz="8000" dirty="0">
                <a:latin typeface="Bahnschrift SemiBold Condensed" panose="020B0502040204020203" pitchFamily="34" charset="0"/>
              </a:rPr>
              <a:t>Thank you</a:t>
            </a:r>
          </a:p>
        </p:txBody>
      </p:sp>
      <p:sp>
        <p:nvSpPr>
          <p:cNvPr id="3" name="Content Placeholder 2">
            <a:extLst>
              <a:ext uri="{FF2B5EF4-FFF2-40B4-BE49-F238E27FC236}">
                <a16:creationId xmlns:a16="http://schemas.microsoft.com/office/drawing/2014/main" id="{537C4964-B037-4541-AD70-BB418E692815}"/>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C0F4FD30-BA44-41C6-8016-7FF374443B5C}"/>
              </a:ext>
            </a:extLst>
          </p:cNvPr>
          <p:cNvSpPr>
            <a:spLocks noGrp="1"/>
          </p:cNvSpPr>
          <p:nvPr>
            <p:ph type="dt" sz="half" idx="10"/>
          </p:nvPr>
        </p:nvSpPr>
        <p:spPr/>
        <p:txBody>
          <a:bodyPr/>
          <a:lstStyle/>
          <a:p>
            <a:fld id="{20A705B1-E5D8-4293-B524-547D5A9E6D60}" type="datetime1">
              <a:rPr lang="en-US" smtClean="0"/>
              <a:t>6/3/2025</a:t>
            </a:fld>
            <a:endParaRPr lang="en-US"/>
          </a:p>
        </p:txBody>
      </p:sp>
      <p:sp>
        <p:nvSpPr>
          <p:cNvPr id="5" name="Footer Placeholder 4">
            <a:extLst>
              <a:ext uri="{FF2B5EF4-FFF2-40B4-BE49-F238E27FC236}">
                <a16:creationId xmlns:a16="http://schemas.microsoft.com/office/drawing/2014/main" id="{D58E103E-8AA3-442B-9989-C771AC3324EC}"/>
              </a:ext>
            </a:extLst>
          </p:cNvPr>
          <p:cNvSpPr>
            <a:spLocks noGrp="1"/>
          </p:cNvSpPr>
          <p:nvPr>
            <p:ph type="ftr" sz="quarter" idx="11"/>
          </p:nvPr>
        </p:nvSpPr>
        <p:spPr/>
        <p:txBody>
          <a:bodyPr/>
          <a:lstStyle/>
          <a:p>
            <a:r>
              <a:rPr lang="en-US"/>
              <a:t>Dept of Electronic Engineering</a:t>
            </a:r>
          </a:p>
        </p:txBody>
      </p:sp>
      <p:sp>
        <p:nvSpPr>
          <p:cNvPr id="6" name="Slide Number Placeholder 5">
            <a:extLst>
              <a:ext uri="{FF2B5EF4-FFF2-40B4-BE49-F238E27FC236}">
                <a16:creationId xmlns:a16="http://schemas.microsoft.com/office/drawing/2014/main" id="{C08695DD-0235-4C79-9AF6-6419E4F8B4A4}"/>
              </a:ext>
            </a:extLst>
          </p:cNvPr>
          <p:cNvSpPr>
            <a:spLocks noGrp="1"/>
          </p:cNvSpPr>
          <p:nvPr>
            <p:ph type="sldNum" sz="quarter" idx="12"/>
          </p:nvPr>
        </p:nvSpPr>
        <p:spPr/>
        <p:txBody>
          <a:bodyPr/>
          <a:lstStyle/>
          <a:p>
            <a:fld id="{952A837F-FDD8-4A5A-8D82-65CDA50A5412}" type="slidenum">
              <a:rPr lang="en-US" smtClean="0"/>
              <a:t>23</a:t>
            </a:fld>
            <a:endParaRPr lang="en-US"/>
          </a:p>
        </p:txBody>
      </p:sp>
    </p:spTree>
    <p:extLst>
      <p:ext uri="{BB962C8B-B14F-4D97-AF65-F5344CB8AC3E}">
        <p14:creationId xmlns:p14="http://schemas.microsoft.com/office/powerpoint/2010/main" val="29057815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829</TotalTime>
  <Words>1262</Words>
  <Application>Microsoft Office PowerPoint</Application>
  <PresentationFormat>Widescreen</PresentationFormat>
  <Paragraphs>204</Paragraphs>
  <Slides>23</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Bahnschrift SemiBold Condensed</vt:lpstr>
      <vt:lpstr>Calibri</vt:lpstr>
      <vt:lpstr>Calibri Light</vt:lpstr>
      <vt:lpstr>Cambria Math</vt:lpstr>
      <vt:lpstr>Google Sans Text</vt:lpstr>
      <vt:lpstr>Times New Roman</vt:lpstr>
      <vt:lpstr>Wingdings</vt:lpstr>
      <vt:lpstr>Office Theme</vt:lpstr>
      <vt:lpstr>PowerPoint Presentation</vt:lpstr>
      <vt:lpstr>PowerPoint Presentation</vt:lpstr>
      <vt:lpstr>Contents</vt:lpstr>
      <vt:lpstr>Why we need a TX driver in high-speed transmitters?</vt:lpstr>
      <vt:lpstr>Signal reflections due to impedance mismatch</vt:lpstr>
      <vt:lpstr>PowerPoint Presentation</vt:lpstr>
      <vt:lpstr>   Design a driver circuit for a transmitter operating at 5 Gb/s. Implemented with a P-over-N architecture and special trimming bits, this design helps maintain stable impedance during operation. The system includes a background impedance calibration feature, allowing the driver to function accurately under process, voltage, and temperature (PVT) variations, in order to achieve a 50Ω output impedance.</vt:lpstr>
      <vt:lpstr>R_out=(1/(R_LSB+R_SW1 )+1/(R+R_SW2 )+1/(R_MSB+R_SW3 ))^(-1)+R_poly</vt:lpstr>
      <vt:lpstr>Here is the ratio of (W/L) all MOS</vt:lpstr>
      <vt:lpstr>Schematic of the circuit ( 1 slice )</vt:lpstr>
      <vt:lpstr>Testbench for measure R_PD  &amp; R_UP</vt:lpstr>
      <vt:lpstr>OUTPUT IMPEDANCE R_UP  </vt:lpstr>
      <vt:lpstr>OUTPUT IMPEDANCE R_DN</vt:lpstr>
      <vt:lpstr>Compare R_DN  &amp; R_UP in 9 PVT</vt:lpstr>
      <vt:lpstr>Measure parameter with prbs source </vt:lpstr>
      <vt:lpstr>Testbench for measuring </vt:lpstr>
      <vt:lpstr>PowerPoint Presentation</vt:lpstr>
      <vt:lpstr>Eye diagram of 9 PVT</vt:lpstr>
      <vt:lpstr>Table value of 9 PVT </vt:lpstr>
      <vt:lpstr>Summary</vt:lpstr>
      <vt:lpstr>Future Work</vt:lpstr>
      <vt:lpstr>References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59</cp:revision>
  <dcterms:created xsi:type="dcterms:W3CDTF">2025-05-30T04:37:14Z</dcterms:created>
  <dcterms:modified xsi:type="dcterms:W3CDTF">2025-06-03T04:33:20Z</dcterms:modified>
</cp:coreProperties>
</file>