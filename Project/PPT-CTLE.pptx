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69" r:id="rId4"/>
    <p:sldId id="258" r:id="rId5"/>
    <p:sldId id="273" r:id="rId6"/>
    <p:sldId id="274" r:id="rId7"/>
    <p:sldId id="261" r:id="rId8"/>
    <p:sldId id="263" r:id="rId9"/>
    <p:sldId id="262" r:id="rId10"/>
    <p:sldId id="281" r:id="rId11"/>
    <p:sldId id="264" r:id="rId12"/>
    <p:sldId id="265" r:id="rId13"/>
    <p:sldId id="282" r:id="rId14"/>
    <p:sldId id="285" r:id="rId15"/>
    <p:sldId id="286" r:id="rId16"/>
    <p:sldId id="283" r:id="rId17"/>
    <p:sldId id="284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9" r:id="rId26"/>
    <p:sldId id="298" r:id="rId27"/>
    <p:sldId id="300" r:id="rId28"/>
    <p:sldId id="297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28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68" autoAdjust="0"/>
  </p:normalViewPr>
  <p:slideViewPr>
    <p:cSldViewPr snapToGrid="0">
      <p:cViewPr varScale="1">
        <p:scale>
          <a:sx n="86" d="100"/>
          <a:sy n="8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5CCC924-142F-4D75-AA48-31455C38E7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Đồ án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F0554-663D-4638-B913-30574D1B14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DB8D9-DDEC-4AC9-8B5D-EF7B40EF4A68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B9929-81CB-4B64-BD49-5EDF93D3D5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 of Electronic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B98A8-0777-433C-B9A2-75845C2B4A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B4A94-9BDE-4A17-A1EA-253431E56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133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Đồ án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0049C-AA0F-4D00-8474-2AA1440AC50A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8AA-DE04-4423-992B-B9FA44FD5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6852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Đồ án 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474755-1706-4568-B5E3-B14B4E06249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8AA-DE04-4423-992B-B9FA44FD55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81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Đồ án 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DA24BB2-EEE5-4499-A2DF-B1A9649504D3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8AA-DE04-4423-992B-B9FA44FD55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8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Đồ án 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D18FF4-BE1A-4BE8-8E04-B86787B4B46A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8AA-DE04-4423-992B-B9FA44FD55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9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Đồ án 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318614E-3852-467B-A083-24777E391AE3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8AA-DE04-4423-992B-B9FA44FD55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65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Đồ án 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9892DFA-0F4C-42D8-934C-5F971739845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18AA-DE04-4423-992B-B9FA44FD55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8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7775-FA2C-4343-90BB-C07D99CAB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495DE-CAD7-434F-B56B-AE892194B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D2754-8AC7-45AF-9705-33DBD62C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C96F-C588-4D2D-93EE-200241C07D4C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5A47-3817-4664-BD71-6048C360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1CB1-D387-49CC-BC88-F77AA097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Hình ảnh 2">
            <a:extLst>
              <a:ext uri="{FF2B5EF4-FFF2-40B4-BE49-F238E27FC236}">
                <a16:creationId xmlns:a16="http://schemas.microsoft.com/office/drawing/2014/main" id="{0CF4C7A2-C9C0-4F70-B0B8-FE8ABE0B9F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722" y="1391158"/>
            <a:ext cx="2731767" cy="19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9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0F2A-C6B5-4F45-A552-3959D9EA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A7CB-CC13-406D-8A32-944500A61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D4AC1-A2DB-4298-AD2D-5F60C9E7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DFA98-F627-435E-9279-C3EA2752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EDF8-CE50-417B-8D9E-B5D64568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7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C6BF-1958-434C-88C2-BE6F51B8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40836-B85F-4C5F-9083-C35AC0A0A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D6C52-F4A4-4815-BEC2-6D202016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0060-BF0F-48EF-9584-F628450BA39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7E7F8-E198-44B6-BD23-897CCF90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39BCB-43A0-43F1-8978-8F589C94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6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ADBA-192E-47CE-BA1F-C17CAA14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95B52-52BB-4CE6-AF34-03CF45F79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6228A-03DA-4D9C-AF43-5ECA0A4D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5527B-2180-4860-8BEB-7A9BA39B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10919-2C55-4689-81B8-7E4B52281AAC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99E2B-BC42-47E9-8E99-A921F7AE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D9582-0173-46D7-8AAB-8972A8EC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0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2956-0C7F-4F9F-8500-08ECE99C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9E685-7951-43EB-9D5D-297E9C523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C6277-BDF0-46FE-9430-A22F73815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9DDB5-B5FB-4C0E-A1E3-A1D8223B7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29AFE1-FC58-4670-8468-9877093C2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53C2B-03EA-4047-BCBC-4D91B210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EFF4-4776-453E-A231-619529518974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1FAE9-75A5-4AE5-9596-64CA130C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1F1172-0897-47CB-A825-EAFA2830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0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2DC7-A0C0-4663-9066-751973D0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44CF2-771A-46FD-A015-4B3C31D2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82E3-672D-4324-896A-20C1953D47B2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B77B0-EA65-4D02-B914-A348DDE6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6B8A-A68C-46CC-839D-9CD35D02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10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777D1-7AC0-40FD-B52A-D0FE4311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0D7FD-A8AA-4AE5-A9D3-BB8B56AD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D54A1-4D78-4A27-AF43-09E48D7B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8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C364-63B3-46A6-BBBC-6B1969F8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7DE6-BA26-433D-9295-709AE583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4ADB0-50B7-4538-8678-89521BD4B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6D01-2C8B-42E3-BD0C-7724C78E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189A9-22D7-46FA-A74E-AFE445195A79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870E8-DF3B-4605-9290-D6CB400F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B5785-9CEB-46C2-A243-0FB5B9D2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D186-B1C1-4AB8-A041-8675B96C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EAD07-631D-4716-A892-F41AE9DF8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5E739-AA14-4B64-9C2D-508F28317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ECAC1-F34C-4052-BB79-7ACB1824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C305-8237-460E-8789-C33E510ADBDD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42A2F-52CD-428B-A93E-CC1D0D0A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9D3A-D478-4B82-8BE2-A55116AE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9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0809-26D2-41C8-B572-D4197B17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330C0-C6CA-4C14-A3E0-DE502C731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2100-C3EE-411D-BE1D-73B05CC2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C5F2-528C-46FA-BE0B-2BE8B7D48C0D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28364-6C1E-4235-B4D1-277DF724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A027-7529-486C-93AC-EBB6933F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2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90B5ED-3EB2-4AB4-B4A8-2080174BA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83E5B-77A2-47B8-BAF0-6911708BC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CCCFE-9E06-48C7-87C8-A74333D6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C37-DB2A-4F9A-A639-28950EA6728C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E7C6E-175B-461E-BED6-D2AC84A6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6042-E1B6-4E40-BA32-7D95B3BB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9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ABC75-A331-4CB0-8FF9-51766B4D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58B1C-F58D-402B-8BE2-488FC6AA3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F6A9-0589-4E23-9DB0-17E380F36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A0C1C-6D0C-44B1-8263-3293CAEB9F0B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990BA-1A49-4A77-8813-3BEC1CA5D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0ED1-5C8F-43F8-90BF-3E9396434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837F-FDD8-4A5A-8D82-65CDA50A541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Hình ảnh 2">
            <a:extLst>
              <a:ext uri="{FF2B5EF4-FFF2-40B4-BE49-F238E27FC236}">
                <a16:creationId xmlns:a16="http://schemas.microsoft.com/office/drawing/2014/main" id="{18126EF2-2D56-4D5F-8D62-F60462D5ECD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6086" y="-97049"/>
            <a:ext cx="1654378" cy="116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1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12">
            <a:extLst>
              <a:ext uri="{FF2B5EF4-FFF2-40B4-BE49-F238E27FC236}">
                <a16:creationId xmlns:a16="http://schemas.microsoft.com/office/drawing/2014/main" id="{80159C43-CCF8-470C-A5FD-DAA6AAE820D1}"/>
              </a:ext>
            </a:extLst>
          </p:cNvPr>
          <p:cNvSpPr txBox="1"/>
          <p:nvPr/>
        </p:nvSpPr>
        <p:spPr>
          <a:xfrm>
            <a:off x="2640759" y="3958042"/>
            <a:ext cx="6910482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6870" algn="ctr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áo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cáo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tập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ngoài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</a:t>
            </a:r>
            <a:r>
              <a:rPr lang="vi-V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ờng</a:t>
            </a:r>
            <a:endParaRPr lang="vi-VN" sz="32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Hộp Văn bản 13">
            <a:extLst>
              <a:ext uri="{FF2B5EF4-FFF2-40B4-BE49-F238E27FC236}">
                <a16:creationId xmlns:a16="http://schemas.microsoft.com/office/drawing/2014/main" id="{FF200685-D154-4532-80B3-5CF3C4BA4E3A}"/>
              </a:ext>
            </a:extLst>
          </p:cNvPr>
          <p:cNvSpPr txBox="1"/>
          <p:nvPr/>
        </p:nvSpPr>
        <p:spPr>
          <a:xfrm>
            <a:off x="2482809" y="4781191"/>
            <a:ext cx="7709473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6870" algn="ctr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Giảng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 hướng dẫn: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Phan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Võ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Kim Anh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BF7219D-B858-43C2-B999-905E2C1D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BF97-765C-43BE-9D57-2541B3CB8ECB}" type="datetime1">
              <a:rPr lang="en-US" sz="2400" smtClean="0"/>
              <a:t>8/22/2025</a:t>
            </a:fld>
            <a:endParaRPr lang="en-US" sz="24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9ABC9B-CCEB-4FAA-BFB9-48B3C4DB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 dirty="0"/>
              <a:t>Dept of Electronic Engineering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DB226-9F50-48F8-A1C6-8129799B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1</a:t>
            </a:fld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9F7EAB-9177-4254-948B-BA7441A93F30}"/>
              </a:ext>
            </a:extLst>
          </p:cNvPr>
          <p:cNvSpPr/>
          <p:nvPr/>
        </p:nvSpPr>
        <p:spPr>
          <a:xfrm>
            <a:off x="1587623" y="2712341"/>
            <a:ext cx="9499847" cy="1018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3600" b="1" cap="all" dirty="0">
                <a:solidFill>
                  <a:schemeClr val="accent1"/>
                </a:solidFill>
                <a:latin typeface="Bahnschrift SemiBold Condensed" panose="020B0502040204020203" pitchFamily="34" charset="0"/>
                <a:ea typeface="Times New Roman" panose="02020603050405020304" pitchFamily="18" charset="0"/>
              </a:rPr>
              <a:t>Design continuous time-linear equalizer (</a:t>
            </a:r>
            <a:r>
              <a:rPr lang="en-US" sz="3600" b="1" cap="all" dirty="0" err="1">
                <a:solidFill>
                  <a:schemeClr val="accent1"/>
                </a:solidFill>
                <a:latin typeface="Bahnschrift SemiBold Condensed" panose="020B0502040204020203" pitchFamily="34" charset="0"/>
                <a:ea typeface="Times New Roman" panose="02020603050405020304" pitchFamily="18" charset="0"/>
              </a:rPr>
              <a:t>ctLE</a:t>
            </a:r>
            <a:r>
              <a:rPr lang="en-US" sz="3600" b="1" cap="all" dirty="0">
                <a:solidFill>
                  <a:schemeClr val="accent1"/>
                </a:solidFill>
                <a:latin typeface="Bahnschrift SemiBold Condensed" panose="020B0502040204020203" pitchFamily="34" charset="0"/>
                <a:ea typeface="Times New Roman" panose="02020603050405020304" pitchFamily="18" charset="0"/>
              </a:rPr>
              <a:t>) </a:t>
            </a:r>
            <a:endParaRPr lang="en-US" sz="3600" dirty="0">
              <a:solidFill>
                <a:schemeClr val="accent1"/>
              </a:solidFill>
              <a:effectLst/>
              <a:latin typeface="Bahnschrift SemiBold Condensed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73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89CF-EB4C-4964-BC39-C3EF2009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668E8-40E0-4436-8F86-ABA156574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Bảng 5">
            <a:extLst>
              <a:ext uri="{FF2B5EF4-FFF2-40B4-BE49-F238E27FC236}">
                <a16:creationId xmlns:a16="http://schemas.microsoft.com/office/drawing/2014/main" id="{FF3631D5-7674-4C99-B3AB-0B282640F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3123"/>
              </p:ext>
            </p:extLst>
          </p:nvPr>
        </p:nvGraphicFramePr>
        <p:xfrm>
          <a:off x="1050441" y="2841546"/>
          <a:ext cx="995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8400">
                  <a:extLst>
                    <a:ext uri="{9D8B030D-6E8A-4147-A177-3AD203B41FA5}">
                      <a16:colId xmlns:a16="http://schemas.microsoft.com/office/drawing/2014/main" val="22694745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3893136320"/>
                    </a:ext>
                  </a:extLst>
                </a:gridCol>
              </a:tblGrid>
              <a:tr h="601134">
                <a:tc>
                  <a:txBody>
                    <a:bodyPr/>
                    <a:lstStyle/>
                    <a:p>
                      <a:pPr algn="ctr"/>
                      <a:r>
                        <a:rPr lang="en-US" sz="4400">
                          <a:latin typeface="+mj-lt"/>
                        </a:rPr>
                        <a:t>Tên</a:t>
                      </a:r>
                      <a:endParaRPr lang="vi-VN" sz="44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MSSV</a:t>
                      </a:r>
                      <a:endParaRPr lang="vi-VN" sz="4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14676"/>
                  </a:ext>
                </a:extLst>
              </a:tr>
              <a:tr h="601134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err="1"/>
                        <a:t>Hà</a:t>
                      </a:r>
                      <a:r>
                        <a:rPr lang="en-US" sz="4000" dirty="0"/>
                        <a:t> Lê </a:t>
                      </a:r>
                      <a:r>
                        <a:rPr lang="en-US" sz="4000" dirty="0" err="1"/>
                        <a:t>Ngọc</a:t>
                      </a:r>
                      <a:r>
                        <a:rPr lang="en-US" sz="4000" dirty="0"/>
                        <a:t> </a:t>
                      </a:r>
                      <a:r>
                        <a:rPr lang="en-US" sz="4000" dirty="0" err="1"/>
                        <a:t>Hưng</a:t>
                      </a:r>
                      <a:endParaRPr lang="vi-VN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4000" dirty="0">
                          <a:latin typeface="Bahnschrift SemiBold Condensed" panose="020B0502040204020203" pitchFamily="34" charset="0"/>
                        </a:rPr>
                        <a:t>22</a:t>
                      </a:r>
                      <a:r>
                        <a:rPr lang="en-US" sz="4000" dirty="0">
                          <a:latin typeface="Bahnschrift SemiBold Condensed" panose="020B0502040204020203" pitchFamily="34" charset="0"/>
                        </a:rPr>
                        <a:t>11358</a:t>
                      </a:r>
                      <a:endParaRPr lang="vi-VN" sz="4000" dirty="0">
                        <a:latin typeface="Bahnschrift SemiBold Condense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478516"/>
                  </a:ext>
                </a:extLst>
              </a:tr>
            </a:tbl>
          </a:graphicData>
        </a:graphic>
      </p:graphicFrame>
      <p:sp>
        <p:nvSpPr>
          <p:cNvPr id="5" name="Hộp Văn bản 9">
            <a:extLst>
              <a:ext uri="{FF2B5EF4-FFF2-40B4-BE49-F238E27FC236}">
                <a16:creationId xmlns:a16="http://schemas.microsoft.com/office/drawing/2014/main" id="{4E49623B-6234-4A3E-9FCB-37A665EE82FC}"/>
              </a:ext>
            </a:extLst>
          </p:cNvPr>
          <p:cNvSpPr txBox="1"/>
          <p:nvPr/>
        </p:nvSpPr>
        <p:spPr>
          <a:xfrm>
            <a:off x="2696314" y="1834238"/>
            <a:ext cx="611505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6870" algn="ctr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4000" b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Sinh viên thực hiện:</a:t>
            </a:r>
            <a:endParaRPr lang="vi-VN" sz="400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A3EFF8F-2C62-47DD-B23B-8C74FC85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6657-DAA9-4B42-8345-42B38DE05035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36D0AAB-07AE-413C-8D40-8F90AE6C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21125E-3973-4D0E-96D2-66B374BD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2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298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A557-40B1-4095-8BBF-2793411A6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774" y="136525"/>
            <a:ext cx="2384395" cy="94040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/>
                </a:solidFill>
                <a:latin typeface="Bahnschrift SemiBold Condensed" panose="020B0502040204020203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166D8-FEEA-4F36-A5CA-ADF929429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1650"/>
            <a:ext cx="9326733" cy="50247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500" b="1" dirty="0" err="1">
                <a:latin typeface="Bahnschrift SemiBold Condensed" panose="020B0502040204020203" pitchFamily="34" charset="0"/>
              </a:rPr>
              <a:t>Analyse</a:t>
            </a:r>
            <a:r>
              <a:rPr lang="en-US" sz="3500" b="1" dirty="0">
                <a:latin typeface="Bahnschrift SemiBold Condensed" panose="020B0502040204020203" pitchFamily="34" charset="0"/>
              </a:rPr>
              <a:t> requirements and design equation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b="1" dirty="0">
                <a:latin typeface="Bahnschrift SemiBold Condensed" panose="020B0502040204020203" pitchFamily="34" charset="0"/>
              </a:rPr>
              <a:t>Test &amp; Simulations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000" b="1" dirty="0">
                <a:latin typeface="Bahnschrift SemiBold Condensed" panose="020B0502040204020203" pitchFamily="34" charset="0"/>
              </a:rPr>
              <a:t>Channel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600" b="1" dirty="0">
                <a:latin typeface="Bahnschrift SemiBold Condensed" panose="020B0502040204020203" pitchFamily="34" charset="0"/>
              </a:rPr>
              <a:t>Frequency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b="1" dirty="0">
                <a:latin typeface="Bahnschrift SemiBold Condensed" panose="020B0502040204020203" pitchFamily="34" charset="0"/>
              </a:rPr>
              <a:t>CTLE design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000" b="1" dirty="0">
                <a:latin typeface="Bahnschrift SemiBold Condensed" panose="020B0502040204020203" pitchFamily="34" charset="0"/>
              </a:rPr>
              <a:t>DC analysis ( for gm require)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000" b="1" dirty="0">
                <a:latin typeface="Bahnschrift SemiBold Condensed" panose="020B0502040204020203" pitchFamily="34" charset="0"/>
              </a:rPr>
              <a:t>AC analysis ( for peaking gain 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b="1" dirty="0">
                <a:latin typeface="Bahnschrift SemiBold Condensed" panose="020B0502040204020203" pitchFamily="34" charset="0"/>
              </a:rPr>
              <a:t>CTLE + Channel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000" b="1" dirty="0">
                <a:latin typeface="Bahnschrift SemiBold Condensed" panose="020B0502040204020203" pitchFamily="34" charset="0"/>
              </a:rPr>
              <a:t>AC analysis ( Frequency response)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3000" b="1" dirty="0">
                <a:latin typeface="Bahnschrift SemiBold Condensed" panose="020B0502040204020203" pitchFamily="34" charset="0"/>
              </a:rPr>
              <a:t>Transient analysis ( Eye diagram)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b="1" dirty="0">
                <a:latin typeface="Bahnschrift SemiBold Condensed" panose="020B0502040204020203" pitchFamily="34" charset="0"/>
              </a:rPr>
              <a:t>Summary &amp; Conclusion</a:t>
            </a:r>
          </a:p>
          <a:p>
            <a:pPr marL="0" indent="0">
              <a:buNone/>
            </a:pPr>
            <a:endParaRPr lang="en-US" b="1" dirty="0">
              <a:latin typeface="Bahnschrift SemiBold Condensed" panose="020B0502040204020203" pitchFamily="34" charset="0"/>
            </a:endParaRPr>
          </a:p>
          <a:p>
            <a:pPr marL="0" indent="0">
              <a:buNone/>
            </a:pPr>
            <a:endParaRPr lang="en-US" b="1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2F0D3-10BC-4E8A-A4EB-CC825D40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5DC6-E2B4-4453-88C2-C2164CD33170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8FEEF-92A5-4199-84AB-030D2EFF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5431B-2D07-43FE-8D13-CEE34C2A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0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476E744-C24C-40AA-B4EE-4F5C0562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58D0-8CE4-4AC0-A456-0CAA1075687A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9958A63-D436-4085-B7EF-C31A4C98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E313A67-1C49-4D2C-8C34-026394A7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4</a:t>
            </a:fld>
            <a:endParaRPr lang="en-US" sz="24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2031E9-2B3C-4A46-ACF7-D0CD028FA9C0}"/>
              </a:ext>
            </a:extLst>
          </p:cNvPr>
          <p:cNvSpPr txBox="1">
            <a:spLocks/>
          </p:cNvSpPr>
          <p:nvPr/>
        </p:nvSpPr>
        <p:spPr>
          <a:xfrm>
            <a:off x="2362464" y="2336187"/>
            <a:ext cx="8388393" cy="1765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Design Topology &amp; Requirements 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638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83CF503C-AF33-4DDB-B4EE-FC540C7B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F825D-21BB-49DB-8B58-CF009066AA0D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D263A5F5-C6EF-4123-B46D-B6EC330B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BCA716D-7FBB-47B6-96F1-EB75F22471FD}"/>
              </a:ext>
            </a:extLst>
          </p:cNvPr>
          <p:cNvSpPr txBox="1">
            <a:spLocks/>
          </p:cNvSpPr>
          <p:nvPr/>
        </p:nvSpPr>
        <p:spPr>
          <a:xfrm>
            <a:off x="3173027" y="136525"/>
            <a:ext cx="6103239" cy="1092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Bahnschrift SemiBold Condensed" panose="020B0502040204020203" pitchFamily="34" charset="0"/>
              </a:rPr>
              <a:t>Requirements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B4FCB6E-ADA7-43AF-AD93-C361CFA4BD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901419"/>
                  </p:ext>
                </p:extLst>
              </p:nvPr>
            </p:nvGraphicFramePr>
            <p:xfrm>
              <a:off x="2973526" y="1115011"/>
              <a:ext cx="6244948" cy="50925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16556">
                      <a:extLst>
                        <a:ext uri="{9D8B030D-6E8A-4147-A177-3AD203B41FA5}">
                          <a16:colId xmlns:a16="http://schemas.microsoft.com/office/drawing/2014/main" val="2975686056"/>
                        </a:ext>
                      </a:extLst>
                    </a:gridCol>
                    <a:gridCol w="3128392">
                      <a:extLst>
                        <a:ext uri="{9D8B030D-6E8A-4147-A177-3AD203B41FA5}">
                          <a16:colId xmlns:a16="http://schemas.microsoft.com/office/drawing/2014/main" val="178040232"/>
                        </a:ext>
                      </a:extLst>
                    </a:gridCol>
                  </a:tblGrid>
                  <a:tr h="468787">
                    <a:tc>
                      <a:txBody>
                        <a:bodyPr/>
                        <a:lstStyle/>
                        <a:p>
                          <a:endParaRPr lang="en-US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Bahnschrift SemiBold Condensed" panose="020B0502040204020203" pitchFamily="34" charset="0"/>
                            </a:rPr>
                            <a:t>Specification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86729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Process</a:t>
                          </a:r>
                        </a:p>
                        <a:p>
                          <a:endParaRPr lang="en-US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65nm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760043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VDD</a:t>
                          </a:r>
                        </a:p>
                        <a:p>
                          <a:endParaRPr lang="en-US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1.0V</a:t>
                          </a:r>
                        </a:p>
                        <a:p>
                          <a:pPr algn="ctr"/>
                          <a:endParaRPr lang="en-US" b="1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4221484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VSS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271862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Input common mode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0.8V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498655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Output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n-US" b="1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6359599"/>
                      </a:ext>
                    </a:extLst>
                  </a:tr>
                  <a:tr h="5308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Peaking Gain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10dB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8712578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Data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12Gb/s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8624368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Data format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NRZ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949588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Channel loss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𝒅𝑩</m:t>
                                </m:r>
                              </m:oMath>
                            </m:oMathPara>
                          </a14:m>
                          <a:endParaRPr lang="en-US" b="1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604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B4FCB6E-ADA7-43AF-AD93-C361CFA4BD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901419"/>
                  </p:ext>
                </p:extLst>
              </p:nvPr>
            </p:nvGraphicFramePr>
            <p:xfrm>
              <a:off x="2973526" y="1115011"/>
              <a:ext cx="6244948" cy="50925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16556">
                      <a:extLst>
                        <a:ext uri="{9D8B030D-6E8A-4147-A177-3AD203B41FA5}">
                          <a16:colId xmlns:a16="http://schemas.microsoft.com/office/drawing/2014/main" val="2975686056"/>
                        </a:ext>
                      </a:extLst>
                    </a:gridCol>
                    <a:gridCol w="3128392">
                      <a:extLst>
                        <a:ext uri="{9D8B030D-6E8A-4147-A177-3AD203B41FA5}">
                          <a16:colId xmlns:a16="http://schemas.microsoft.com/office/drawing/2014/main" val="178040232"/>
                        </a:ext>
                      </a:extLst>
                    </a:gridCol>
                  </a:tblGrid>
                  <a:tr h="468787">
                    <a:tc>
                      <a:txBody>
                        <a:bodyPr/>
                        <a:lstStyle/>
                        <a:p>
                          <a:endParaRPr lang="en-US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Bahnschrift SemiBold Condensed" panose="020B0502040204020203" pitchFamily="34" charset="0"/>
                            </a:rPr>
                            <a:t>Specification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8672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Process</a:t>
                          </a:r>
                        </a:p>
                        <a:p>
                          <a:endParaRPr lang="en-US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65nm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776004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VDD</a:t>
                          </a:r>
                        </a:p>
                        <a:p>
                          <a:endParaRPr lang="en-US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1.0V</a:t>
                          </a:r>
                        </a:p>
                        <a:p>
                          <a:pPr algn="ctr"/>
                          <a:endParaRPr lang="en-US" b="1" dirty="0">
                            <a:latin typeface="Bahnschrift SemiBold Condensed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4221484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VSS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271862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Input common mode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0.8V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498655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Output voltage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805" t="-580519" r="-778" b="-4155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6359599"/>
                      </a:ext>
                    </a:extLst>
                  </a:tr>
                  <a:tr h="5308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Peaking Gain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10dB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8712578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Data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12Gb/s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8624368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Data format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Bahnschrift SemiBold Condensed" panose="020B0502040204020203" pitchFamily="34" charset="0"/>
                            </a:rPr>
                            <a:t>NRZ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949588"/>
                      </a:ext>
                    </a:extLst>
                  </a:tr>
                  <a:tr h="46878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Bahnschrift SemiBold Condensed" panose="020B0502040204020203" pitchFamily="34" charset="0"/>
                            </a:rPr>
                            <a:t>Channel loss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9805" t="-993506" r="-778" b="-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66049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47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AD689E-48E8-4F10-9638-EF977C259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52" y="1429306"/>
            <a:ext cx="3695700" cy="427672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4E55AED-6B87-40DA-B839-D49BAF3C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752" y="6454004"/>
            <a:ext cx="2743200" cy="365125"/>
          </a:xfrm>
        </p:spPr>
        <p:txBody>
          <a:bodyPr/>
          <a:lstStyle/>
          <a:p>
            <a:fld id="{C6FA7702-0C40-4AB2-B1F4-1C1742C90CDC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1F8CA1-EFD5-406F-9E2B-FDD3B610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B7FF131-56C7-4BAE-B53B-309F69BF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6</a:t>
            </a:fld>
            <a:endParaRPr lang="en-US" sz="24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29D2226-E500-4A52-AF8B-CA11446E28C6}"/>
              </a:ext>
            </a:extLst>
          </p:cNvPr>
          <p:cNvSpPr txBox="1">
            <a:spLocks/>
          </p:cNvSpPr>
          <p:nvPr/>
        </p:nvSpPr>
        <p:spPr>
          <a:xfrm>
            <a:off x="4298774" y="132597"/>
            <a:ext cx="3594452" cy="1292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Design Topology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6E86F41-B994-450E-AB5D-1663A6853C2E}"/>
              </a:ext>
            </a:extLst>
          </p:cNvPr>
          <p:cNvSpPr txBox="1">
            <a:spLocks/>
          </p:cNvSpPr>
          <p:nvPr/>
        </p:nvSpPr>
        <p:spPr>
          <a:xfrm>
            <a:off x="1579717" y="5548543"/>
            <a:ext cx="2073770" cy="644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Bahnschrift SemiBold Condensed" panose="020B0502040204020203" pitchFamily="34" charset="0"/>
              </a:rPr>
              <a:t>Active CTLE</a:t>
            </a:r>
            <a:endParaRPr lang="en-US" sz="36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C4E52B-4507-4CD9-B992-8F011EA94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862" y="1212735"/>
            <a:ext cx="7801075" cy="51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5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DF180D-4F79-459A-B9BD-114EEAC0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B8F5-3CF0-4916-A54F-CA9A6249C250}" type="datetime1">
              <a:rPr lang="en-US" smtClean="0"/>
              <a:t>8/22/2025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4C039C5-66BA-42C5-9E00-9E715FC74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244CD6-280C-4D4C-805A-D58B6C08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2FADA55-4522-4561-B7D2-4CEA7299FE9C}"/>
              </a:ext>
            </a:extLst>
          </p:cNvPr>
          <p:cNvSpPr txBox="1">
            <a:spLocks/>
          </p:cNvSpPr>
          <p:nvPr/>
        </p:nvSpPr>
        <p:spPr>
          <a:xfrm>
            <a:off x="3648723" y="1908700"/>
            <a:ext cx="5601810" cy="2521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>
                <a:latin typeface="Bahnschrift SemiBold Condensed" panose="020B0502040204020203" pitchFamily="34" charset="0"/>
              </a:rPr>
              <a:t>Test &amp; Simulations</a:t>
            </a:r>
          </a:p>
        </p:txBody>
      </p:sp>
    </p:spTree>
    <p:extLst>
      <p:ext uri="{BB962C8B-B14F-4D97-AF65-F5344CB8AC3E}">
        <p14:creationId xmlns:p14="http://schemas.microsoft.com/office/powerpoint/2010/main" val="367268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0DEC65B-AD3E-4FC8-8171-4745F880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65327-13A6-4E19-BAD5-5F67A500C0E1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061273D-AB7A-4230-BE87-1B1D3047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A3D9C88-912D-422E-A8D1-F3CCFE11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8</a:t>
            </a:fld>
            <a:endParaRPr lang="en-US" sz="24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BFEACC8-DDCB-4626-BA5C-859DE50BB548}"/>
              </a:ext>
            </a:extLst>
          </p:cNvPr>
          <p:cNvSpPr txBox="1">
            <a:spLocks/>
          </p:cNvSpPr>
          <p:nvPr/>
        </p:nvSpPr>
        <p:spPr>
          <a:xfrm>
            <a:off x="4038600" y="1864312"/>
            <a:ext cx="3790764" cy="2521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>
                <a:latin typeface="Bahnschrift SemiBold Condensed" panose="020B0502040204020203" pitchFamily="34" charset="0"/>
              </a:rPr>
              <a:t>Channel </a:t>
            </a:r>
          </a:p>
        </p:txBody>
      </p:sp>
    </p:spTree>
    <p:extLst>
      <p:ext uri="{BB962C8B-B14F-4D97-AF65-F5344CB8AC3E}">
        <p14:creationId xmlns:p14="http://schemas.microsoft.com/office/powerpoint/2010/main" val="175815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6F40F6-3D0F-4CCF-A753-D50E0559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060-32E5-40C9-9845-B629DBEFB179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FF36C1A-B157-4A29-BC25-72C1D75A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8086262-F532-4D75-A3B5-EEC69151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9</a:t>
            </a:fld>
            <a:endParaRPr lang="en-US" sz="2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44E8BD-478F-401E-8F31-2D122F773D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91449" y="1231199"/>
            <a:ext cx="8490751" cy="488551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E1EF7A2-F495-4F61-9319-B4EB38819177}"/>
              </a:ext>
            </a:extLst>
          </p:cNvPr>
          <p:cNvSpPr txBox="1">
            <a:spLocks/>
          </p:cNvSpPr>
          <p:nvPr/>
        </p:nvSpPr>
        <p:spPr>
          <a:xfrm>
            <a:off x="1670984" y="184273"/>
            <a:ext cx="488961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12 x 1-inch FR4 section 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5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EAFB-ECB1-4CD2-9B6B-6C43D05A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DC436-9B6E-4DB2-B6A9-BB87598E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331A1-3B47-42A9-84DE-1BB966DD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9A1BDE-2B65-4F91-9E8A-29231148F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94" y="1106653"/>
            <a:ext cx="9480612" cy="324398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0B330E3-8901-4B58-8149-813E44C46CE7}"/>
              </a:ext>
            </a:extLst>
          </p:cNvPr>
          <p:cNvSpPr txBox="1">
            <a:spLocks/>
          </p:cNvSpPr>
          <p:nvPr/>
        </p:nvSpPr>
        <p:spPr>
          <a:xfrm>
            <a:off x="1670984" y="184273"/>
            <a:ext cx="488961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Testbench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B6286B-FB57-4C77-98D0-2BD34B3FD45A}"/>
              </a:ext>
            </a:extLst>
          </p:cNvPr>
          <p:cNvSpPr/>
          <p:nvPr/>
        </p:nvSpPr>
        <p:spPr>
          <a:xfrm>
            <a:off x="923278" y="4792559"/>
            <a:ext cx="1899821" cy="9587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Library : </a:t>
            </a:r>
            <a:r>
              <a:rPr lang="en-US" dirty="0" err="1">
                <a:solidFill>
                  <a:srgbClr val="FF0000"/>
                </a:solidFill>
              </a:rPr>
              <a:t>analogLib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Cell name: vdc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Ac mag : 1V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A3619-999C-4AC5-BC3C-1B3C3FF7E1B7}"/>
              </a:ext>
            </a:extLst>
          </p:cNvPr>
          <p:cNvSpPr/>
          <p:nvPr/>
        </p:nvSpPr>
        <p:spPr>
          <a:xfrm>
            <a:off x="4038600" y="4792559"/>
            <a:ext cx="2395490" cy="9587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Library : </a:t>
            </a:r>
            <a:r>
              <a:rPr lang="en-US" dirty="0" err="1">
                <a:solidFill>
                  <a:srgbClr val="FF0000"/>
                </a:solidFill>
              </a:rPr>
              <a:t>analogLib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Cell name: </a:t>
            </a:r>
            <a:r>
              <a:rPr lang="en-US" dirty="0" err="1">
                <a:solidFill>
                  <a:srgbClr val="FF0000"/>
                </a:solidFill>
              </a:rPr>
              <a:t>vcvs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Voltage gain : +/-0.5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4327A3-7F27-47A5-BB75-CA6C4C58AF6B}"/>
              </a:ext>
            </a:extLst>
          </p:cNvPr>
          <p:cNvCxnSpPr>
            <a:cxnSpLocks/>
          </p:cNvCxnSpPr>
          <p:nvPr/>
        </p:nvCxnSpPr>
        <p:spPr>
          <a:xfrm flipH="1">
            <a:off x="1571349" y="3338004"/>
            <a:ext cx="195307" cy="14545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94C4EB-DC3B-4CF1-8E7D-43EE86664AB9}"/>
              </a:ext>
            </a:extLst>
          </p:cNvPr>
          <p:cNvCxnSpPr>
            <a:cxnSpLocks/>
          </p:cNvCxnSpPr>
          <p:nvPr/>
        </p:nvCxnSpPr>
        <p:spPr>
          <a:xfrm>
            <a:off x="3776708" y="3721223"/>
            <a:ext cx="493451" cy="10713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827A74-F0B1-4BDE-B584-8B292F35D886}"/>
              </a:ext>
            </a:extLst>
          </p:cNvPr>
          <p:cNvCxnSpPr>
            <a:cxnSpLocks/>
          </p:cNvCxnSpPr>
          <p:nvPr/>
        </p:nvCxnSpPr>
        <p:spPr>
          <a:xfrm>
            <a:off x="3869065" y="2932591"/>
            <a:ext cx="401094" cy="18599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168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FDBC-BA8E-4CF2-86C0-6E6D369B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305" y="86619"/>
            <a:ext cx="1288743" cy="623159"/>
          </a:xfrm>
        </p:spPr>
        <p:txBody>
          <a:bodyPr>
            <a:noAutofit/>
          </a:bodyPr>
          <a:lstStyle/>
          <a:p>
            <a:r>
              <a:rPr lang="en-US" sz="3600" dirty="0">
                <a:latin typeface="Bahnschrift SemiBold Condensed" panose="020B0502040204020203" pitchFamily="34" charset="0"/>
              </a:rPr>
              <a:t>SET UP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A4BAAF-84DE-4E00-B46F-B7A59C9F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7A9C-557B-4672-BA94-15DFF054AC74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8B4FF3F-E2B4-4545-AE0B-6F600205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188F3E-19BF-4C87-A53E-7985D2B0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11</a:t>
            </a:fld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CE3C5-AAE2-423E-B05C-1F601A884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924" y="1020933"/>
            <a:ext cx="6869750" cy="2494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18A158-E4DD-4C34-9AA9-387697210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024" y="832336"/>
            <a:ext cx="2596542" cy="458866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95BF1D-A1C4-4622-AFE8-DD7BC3E175D6}"/>
              </a:ext>
            </a:extLst>
          </p:cNvPr>
          <p:cNvCxnSpPr>
            <a:cxnSpLocks/>
          </p:cNvCxnSpPr>
          <p:nvPr/>
        </p:nvCxnSpPr>
        <p:spPr>
          <a:xfrm>
            <a:off x="3859446" y="2533097"/>
            <a:ext cx="84571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8244E67-BBD5-42E3-A1C5-D50D1787F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32" y="4863732"/>
            <a:ext cx="7355536" cy="758549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FB950DAE-A375-4409-8E7C-DD8F0425B55F}"/>
              </a:ext>
            </a:extLst>
          </p:cNvPr>
          <p:cNvSpPr txBox="1">
            <a:spLocks/>
          </p:cNvSpPr>
          <p:nvPr/>
        </p:nvSpPr>
        <p:spPr>
          <a:xfrm>
            <a:off x="4582164" y="4129663"/>
            <a:ext cx="2715281" cy="623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Bahnschrift SemiBold Condensed" panose="020B0502040204020203" pitchFamily="34" charset="0"/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414428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ED917E6-4CFA-4BFB-9FB7-6D266AA7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59ED1-B745-47B7-81AE-DCB95A92A795}" type="datetime1">
              <a:rPr lang="en-US" sz="2400" smtClean="0"/>
              <a:t>8/22/2025</a:t>
            </a:fld>
            <a:endParaRPr lang="en-US" sz="240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39B42C5-9F47-4C8E-AB2C-F8F781E1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Dept of Electronic Engineering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3FB1952-596D-48AE-B574-DFF220F1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z="2400" smtClean="0"/>
              <a:t>12</a:t>
            </a:fld>
            <a:endParaRPr lang="en-US" sz="24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2A6636-EC15-40C7-875D-3950648491FD}"/>
              </a:ext>
            </a:extLst>
          </p:cNvPr>
          <p:cNvSpPr txBox="1">
            <a:spLocks/>
          </p:cNvSpPr>
          <p:nvPr/>
        </p:nvSpPr>
        <p:spPr>
          <a:xfrm>
            <a:off x="1670984" y="184273"/>
            <a:ext cx="488961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Frequency Response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33CC2-984B-4347-A818-E2CE7423DB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13124" y="1207963"/>
            <a:ext cx="9007892" cy="463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5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2A5D-9315-4ECB-8852-6AB2C43EF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66F2C-9324-4F0A-A067-4BEA8C7C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3C6A-2AF0-430F-8F0E-B9357C49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47B637-1E08-4B3C-B521-326D0973B926}"/>
              </a:ext>
            </a:extLst>
          </p:cNvPr>
          <p:cNvSpPr txBox="1">
            <a:spLocks/>
          </p:cNvSpPr>
          <p:nvPr/>
        </p:nvSpPr>
        <p:spPr>
          <a:xfrm>
            <a:off x="5067300" y="1970844"/>
            <a:ext cx="2057400" cy="2521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>
                <a:latin typeface="Bahnschrift SemiBold Condensed" panose="020B0502040204020203" pitchFamily="34" charset="0"/>
              </a:rPr>
              <a:t>CTLE</a:t>
            </a:r>
          </a:p>
        </p:txBody>
      </p:sp>
    </p:spTree>
    <p:extLst>
      <p:ext uri="{BB962C8B-B14F-4D97-AF65-F5344CB8AC3E}">
        <p14:creationId xmlns:p14="http://schemas.microsoft.com/office/powerpoint/2010/main" val="395691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CB2F1-5B2F-497F-9825-310344DB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3CDA8-ABF4-4516-8D2B-86D03346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69F92-C1FD-44C8-BCCD-7DE9D2A4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639D0C-1BA4-4505-8812-7DFE619B0C2D}"/>
              </a:ext>
            </a:extLst>
          </p:cNvPr>
          <p:cNvSpPr txBox="1">
            <a:spLocks/>
          </p:cNvSpPr>
          <p:nvPr/>
        </p:nvSpPr>
        <p:spPr>
          <a:xfrm>
            <a:off x="1365682" y="136525"/>
            <a:ext cx="2672918" cy="8700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Calculation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DD291E-E99A-4D56-B825-780B3F0FB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57" y="1174191"/>
            <a:ext cx="6514471" cy="4532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17596450-E841-4005-A0D8-777FBB03F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2577" y="1468431"/>
                <a:ext cx="5139932" cy="21625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Bahnschrift SemiBold Condensed" panose="020B0502040204020203" pitchFamily="34" charset="0"/>
                  </a:rPr>
                  <a:t>In </a:t>
                </a:r>
                <a:r>
                  <a:rPr lang="en-US" sz="2000" b="1" dirty="0" err="1">
                    <a:latin typeface="Bahnschrift SemiBold Condensed" panose="020B0502040204020203" pitchFamily="34" charset="0"/>
                  </a:rPr>
                  <a:t>B.Razavi’s</a:t>
                </a:r>
                <a:r>
                  <a:rPr lang="en-US" sz="2000" b="1" dirty="0">
                    <a:latin typeface="Bahnschrift SemiBold Condensed" panose="020B0502040204020203" pitchFamily="34" charset="0"/>
                  </a:rPr>
                  <a:t> paper, we need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𝑵𝒒𝒖𝒊𝒔𝒕</m:t>
                        </m:r>
                      </m:sub>
                    </m:sSub>
                  </m:oMath>
                </a14:m>
                <a:r>
                  <a:rPr lang="en-US" sz="2000" b="1" dirty="0">
                    <a:latin typeface="Bahnschrift SemiBold Condensed" panose="020B0502040204020203" pitchFamily="34" charset="0"/>
                  </a:rPr>
                  <a:t>, but in this design I modify that we need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𝑵𝒒𝒖𝒊𝒔𝒕</m:t>
                        </m:r>
                      </m:sub>
                    </m:sSub>
                  </m:oMath>
                </a14:m>
                <a:r>
                  <a:rPr lang="en-US" sz="2000" b="1" dirty="0">
                    <a:latin typeface="Bahnschrift SemiBold Condensed" panose="020B0502040204020203" pitchFamily="34" charset="0"/>
                  </a:rPr>
                  <a:t> to maximize the peaking gain </a:t>
                </a: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17596450-E841-4005-A0D8-777FBB03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77" y="1468431"/>
                <a:ext cx="5139932" cy="2162535"/>
              </a:xfrm>
              <a:prstGeom prst="rect">
                <a:avLst/>
              </a:prstGeom>
              <a:blipFill>
                <a:blip r:embed="rId3"/>
                <a:stretch>
                  <a:fillRect l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F7B68D54-E0EC-408C-ADA6-A07DB7F7A8BD}"/>
              </a:ext>
            </a:extLst>
          </p:cNvPr>
          <p:cNvSpPr txBox="1">
            <a:spLocks/>
          </p:cNvSpPr>
          <p:nvPr/>
        </p:nvSpPr>
        <p:spPr>
          <a:xfrm>
            <a:off x="7295835" y="3940237"/>
            <a:ext cx="4233168" cy="1115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Bahnschrift SemiBold Condensed" panose="020B0502040204020203" pitchFamily="34" charset="0"/>
              </a:rPr>
              <a:t>Also we need to ensure that DC gain not change to much so -6dB is </a:t>
            </a:r>
            <a:r>
              <a:rPr lang="en-US" sz="2000" b="1" dirty="0" err="1">
                <a:latin typeface="Bahnschrift SemiBold Condensed" panose="020B0502040204020203" pitchFamily="34" charset="0"/>
              </a:rPr>
              <a:t>choosed</a:t>
            </a:r>
            <a:r>
              <a:rPr lang="en-US" sz="2000" b="1" dirty="0">
                <a:latin typeface="Bahnschrift SemiBold Condensed" panose="020B0502040204020203" pitchFamily="34" charset="0"/>
              </a:rPr>
              <a:t> in this case</a:t>
            </a:r>
          </a:p>
        </p:txBody>
      </p:sp>
    </p:spTree>
    <p:extLst>
      <p:ext uri="{BB962C8B-B14F-4D97-AF65-F5344CB8AC3E}">
        <p14:creationId xmlns:p14="http://schemas.microsoft.com/office/powerpoint/2010/main" val="7182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5EF5-E1CD-48BA-8F48-2F836546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B5C8-684E-4295-B45F-41E58DE1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B9AA9-A75D-41CB-94C9-7792BDC5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C7ACBE-6D4B-45BA-8CC6-304A6C14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712" y="582597"/>
            <a:ext cx="6250980" cy="510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1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0FD0C-DDE5-432B-8561-2087469C2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E7C44-B68A-426F-B1CA-1B9170CF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10E4-9BDA-4A80-A6B6-EA9F6B26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5E5241-50BD-4C41-8502-64A0353A0B62}"/>
              </a:ext>
            </a:extLst>
          </p:cNvPr>
          <p:cNvSpPr txBox="1">
            <a:spLocks/>
          </p:cNvSpPr>
          <p:nvPr/>
        </p:nvSpPr>
        <p:spPr>
          <a:xfrm>
            <a:off x="1057685" y="-37677"/>
            <a:ext cx="2980915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1. DC analysis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DFAB76-EAFF-475B-B6B8-F96D2E6FC1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48142" y="1553530"/>
            <a:ext cx="7439487" cy="480282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80E4176-48B5-470E-99A0-FA7FC88E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4" y="876825"/>
            <a:ext cx="1681794" cy="62315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ahnschrift SemiBold Condensed" panose="020B0502040204020203" pitchFamily="34" charset="0"/>
              </a:rPr>
              <a:t>TESTBENCH</a:t>
            </a:r>
          </a:p>
        </p:txBody>
      </p:sp>
    </p:spTree>
    <p:extLst>
      <p:ext uri="{BB962C8B-B14F-4D97-AF65-F5344CB8AC3E}">
        <p14:creationId xmlns:p14="http://schemas.microsoft.com/office/powerpoint/2010/main" val="2687621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376BF-BF13-4D95-9220-D415AB11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61747-D1FC-4863-9C16-E016AFE1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71913-D22A-41D3-91EC-C2B6B8DE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E6CB4F-92DF-466D-9D32-50D8DB28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745" y="264171"/>
            <a:ext cx="1288743" cy="623159"/>
          </a:xfrm>
        </p:spPr>
        <p:txBody>
          <a:bodyPr>
            <a:noAutofit/>
          </a:bodyPr>
          <a:lstStyle/>
          <a:p>
            <a:r>
              <a:rPr lang="en-US" sz="3600" dirty="0">
                <a:latin typeface="Bahnschrift SemiBold Condensed" panose="020B0502040204020203" pitchFamily="34" charset="0"/>
              </a:rPr>
              <a:t>SET UP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2CFEC-3774-40E9-9E2E-10E6A7ED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32" y="1026773"/>
            <a:ext cx="2882672" cy="480445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CFF0A1-DF72-40DE-994B-54FF12B7F097}"/>
              </a:ext>
            </a:extLst>
          </p:cNvPr>
          <p:cNvCxnSpPr>
            <a:cxnSpLocks/>
          </p:cNvCxnSpPr>
          <p:nvPr/>
        </p:nvCxnSpPr>
        <p:spPr>
          <a:xfrm>
            <a:off x="4038600" y="2313458"/>
            <a:ext cx="84571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6C07C-5BFC-44D2-A085-CA585C30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23" y="1251584"/>
            <a:ext cx="5533435" cy="2123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B896E-0335-4978-B99C-BB2DEB662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86" y="4073054"/>
            <a:ext cx="7367908" cy="942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E90A059-201F-40A4-A42D-F623F7592B32}"/>
              </a:ext>
            </a:extLst>
          </p:cNvPr>
          <p:cNvSpPr txBox="1">
            <a:spLocks/>
          </p:cNvSpPr>
          <p:nvPr/>
        </p:nvSpPr>
        <p:spPr>
          <a:xfrm>
            <a:off x="4272286" y="5090592"/>
            <a:ext cx="1717830" cy="623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>
                <a:latin typeface="Bahnschrift SemiBold Condensed" panose="020B0502040204020203" pitchFamily="34" charset="0"/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814051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C6C08-67BC-451F-83C4-F7718807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DE536-398A-4BA7-BCF6-F38111C9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8F0F1-909B-4C4B-BF89-72B989B9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5F2960-D05A-44F0-B180-20F119FE222D}"/>
              </a:ext>
            </a:extLst>
          </p:cNvPr>
          <p:cNvSpPr txBox="1">
            <a:spLocks/>
          </p:cNvSpPr>
          <p:nvPr/>
        </p:nvSpPr>
        <p:spPr>
          <a:xfrm>
            <a:off x="1764745" y="264171"/>
            <a:ext cx="1288743" cy="6231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Bahnschrift SemiBold Condensed" panose="020B0502040204020203" pitchFamily="34" charset="0"/>
              </a:rPr>
              <a:t>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2DB286-B8C4-48DD-A5D7-986CB11D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7" y="1378222"/>
            <a:ext cx="9721049" cy="237588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EA1FCC9-40EF-4BBF-B98A-0866E425DCE5}"/>
              </a:ext>
            </a:extLst>
          </p:cNvPr>
          <p:cNvSpPr txBox="1">
            <a:spLocks/>
          </p:cNvSpPr>
          <p:nvPr/>
        </p:nvSpPr>
        <p:spPr>
          <a:xfrm>
            <a:off x="2089210" y="4423191"/>
            <a:ext cx="7321120" cy="8146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Bahnschrift SemiBold Condensed" panose="020B0502040204020203" pitchFamily="34" charset="0"/>
              </a:rPr>
              <a:t>The result is good , satisfied the requirements </a:t>
            </a:r>
          </a:p>
        </p:txBody>
      </p:sp>
    </p:spTree>
    <p:extLst>
      <p:ext uri="{BB962C8B-B14F-4D97-AF65-F5344CB8AC3E}">
        <p14:creationId xmlns:p14="http://schemas.microsoft.com/office/powerpoint/2010/main" val="3066573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90197-91D7-4DA6-B8AE-D007111C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C048D-49BF-4B8B-B38F-F6DA7703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23D17-0D57-488A-883A-48BFB303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144A90-D066-4C4D-B0BF-E2E56AE2C495}"/>
              </a:ext>
            </a:extLst>
          </p:cNvPr>
          <p:cNvSpPr txBox="1">
            <a:spLocks/>
          </p:cNvSpPr>
          <p:nvPr/>
        </p:nvSpPr>
        <p:spPr>
          <a:xfrm>
            <a:off x="1285351" y="215283"/>
            <a:ext cx="3304405" cy="63247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Bahnschrift SemiBold Condensed" panose="020B0502040204020203" pitchFamily="34" charset="0"/>
              </a:rPr>
              <a:t>Choose size CMOS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F878C7-4E5B-4939-ADC8-144578ECB30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3" y="775077"/>
            <a:ext cx="6738003" cy="5307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E435B-E886-48B6-843D-FEDB8EA7A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99" y="852178"/>
            <a:ext cx="2846449" cy="523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8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D3CF4-05DD-4725-9FC4-AEC3607F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F430E-C2D9-4D40-B6EB-86C4B431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C7A6E-DC71-479A-9AD9-2FC6DDF2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32BE35-5EA4-4DAD-8A43-74D42F8895E8}"/>
              </a:ext>
            </a:extLst>
          </p:cNvPr>
          <p:cNvSpPr txBox="1">
            <a:spLocks/>
          </p:cNvSpPr>
          <p:nvPr/>
        </p:nvSpPr>
        <p:spPr>
          <a:xfrm>
            <a:off x="1298122" y="136525"/>
            <a:ext cx="2980915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2. AC Analysis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99C3C7-93C9-47FC-BBB8-0D6E2E317621}"/>
              </a:ext>
            </a:extLst>
          </p:cNvPr>
          <p:cNvSpPr txBox="1">
            <a:spLocks/>
          </p:cNvSpPr>
          <p:nvPr/>
        </p:nvSpPr>
        <p:spPr>
          <a:xfrm>
            <a:off x="5109624" y="876825"/>
            <a:ext cx="1681794" cy="6231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Bahnschrift SemiBold Condensed" panose="020B0502040204020203" pitchFamily="34" charset="0"/>
              </a:rPr>
              <a:t>TESTBENCH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D00D4B-7A01-4988-9237-22EC5958F5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84867" y="1429305"/>
            <a:ext cx="8059964" cy="473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8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51B27-1985-46B8-AA5F-0E016483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85809-D240-4F8C-A0CB-6527285D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610E-D6DF-4F08-864E-BB56068E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9029C8-1A4C-42ED-ABC4-3816EB9AAF4A}"/>
              </a:ext>
            </a:extLst>
          </p:cNvPr>
          <p:cNvSpPr txBox="1">
            <a:spLocks/>
          </p:cNvSpPr>
          <p:nvPr/>
        </p:nvSpPr>
        <p:spPr>
          <a:xfrm>
            <a:off x="1298123" y="136525"/>
            <a:ext cx="164926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SET UP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46155-C095-4E71-A346-8AA0CBAD8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3003"/>
            <a:ext cx="2856409" cy="49814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0BB8BA-1087-4570-89BB-E106FC1CE808}"/>
              </a:ext>
            </a:extLst>
          </p:cNvPr>
          <p:cNvCxnSpPr>
            <a:cxnSpLocks/>
          </p:cNvCxnSpPr>
          <p:nvPr/>
        </p:nvCxnSpPr>
        <p:spPr>
          <a:xfrm>
            <a:off x="3861047" y="2526521"/>
            <a:ext cx="84571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454EF9B-B980-49EF-B669-FA399EF47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06" y="1294455"/>
            <a:ext cx="4212671" cy="2091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AB64D6-2378-4FBA-BCF6-B7A696FF2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599" y="3736148"/>
            <a:ext cx="7868563" cy="113489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6731AA9-51D6-405A-8873-24FBEB2E614D}"/>
              </a:ext>
            </a:extLst>
          </p:cNvPr>
          <p:cNvSpPr txBox="1">
            <a:spLocks/>
          </p:cNvSpPr>
          <p:nvPr/>
        </p:nvSpPr>
        <p:spPr>
          <a:xfrm>
            <a:off x="4038599" y="4833094"/>
            <a:ext cx="2057401" cy="730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Bahnschrift SemiBold Condensed" panose="020B0502040204020203" pitchFamily="34" charset="0"/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2268620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D562B9-2931-406F-99FF-E75A3353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368D95-479B-4DBB-AD8F-7D8DFDCD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F76E7-1B97-4F35-B29C-5DFD5065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937D6E-B84D-4CC9-8FD6-168EE1A48223}"/>
              </a:ext>
            </a:extLst>
          </p:cNvPr>
          <p:cNvSpPr txBox="1">
            <a:spLocks/>
          </p:cNvSpPr>
          <p:nvPr/>
        </p:nvSpPr>
        <p:spPr>
          <a:xfrm>
            <a:off x="1058426" y="0"/>
            <a:ext cx="164926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334D4-EC05-48AC-911C-742785FC63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3270" y="1262855"/>
            <a:ext cx="9576343" cy="499085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24024D5-938D-4CB6-8E83-E82C273E557D}"/>
              </a:ext>
            </a:extLst>
          </p:cNvPr>
          <p:cNvSpPr txBox="1">
            <a:spLocks/>
          </p:cNvSpPr>
          <p:nvPr/>
        </p:nvSpPr>
        <p:spPr>
          <a:xfrm>
            <a:off x="4977043" y="312198"/>
            <a:ext cx="2237913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Sweep 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6581D0-6E96-4706-9B84-7F62DC9B0F29}"/>
              </a:ext>
            </a:extLst>
          </p:cNvPr>
          <p:cNvSpPr txBox="1">
            <a:spLocks/>
          </p:cNvSpPr>
          <p:nvPr/>
        </p:nvSpPr>
        <p:spPr>
          <a:xfrm>
            <a:off x="3788914" y="2286545"/>
            <a:ext cx="3985335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b="1" dirty="0">
                <a:latin typeface="Bahnschrift SemiBold Condensed" panose="020B0502040204020203" pitchFamily="34" charset="0"/>
              </a:rPr>
              <a:t>DC gain </a:t>
            </a:r>
            <a:r>
              <a:rPr lang="en-US" sz="1400" b="1" dirty="0" err="1">
                <a:latin typeface="Bahnschrift SemiBold Condensed" panose="020B0502040204020203" pitchFamily="34" charset="0"/>
              </a:rPr>
              <a:t>descreased</a:t>
            </a:r>
            <a:r>
              <a:rPr lang="en-US" sz="1400" b="1" dirty="0">
                <a:latin typeface="Bahnschrift SemiBold Condensed" panose="020B0502040204020203" pitchFamily="34" charset="0"/>
              </a:rPr>
              <a:t> when Rs increased</a:t>
            </a:r>
          </a:p>
          <a:p>
            <a:pPr>
              <a:lnSpc>
                <a:spcPct val="100000"/>
              </a:lnSpc>
            </a:pPr>
            <a:r>
              <a:rPr lang="en-US" sz="1400" b="1" dirty="0" err="1">
                <a:latin typeface="Bahnschrift SemiBold Condensed" panose="020B0502040204020203" pitchFamily="34" charset="0"/>
              </a:rPr>
              <a:t>Wz</a:t>
            </a:r>
            <a:r>
              <a:rPr lang="en-US" sz="1400" b="1" dirty="0">
                <a:latin typeface="Bahnschrift SemiBold Condensed" panose="020B0502040204020203" pitchFamily="34" charset="0"/>
              </a:rPr>
              <a:t> goes to lower frequency allow having higher peaking gain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96BA79-90F6-4685-BFF3-C812F4714DCE}"/>
              </a:ext>
            </a:extLst>
          </p:cNvPr>
          <p:cNvCxnSpPr>
            <a:cxnSpLocks/>
          </p:cNvCxnSpPr>
          <p:nvPr/>
        </p:nvCxnSpPr>
        <p:spPr>
          <a:xfrm>
            <a:off x="4498388" y="4270159"/>
            <a:ext cx="0" cy="165124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063888-1AFA-4A98-9C01-D609779AD8C4}"/>
              </a:ext>
            </a:extLst>
          </p:cNvPr>
          <p:cNvCxnSpPr>
            <a:cxnSpLocks/>
          </p:cNvCxnSpPr>
          <p:nvPr/>
        </p:nvCxnSpPr>
        <p:spPr>
          <a:xfrm flipH="1">
            <a:off x="7000781" y="5450889"/>
            <a:ext cx="57742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E5C86812-F34F-4B67-9CD6-05A41E254F47}"/>
              </a:ext>
            </a:extLst>
          </p:cNvPr>
          <p:cNvSpPr txBox="1">
            <a:spLocks/>
          </p:cNvSpPr>
          <p:nvPr/>
        </p:nvSpPr>
        <p:spPr>
          <a:xfrm>
            <a:off x="7237522" y="4987344"/>
            <a:ext cx="456091" cy="412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Wz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93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ACF5D-06FE-4A53-945B-F7515C1F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C9457-6112-49D9-A801-D8A2DC6D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B9001-2073-4D28-88B2-2EB25D9B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A4D8C9-8067-41E8-B463-04F969826AF7}"/>
              </a:ext>
            </a:extLst>
          </p:cNvPr>
          <p:cNvSpPr txBox="1">
            <a:spLocks/>
          </p:cNvSpPr>
          <p:nvPr/>
        </p:nvSpPr>
        <p:spPr>
          <a:xfrm>
            <a:off x="4977041" y="207277"/>
            <a:ext cx="2237913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Sweep Cs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599AAE-D68C-4302-9C46-2FDCE652E9CA}"/>
              </a:ext>
            </a:extLst>
          </p:cNvPr>
          <p:cNvSpPr txBox="1">
            <a:spLocks/>
          </p:cNvSpPr>
          <p:nvPr/>
        </p:nvSpPr>
        <p:spPr>
          <a:xfrm>
            <a:off x="1058426" y="0"/>
            <a:ext cx="164926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A918B8-45E1-4543-B8A4-494E7C54A3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62028" y="1023690"/>
            <a:ext cx="10118620" cy="514777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4E761C1-6E19-4959-8560-7872DFCD5051}"/>
              </a:ext>
            </a:extLst>
          </p:cNvPr>
          <p:cNvSpPr txBox="1">
            <a:spLocks/>
          </p:cNvSpPr>
          <p:nvPr/>
        </p:nvSpPr>
        <p:spPr>
          <a:xfrm>
            <a:off x="3788914" y="2286545"/>
            <a:ext cx="3985335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b="1" dirty="0">
                <a:latin typeface="Bahnschrift SemiBold Condensed" panose="020B0502040204020203" pitchFamily="34" charset="0"/>
              </a:rPr>
              <a:t>As Cs  increased , wp2 goes to higher frequency allow wider bandwidth, also we get higher peaking gain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C0EE92-7BD5-4D3F-A536-80BFAEB78EA3}"/>
              </a:ext>
            </a:extLst>
          </p:cNvPr>
          <p:cNvCxnSpPr>
            <a:cxnSpLocks/>
          </p:cNvCxnSpPr>
          <p:nvPr/>
        </p:nvCxnSpPr>
        <p:spPr>
          <a:xfrm flipV="1">
            <a:off x="9369552" y="1792224"/>
            <a:ext cx="0" cy="12527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11C716-FD7F-4CCC-82CB-FB2B3BDB9408}"/>
              </a:ext>
            </a:extLst>
          </p:cNvPr>
          <p:cNvCxnSpPr>
            <a:cxnSpLocks/>
          </p:cNvCxnSpPr>
          <p:nvPr/>
        </p:nvCxnSpPr>
        <p:spPr>
          <a:xfrm flipH="1">
            <a:off x="7357397" y="5313729"/>
            <a:ext cx="57742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F7AC7BBB-83A3-4F93-98D6-EBB84BC56289}"/>
              </a:ext>
            </a:extLst>
          </p:cNvPr>
          <p:cNvSpPr txBox="1">
            <a:spLocks/>
          </p:cNvSpPr>
          <p:nvPr/>
        </p:nvSpPr>
        <p:spPr>
          <a:xfrm>
            <a:off x="7546203" y="4901504"/>
            <a:ext cx="456091" cy="412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Wz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879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D1625-7EFB-43EC-B0AA-CFFE7B25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8A5C0-A9CB-46FE-A06C-6985979E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8B631-5E43-4FAC-BC8C-75A30177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1ADCE-D945-4DF6-903E-78C0C1A309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00072" y="1236692"/>
            <a:ext cx="6179043" cy="51196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E5C190-7401-4615-8719-105134DBC8E7}"/>
              </a:ext>
            </a:extLst>
          </p:cNvPr>
          <p:cNvSpPr txBox="1">
            <a:spLocks/>
          </p:cNvSpPr>
          <p:nvPr/>
        </p:nvSpPr>
        <p:spPr>
          <a:xfrm>
            <a:off x="1022914" y="136525"/>
            <a:ext cx="2743200" cy="810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ahnschrift SemiBold Condensed" panose="020B0502040204020203" pitchFamily="34" charset="0"/>
              </a:rPr>
              <a:t>Design parameter </a:t>
            </a:r>
          </a:p>
        </p:txBody>
      </p:sp>
    </p:spTree>
    <p:extLst>
      <p:ext uri="{BB962C8B-B14F-4D97-AF65-F5344CB8AC3E}">
        <p14:creationId xmlns:p14="http://schemas.microsoft.com/office/powerpoint/2010/main" val="461641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419AB-16D2-4A81-83ED-990B7B9A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DA512-6519-4001-8279-A0510DED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E209E-229F-4790-9910-54AD7E3F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A4DB3-4FFD-4984-9640-2CFAF5CA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31" y="900494"/>
            <a:ext cx="10676138" cy="4568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DD14F58A-DB5B-458F-9E81-97D0F7F6FE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79959" y="1802080"/>
                <a:ext cx="2397711" cy="30192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 b="1" dirty="0">
                    <a:latin typeface="Bahnschrift SemiBold Condensed" panose="020B0502040204020203" pitchFamily="34" charset="0"/>
                  </a:rPr>
                  <a:t>Gain at </a:t>
                </a:r>
                <a:r>
                  <a:rPr lang="en-US" sz="2000" b="1" dirty="0" err="1">
                    <a:latin typeface="Bahnschrift SemiBold Condensed" panose="020B0502040204020203" pitchFamily="34" charset="0"/>
                  </a:rPr>
                  <a:t>Nquist</a:t>
                </a:r>
                <a:r>
                  <a:rPr lang="en-US" sz="2000" b="1" dirty="0">
                    <a:latin typeface="Bahnschrift SemiBold Condensed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𝒅𝑩</m:t>
                    </m:r>
                  </m:oMath>
                </a14:m>
                <a:endParaRPr lang="en-US" sz="2000" b="1" dirty="0">
                  <a:latin typeface="Bahnschrift SemiBold Condensed" panose="020B0502040204020203" pitchFamily="34" charset="0"/>
                </a:endParaRPr>
              </a:p>
              <a:p>
                <a:endParaRPr lang="en-US" sz="2000" b="1" dirty="0">
                  <a:latin typeface="Bahnschrift SemiBold Condensed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DD14F58A-DB5B-458F-9E81-97D0F7F6F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959" y="1802080"/>
                <a:ext cx="2397711" cy="301928"/>
              </a:xfrm>
              <a:prstGeom prst="rect">
                <a:avLst/>
              </a:prstGeom>
              <a:blipFill>
                <a:blip r:embed="rId3"/>
                <a:stretch>
                  <a:fillRect l="-2799" t="-79592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282388B2-BCB0-4B0E-BAD6-C4CF6DE8E4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84141" y="4582270"/>
                <a:ext cx="2397711" cy="30192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 b="1" dirty="0">
                    <a:latin typeface="Bahnschrift SemiBold Condensed" panose="020B0502040204020203" pitchFamily="34" charset="0"/>
                  </a:rPr>
                  <a:t>DC Gain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𝒅𝑩</m:t>
                    </m:r>
                  </m:oMath>
                </a14:m>
                <a:endParaRPr lang="en-US" sz="2000" b="1" dirty="0">
                  <a:latin typeface="Bahnschrift SemiBold Condensed" panose="020B0502040204020203" pitchFamily="34" charset="0"/>
                </a:endParaRPr>
              </a:p>
              <a:p>
                <a:endParaRPr lang="en-US" sz="2000" b="1" dirty="0">
                  <a:latin typeface="Bahnschrift SemiBold Condensed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282388B2-BCB0-4B0E-BAD6-C4CF6DE8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141" y="4582270"/>
                <a:ext cx="2397711" cy="301928"/>
              </a:xfrm>
              <a:prstGeom prst="rect">
                <a:avLst/>
              </a:prstGeom>
              <a:blipFill>
                <a:blip r:embed="rId4"/>
                <a:stretch>
                  <a:fillRect l="-2799" t="-79592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6FA0E8-A5A9-464C-BE13-2D3B8EC84049}"/>
              </a:ext>
            </a:extLst>
          </p:cNvPr>
          <p:cNvCxnSpPr/>
          <p:nvPr/>
        </p:nvCxnSpPr>
        <p:spPr>
          <a:xfrm>
            <a:off x="9099612" y="1953044"/>
            <a:ext cx="0" cy="2931154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3C1460EA-4507-4819-9841-B7A15FCAF4D7}"/>
              </a:ext>
            </a:extLst>
          </p:cNvPr>
          <p:cNvSpPr txBox="1">
            <a:spLocks/>
          </p:cNvSpPr>
          <p:nvPr/>
        </p:nvSpPr>
        <p:spPr>
          <a:xfrm>
            <a:off x="1022914" y="136525"/>
            <a:ext cx="3433676" cy="810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ahnschrift SemiBold Condensed" panose="020B0502040204020203" pitchFamily="34" charset="0"/>
              </a:rPr>
              <a:t>CTLE frequency response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297952E-9C99-4F30-A059-D6015E8BBCD1}"/>
              </a:ext>
            </a:extLst>
          </p:cNvPr>
          <p:cNvSpPr txBox="1">
            <a:spLocks/>
          </p:cNvSpPr>
          <p:nvPr/>
        </p:nvSpPr>
        <p:spPr>
          <a:xfrm>
            <a:off x="9196897" y="3302983"/>
            <a:ext cx="1696003" cy="425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ahnschrift SemiBold Condensed" panose="020B0502040204020203" pitchFamily="34" charset="0"/>
              </a:rPr>
              <a:t>Peaking gain = 10 dB</a:t>
            </a:r>
          </a:p>
        </p:txBody>
      </p:sp>
    </p:spTree>
    <p:extLst>
      <p:ext uri="{BB962C8B-B14F-4D97-AF65-F5344CB8AC3E}">
        <p14:creationId xmlns:p14="http://schemas.microsoft.com/office/powerpoint/2010/main" val="249288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70922-CA07-4FE0-BF1C-AFE5CC5B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CFFDD-8865-4585-9E4D-9BFBF898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E7E77-4446-4CBD-8041-EE6C0788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EE844C-057B-445C-8039-253F29A71E93}"/>
              </a:ext>
            </a:extLst>
          </p:cNvPr>
          <p:cNvSpPr txBox="1">
            <a:spLocks/>
          </p:cNvSpPr>
          <p:nvPr/>
        </p:nvSpPr>
        <p:spPr>
          <a:xfrm>
            <a:off x="3107739" y="2041865"/>
            <a:ext cx="5976521" cy="2521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>
                <a:latin typeface="Bahnschrift SemiBold Condensed" panose="020B0502040204020203" pitchFamily="34" charset="0"/>
              </a:rPr>
              <a:t>CTLE + Channel</a:t>
            </a:r>
          </a:p>
        </p:txBody>
      </p:sp>
    </p:spTree>
    <p:extLst>
      <p:ext uri="{BB962C8B-B14F-4D97-AF65-F5344CB8AC3E}">
        <p14:creationId xmlns:p14="http://schemas.microsoft.com/office/powerpoint/2010/main" val="3477301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89D1E-1641-4B4D-8491-B46F919C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8CD776-2049-41E2-9897-79908657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15B61-63F9-4E50-926F-E641032F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22219-8378-4DC2-AFF6-20A24F3CC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3003"/>
            <a:ext cx="2856409" cy="498146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CDB36B-9E5E-4338-9C1A-F67EACA2B6B7}"/>
              </a:ext>
            </a:extLst>
          </p:cNvPr>
          <p:cNvCxnSpPr>
            <a:cxnSpLocks/>
          </p:cNvCxnSpPr>
          <p:nvPr/>
        </p:nvCxnSpPr>
        <p:spPr>
          <a:xfrm>
            <a:off x="3861047" y="2526521"/>
            <a:ext cx="84571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05D89CA-6AF9-4B5C-A645-1EFBDFD92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306" y="1294455"/>
            <a:ext cx="4212671" cy="20912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47F9304-4E4E-41F1-9958-CBB1C9EF6EAA}"/>
              </a:ext>
            </a:extLst>
          </p:cNvPr>
          <p:cNvSpPr txBox="1">
            <a:spLocks/>
          </p:cNvSpPr>
          <p:nvPr/>
        </p:nvSpPr>
        <p:spPr>
          <a:xfrm>
            <a:off x="1298123" y="136525"/>
            <a:ext cx="164926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SET UP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BD3671-9458-4F38-BEA9-962FD69D2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766" y="3988998"/>
            <a:ext cx="7772400" cy="90487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EE41846-5BDE-408D-A199-B9338E2708EA}"/>
              </a:ext>
            </a:extLst>
          </p:cNvPr>
          <p:cNvSpPr txBox="1">
            <a:spLocks/>
          </p:cNvSpPr>
          <p:nvPr/>
        </p:nvSpPr>
        <p:spPr>
          <a:xfrm>
            <a:off x="4044518" y="4893873"/>
            <a:ext cx="2057401" cy="730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Bahnschrift SemiBold Condensed" panose="020B0502040204020203" pitchFamily="34" charset="0"/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956064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BC4A6-F36B-46A4-9C38-2A70727C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DD3B0-B0CD-4F3A-87DF-E8092E7D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2EFFE-6497-4C04-8C86-36678D44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B59E7-3579-4208-87B6-6A12F0BF5D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7303" y="937783"/>
            <a:ext cx="9976579" cy="54718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DE787F-BB28-45BB-9EEE-A6087964F92A}"/>
              </a:ext>
            </a:extLst>
          </p:cNvPr>
          <p:cNvSpPr txBox="1">
            <a:spLocks/>
          </p:cNvSpPr>
          <p:nvPr/>
        </p:nvSpPr>
        <p:spPr>
          <a:xfrm>
            <a:off x="1058425" y="0"/>
            <a:ext cx="2980175" cy="884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ahnschrift SemiBold Condensed" panose="020B0502040204020203" pitchFamily="34" charset="0"/>
              </a:rPr>
              <a:t>Frequency response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6B6A1C-BAFF-47F3-99F2-B61C3836E44A}"/>
              </a:ext>
            </a:extLst>
          </p:cNvPr>
          <p:cNvCxnSpPr>
            <a:cxnSpLocks/>
          </p:cNvCxnSpPr>
          <p:nvPr/>
        </p:nvCxnSpPr>
        <p:spPr>
          <a:xfrm>
            <a:off x="8700117" y="2041864"/>
            <a:ext cx="0" cy="1578568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3CFAE5C2-99C6-4957-AC39-C157E5723258}"/>
              </a:ext>
            </a:extLst>
          </p:cNvPr>
          <p:cNvSpPr txBox="1">
            <a:spLocks/>
          </p:cNvSpPr>
          <p:nvPr/>
        </p:nvSpPr>
        <p:spPr>
          <a:xfrm>
            <a:off x="8700117" y="2565558"/>
            <a:ext cx="1066056" cy="531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highlight>
                  <a:srgbClr val="FFFF00"/>
                </a:highlight>
                <a:latin typeface="Bahnschrift SemiBold Condensed" panose="020B0502040204020203" pitchFamily="34" charset="0"/>
              </a:rPr>
              <a:t>+8.57 dB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AB994D-596E-43EA-9FE4-EEE9C7578D7E}"/>
              </a:ext>
            </a:extLst>
          </p:cNvPr>
          <p:cNvCxnSpPr>
            <a:cxnSpLocks/>
          </p:cNvCxnSpPr>
          <p:nvPr/>
        </p:nvCxnSpPr>
        <p:spPr>
          <a:xfrm flipV="1">
            <a:off x="3709756" y="1846555"/>
            <a:ext cx="560403" cy="13582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6637AF63-0A18-4E00-99F6-171215B48A31}"/>
              </a:ext>
            </a:extLst>
          </p:cNvPr>
          <p:cNvSpPr txBox="1">
            <a:spLocks/>
          </p:cNvSpPr>
          <p:nvPr/>
        </p:nvSpPr>
        <p:spPr>
          <a:xfrm>
            <a:off x="3172294" y="3238233"/>
            <a:ext cx="1195149" cy="533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highlight>
                  <a:srgbClr val="FFFF00"/>
                </a:highlight>
                <a:latin typeface="Bahnschrift SemiBold Condensed" panose="020B0502040204020203" pitchFamily="34" charset="0"/>
              </a:rPr>
              <a:t>Dc gain doesn’t change to much</a:t>
            </a:r>
          </a:p>
        </p:txBody>
      </p:sp>
    </p:spTree>
    <p:extLst>
      <p:ext uri="{BB962C8B-B14F-4D97-AF65-F5344CB8AC3E}">
        <p14:creationId xmlns:p14="http://schemas.microsoft.com/office/powerpoint/2010/main" val="3600226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7A2F2-41AD-427F-BD89-887177E1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3C64A-4A2C-4D92-BF1D-E80BC1DE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97AF3-B998-4DEF-A167-B298C033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29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1ABE84-831F-4D67-B589-D9F8DEC83392}"/>
              </a:ext>
            </a:extLst>
          </p:cNvPr>
          <p:cNvSpPr txBox="1">
            <a:spLocks/>
          </p:cNvSpPr>
          <p:nvPr/>
        </p:nvSpPr>
        <p:spPr>
          <a:xfrm>
            <a:off x="1156080" y="12238"/>
            <a:ext cx="351357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Transient Analysis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7EA22B-68E8-494D-BB8C-6B29CE9245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76445" y="1355753"/>
            <a:ext cx="7721651" cy="500059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D34695E-DF46-4D72-AD6F-4F1A2F057E8C}"/>
              </a:ext>
            </a:extLst>
          </p:cNvPr>
          <p:cNvSpPr txBox="1">
            <a:spLocks/>
          </p:cNvSpPr>
          <p:nvPr/>
        </p:nvSpPr>
        <p:spPr>
          <a:xfrm>
            <a:off x="5292362" y="548370"/>
            <a:ext cx="1607275" cy="884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ahnschrift SemiBold Condensed" panose="020B0502040204020203" pitchFamily="34" charset="0"/>
              </a:rPr>
              <a:t>Testbench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7B8B7-EB15-43E8-97BD-5B91EA4EB5EA}"/>
              </a:ext>
            </a:extLst>
          </p:cNvPr>
          <p:cNvSpPr/>
          <p:nvPr/>
        </p:nvSpPr>
        <p:spPr>
          <a:xfrm>
            <a:off x="400857" y="1122167"/>
            <a:ext cx="2986092" cy="16068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Library : </a:t>
            </a:r>
            <a:r>
              <a:rPr lang="en-US" sz="1600" dirty="0" err="1">
                <a:solidFill>
                  <a:srgbClr val="FF0000"/>
                </a:solidFill>
                <a:latin typeface="Bahnschrift SemiBold" panose="020B0502040204020203" pitchFamily="34" charset="0"/>
              </a:rPr>
              <a:t>analogLib</a:t>
            </a:r>
            <a:endParaRPr lang="en-US" sz="1600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Cell name: </a:t>
            </a:r>
            <a:r>
              <a:rPr lang="en-US" sz="1600" dirty="0" err="1">
                <a:solidFill>
                  <a:srgbClr val="FF0000"/>
                </a:solidFill>
                <a:latin typeface="Bahnschrift SemiBold" panose="020B0502040204020203" pitchFamily="34" charset="0"/>
              </a:rPr>
              <a:t>vrps</a:t>
            </a:r>
            <a:endParaRPr lang="en-US" sz="1600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Zero/one value : </a:t>
            </a:r>
            <a:r>
              <a:rPr lang="en-US" sz="1600" dirty="0" err="1">
                <a:solidFill>
                  <a:srgbClr val="FF0000"/>
                </a:solidFill>
                <a:latin typeface="Bahnschrift SemiBold" panose="020B0502040204020203" pitchFamily="34" charset="0"/>
              </a:rPr>
              <a:t>Vcm</a:t>
            </a:r>
            <a:r>
              <a:rPr lang="en-U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 +/- </a:t>
            </a:r>
            <a:r>
              <a:rPr lang="en-US" sz="1600" dirty="0" err="1">
                <a:solidFill>
                  <a:srgbClr val="FF0000"/>
                </a:solidFill>
                <a:latin typeface="Bahnschrift SemiBold" panose="020B0502040204020203" pitchFamily="34" charset="0"/>
              </a:rPr>
              <a:t>Vsw</a:t>
            </a:r>
            <a:endParaRPr lang="en-US" sz="1600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  <a:p>
            <a:pPr algn="just"/>
            <a:r>
              <a:rPr lang="en-US" sz="1600" dirty="0" err="1">
                <a:solidFill>
                  <a:srgbClr val="FF0000"/>
                </a:solidFill>
                <a:latin typeface="Bahnschrift SemiBold" panose="020B0502040204020203" pitchFamily="34" charset="0"/>
              </a:rPr>
              <a:t>Tperiod</a:t>
            </a:r>
            <a:r>
              <a:rPr lang="en-U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: 1/12G ( data rate) </a:t>
            </a:r>
          </a:p>
          <a:p>
            <a:pPr algn="just"/>
            <a:r>
              <a:rPr lang="en-US" sz="16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Rise/fall time: 20ps</a:t>
            </a:r>
          </a:p>
          <a:p>
            <a:pPr algn="just"/>
            <a:endParaRPr lang="en-US" sz="1600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5BEB1A-AD8C-46B0-8A5C-86B08F53062A}"/>
              </a:ext>
            </a:extLst>
          </p:cNvPr>
          <p:cNvCxnSpPr>
            <a:cxnSpLocks/>
          </p:cNvCxnSpPr>
          <p:nvPr/>
        </p:nvCxnSpPr>
        <p:spPr>
          <a:xfrm flipH="1" flipV="1">
            <a:off x="2769833" y="2729026"/>
            <a:ext cx="523783" cy="6999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0AE2F0-E774-4942-8116-DE572C83CF6C}"/>
              </a:ext>
            </a:extLst>
          </p:cNvPr>
          <p:cNvCxnSpPr>
            <a:cxnSpLocks/>
          </p:cNvCxnSpPr>
          <p:nvPr/>
        </p:nvCxnSpPr>
        <p:spPr>
          <a:xfrm flipH="1" flipV="1">
            <a:off x="2405849" y="2729025"/>
            <a:ext cx="887767" cy="12342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732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3F3D4-2CB7-4E01-9435-7FB648F5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C3B52-CAA9-497F-B7CA-92246229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C36C-E41C-42C9-8F04-C683D2A6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AA04AF-61CD-431B-8FBA-7E2B00012F3B}"/>
              </a:ext>
            </a:extLst>
          </p:cNvPr>
          <p:cNvSpPr txBox="1">
            <a:spLocks/>
          </p:cNvSpPr>
          <p:nvPr/>
        </p:nvSpPr>
        <p:spPr>
          <a:xfrm>
            <a:off x="1156080" y="12238"/>
            <a:ext cx="1853450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Set up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57F5E4-AB46-4B9D-B782-BA5AD8F56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5928"/>
            <a:ext cx="3893598" cy="44291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E520B7-536E-4F37-B4FF-D52091A73EC2}"/>
              </a:ext>
            </a:extLst>
          </p:cNvPr>
          <p:cNvCxnSpPr>
            <a:cxnSpLocks/>
          </p:cNvCxnSpPr>
          <p:nvPr/>
        </p:nvCxnSpPr>
        <p:spPr>
          <a:xfrm>
            <a:off x="4948441" y="3354364"/>
            <a:ext cx="84571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52059E1-66CB-4095-A899-1459AAA95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960" y="2574924"/>
            <a:ext cx="4643279" cy="20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74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1478F-4651-4CE3-AC9C-A177B057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0194C-1B1B-4D8F-A140-8B105091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D0486-78EE-4C0A-B0AD-3BD6D678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CC4AC-179A-4BEA-8BBE-00C65384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9" y="1698431"/>
            <a:ext cx="10058400" cy="199770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97FD37C-EAD6-4C60-A179-7A66CB83A9F0}"/>
              </a:ext>
            </a:extLst>
          </p:cNvPr>
          <p:cNvSpPr txBox="1">
            <a:spLocks/>
          </p:cNvSpPr>
          <p:nvPr/>
        </p:nvSpPr>
        <p:spPr>
          <a:xfrm>
            <a:off x="1156080" y="12238"/>
            <a:ext cx="2545908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Bahnschrift SemiBold Condensed" panose="020B0502040204020203" pitchFamily="34" charset="0"/>
              </a:rPr>
              <a:t>Measurement</a:t>
            </a:r>
            <a:endParaRPr lang="en-US" sz="4800" b="1" dirty="0">
              <a:latin typeface="Bahnschrift SemiBold Condensed" panose="020B0502040204020203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D4A9D0-80AF-436A-8F10-0036B3F889D1}"/>
              </a:ext>
            </a:extLst>
          </p:cNvPr>
          <p:cNvCxnSpPr/>
          <p:nvPr/>
        </p:nvCxnSpPr>
        <p:spPr>
          <a:xfrm>
            <a:off x="2920753" y="3240350"/>
            <a:ext cx="660647" cy="1305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28CA31-8581-415B-A9ED-36747A266806}"/>
              </a:ext>
            </a:extLst>
          </p:cNvPr>
          <p:cNvCxnSpPr/>
          <p:nvPr/>
        </p:nvCxnSpPr>
        <p:spPr>
          <a:xfrm>
            <a:off x="3251076" y="3551068"/>
            <a:ext cx="3389421" cy="1100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AC9AB2B-B8C6-48B6-817D-74EA7BDDC013}"/>
              </a:ext>
            </a:extLst>
          </p:cNvPr>
          <p:cNvSpPr txBox="1">
            <a:spLocks/>
          </p:cNvSpPr>
          <p:nvPr/>
        </p:nvSpPr>
        <p:spPr>
          <a:xfrm>
            <a:off x="2429034" y="4344240"/>
            <a:ext cx="2545908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Before CTLE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6EA1269-3E6D-4366-88B8-6A3730D159E5}"/>
              </a:ext>
            </a:extLst>
          </p:cNvPr>
          <p:cNvSpPr txBox="1">
            <a:spLocks/>
          </p:cNvSpPr>
          <p:nvPr/>
        </p:nvSpPr>
        <p:spPr>
          <a:xfrm>
            <a:off x="6288365" y="4595781"/>
            <a:ext cx="2545908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After CTLE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6D67C6-5207-4D0E-B326-92EEB307E5A0}"/>
              </a:ext>
            </a:extLst>
          </p:cNvPr>
          <p:cNvCxnSpPr/>
          <p:nvPr/>
        </p:nvCxnSpPr>
        <p:spPr>
          <a:xfrm>
            <a:off x="8834273" y="3240350"/>
            <a:ext cx="309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01581A-E023-4C79-8C7C-AEA5F333850F}"/>
              </a:ext>
            </a:extLst>
          </p:cNvPr>
          <p:cNvCxnSpPr/>
          <p:nvPr/>
        </p:nvCxnSpPr>
        <p:spPr>
          <a:xfrm>
            <a:off x="8834273" y="3551068"/>
            <a:ext cx="309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846CA8DF-99C6-4D4D-96F8-E1A65984DF1A}"/>
              </a:ext>
            </a:extLst>
          </p:cNvPr>
          <p:cNvSpPr txBox="1">
            <a:spLocks/>
          </p:cNvSpPr>
          <p:nvPr/>
        </p:nvSpPr>
        <p:spPr>
          <a:xfrm>
            <a:off x="9144000" y="3046678"/>
            <a:ext cx="586666" cy="35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2*UI</a:t>
            </a:r>
            <a:endParaRPr lang="en-US" sz="1800" b="1" dirty="0">
              <a:solidFill>
                <a:srgbClr val="FF000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A29D716-5FA4-4EFE-863C-A404BA401DAC}"/>
              </a:ext>
            </a:extLst>
          </p:cNvPr>
          <p:cNvSpPr txBox="1">
            <a:spLocks/>
          </p:cNvSpPr>
          <p:nvPr/>
        </p:nvSpPr>
        <p:spPr>
          <a:xfrm>
            <a:off x="9144000" y="3336817"/>
            <a:ext cx="586666" cy="35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2*UI</a:t>
            </a:r>
            <a:endParaRPr lang="en-US" sz="1800" b="1" dirty="0">
              <a:solidFill>
                <a:srgbClr val="FF0000"/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663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6E3AF-5E9B-45DF-BFDB-8F977D04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381BD-7C30-48C6-A069-46E0A7F7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76F78-7C6D-45FC-9882-3DB6B698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4C7481-9621-410A-A047-DC839BE952D8}"/>
              </a:ext>
            </a:extLst>
          </p:cNvPr>
          <p:cNvSpPr txBox="1">
            <a:spLocks/>
          </p:cNvSpPr>
          <p:nvPr/>
        </p:nvSpPr>
        <p:spPr>
          <a:xfrm>
            <a:off x="1156080" y="12238"/>
            <a:ext cx="1587120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Result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A2141-F040-4850-B6AA-C14478C201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3573" y="1320554"/>
            <a:ext cx="9284121" cy="475116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224727B-F216-44C4-8A24-C1CC46BCDF50}"/>
              </a:ext>
            </a:extLst>
          </p:cNvPr>
          <p:cNvSpPr txBox="1">
            <a:spLocks/>
          </p:cNvSpPr>
          <p:nvPr/>
        </p:nvSpPr>
        <p:spPr>
          <a:xfrm>
            <a:off x="9486781" y="1423487"/>
            <a:ext cx="2545908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Before CTLE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D2A309-7DEB-4C27-9D02-C8E18FC31850}"/>
              </a:ext>
            </a:extLst>
          </p:cNvPr>
          <p:cNvSpPr txBox="1">
            <a:spLocks/>
          </p:cNvSpPr>
          <p:nvPr/>
        </p:nvSpPr>
        <p:spPr>
          <a:xfrm>
            <a:off x="4721693" y="524083"/>
            <a:ext cx="274861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Eye diagram</a:t>
            </a:r>
          </a:p>
        </p:txBody>
      </p:sp>
    </p:spTree>
    <p:extLst>
      <p:ext uri="{BB962C8B-B14F-4D97-AF65-F5344CB8AC3E}">
        <p14:creationId xmlns:p14="http://schemas.microsoft.com/office/powerpoint/2010/main" val="266768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9401D-4B84-4ADB-992A-24F877F6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1B2D6-5311-436A-BC16-562BDB59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F8D89-7EA2-4454-AA00-4F19CE64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AA379-76BC-4738-93E6-1FF21E0C8C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0522" y="1416252"/>
            <a:ext cx="9150956" cy="46382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7C352C8-1BA9-4255-985D-F92354CB46D9}"/>
              </a:ext>
            </a:extLst>
          </p:cNvPr>
          <p:cNvSpPr txBox="1">
            <a:spLocks/>
          </p:cNvSpPr>
          <p:nvPr/>
        </p:nvSpPr>
        <p:spPr>
          <a:xfrm>
            <a:off x="9477905" y="1183790"/>
            <a:ext cx="2545908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After CTLE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6C80B9-7EE5-4B7C-927D-91F519B1D3C2}"/>
              </a:ext>
            </a:extLst>
          </p:cNvPr>
          <p:cNvSpPr txBox="1">
            <a:spLocks/>
          </p:cNvSpPr>
          <p:nvPr/>
        </p:nvSpPr>
        <p:spPr>
          <a:xfrm>
            <a:off x="4721693" y="524083"/>
            <a:ext cx="274861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Eye diagram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66648B-6929-40AF-9F0C-616266D99639}"/>
              </a:ext>
            </a:extLst>
          </p:cNvPr>
          <p:cNvSpPr txBox="1">
            <a:spLocks/>
          </p:cNvSpPr>
          <p:nvPr/>
        </p:nvSpPr>
        <p:spPr>
          <a:xfrm>
            <a:off x="1156080" y="12238"/>
            <a:ext cx="1587120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Result </a:t>
            </a:r>
          </a:p>
        </p:txBody>
      </p:sp>
    </p:spTree>
    <p:extLst>
      <p:ext uri="{BB962C8B-B14F-4D97-AF65-F5344CB8AC3E}">
        <p14:creationId xmlns:p14="http://schemas.microsoft.com/office/powerpoint/2010/main" val="2739702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DE1AB-2957-41BB-8E6A-8BF4C3FB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B155E-3262-49F0-A92B-CCFB10CA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A8A49-7F89-40EE-9F78-D84AF03B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A07D4-9229-4C8A-9C67-1F0D421B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80" y="1201280"/>
            <a:ext cx="10141640" cy="46757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A744D2-5827-4ABD-B3AB-07C122359BFC}"/>
              </a:ext>
            </a:extLst>
          </p:cNvPr>
          <p:cNvSpPr txBox="1">
            <a:spLocks/>
          </p:cNvSpPr>
          <p:nvPr/>
        </p:nvSpPr>
        <p:spPr>
          <a:xfrm>
            <a:off x="4845981" y="346530"/>
            <a:ext cx="2748614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Eye diagram</a:t>
            </a:r>
          </a:p>
        </p:txBody>
      </p:sp>
    </p:spTree>
    <p:extLst>
      <p:ext uri="{BB962C8B-B14F-4D97-AF65-F5344CB8AC3E}">
        <p14:creationId xmlns:p14="http://schemas.microsoft.com/office/powerpoint/2010/main" val="1778727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CBEA9-FA80-4F43-ADFE-1470AF4C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BE6D-907E-42CA-9C41-4F9A94BD0023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089ED6-62F4-46F0-9A8A-C2D4A575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Electronic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4D3B1-65D4-4A9C-B3B4-0F8BD1C2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B6F057-B329-4243-972F-344063A51A08}"/>
              </a:ext>
            </a:extLst>
          </p:cNvPr>
          <p:cNvSpPr txBox="1">
            <a:spLocks/>
          </p:cNvSpPr>
          <p:nvPr/>
        </p:nvSpPr>
        <p:spPr>
          <a:xfrm>
            <a:off x="1156079" y="12238"/>
            <a:ext cx="2244069" cy="1023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Bahnschrift SemiBold Condensed" panose="020B0502040204020203" pitchFamily="34" charset="0"/>
              </a:rPr>
              <a:t>Comparison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B7814-06B2-4293-8B2E-4420B58E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4" y="1451236"/>
            <a:ext cx="10571986" cy="351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69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84B7-7553-4331-A9A8-1B6145D0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489200"/>
            <a:ext cx="4029075" cy="1325563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Bahnschrift SemiBold Condensed" panose="020B0502040204020203" pitchFamily="34" charset="0"/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4FD30-BA44-41C6-8016-7FF37444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5B1-E5D8-4293-B524-547D5A9E6D6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E103E-8AA3-442B-9989-C771AC33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Electronic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695DD-0235-4C79-9AF6-6419E4F8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A837F-FDD8-4A5A-8D82-65CDA50A541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8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644</Words>
  <Application>Microsoft Office PowerPoint</Application>
  <PresentationFormat>Widescreen</PresentationFormat>
  <Paragraphs>240</Paragraphs>
  <Slides>36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Bahnschrift SemiBold</vt:lpstr>
      <vt:lpstr>Bahnschrift SemiBold Condensed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UP </vt:lpstr>
      <vt:lpstr>PowerPoint Presentation</vt:lpstr>
      <vt:lpstr>PowerPoint Presentation</vt:lpstr>
      <vt:lpstr>PowerPoint Presentation</vt:lpstr>
      <vt:lpstr>PowerPoint Presentation</vt:lpstr>
      <vt:lpstr>TESTBENCH</vt:lpstr>
      <vt:lpstr>SET 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81</cp:revision>
  <dcterms:created xsi:type="dcterms:W3CDTF">2025-05-30T04:37:14Z</dcterms:created>
  <dcterms:modified xsi:type="dcterms:W3CDTF">2025-08-22T03:04:38Z</dcterms:modified>
</cp:coreProperties>
</file>